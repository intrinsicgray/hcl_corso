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399" autoAdjust="0"/>
  </p:normalViewPr>
  <p:slideViewPr>
    <p:cSldViewPr snapToGrid="0" snapToObjects="1">
      <p:cViewPr varScale="1">
        <p:scale>
          <a:sx n="69" d="100"/>
          <a:sy n="69" d="100"/>
        </p:scale>
        <p:origin x="120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79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pomeriggio è solo teorico, senza laboratorio. Exadata e pureScale non si possono provare su un portatile: l’obiettivo è capire i concetti architetturali e sapere quando queste soluzioni hanno senso.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Domanda di apertura alla classe: “se l’applicazione è lenta, cosa fate al pool?”. Quasi sempre la risposta è “lo ingrandisco”. Oggi dimostriamo che spesso è la scelta sbagliata.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Collegamento con il Giorno 1: è il Layer 1 (CPU) e il Layer 2 (latch, lock) visti dal punto di vista dell’applicazione. Il gruppo Real-World Performance di Oracle ha mostrato più volte, con demo pubbliche, che ridurre drasticamente un pool sovradimensionato migliora sia il throughput sia i tempi di risposta. Nel laboratorio lo verificheremo su piccola scala: Oracle XE usa al massimo 2 thread di CPU, quindi il limite si vede subito.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legge di Little vale per qualsiasi sistema a coda stabile: se il tempo medio in cui una richiesta tiene la connessione è 50 ms e arrivano 200 richieste al secondo, in media servono 10 connessioni occupate. Si aggiunge un margine per i picchi, non un fattore 10. La regola empirica viene dalla pagina “About Pool Sizing” del progetto HikariCP: (numero di core × 2) + numero di dischi effettivi; con storage SSD/SAN il secondo termine è difficile da stimare, quindi resta un punto di partenza. Attenzione: se più istanze applicative condividono lo stesso database, il totale è la somma dei loro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HikariCP lo raccomanda esplicitamente: per default minimumIdle è uguale a maximumPoolSize, cioè un pool fisso. Collegamento con ieri: la logon storm nasce spesso da un pool elastico che cresce quando il database rallenta. Con il pool fisso le 20 sessioni sono lì dal primo minuto e il database sa esattamente cosa aspettarsi.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esattamente il percorso del laboratorio: partiamo da un pool sbagliato, lo stressiamo, osserviamo i sintomi dal pool (thread in attesa, timeout) e dal database (sessioni attive, wait event), e calibriamo. Il passo 2 è il più dimenticato: 10 microservizi con un pool da 50 sono 500 sessioni sul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timeout sono le valvole di sicurezza del pool. Impostati male, trasformano un rallentamento in un blocco totale, oppure producono errori casuali difficilissimi da riprodurre.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timeout </a:t>
            </a:r>
            <a:r>
              <a:rPr lang="en-US" dirty="0" err="1"/>
              <a:t>troppo</a:t>
            </a:r>
            <a:r>
              <a:rPr lang="en-US" dirty="0"/>
              <a:t> alto (</a:t>
            </a:r>
            <a:r>
              <a:rPr lang="en-US" dirty="0" err="1"/>
              <a:t>minuti</a:t>
            </a:r>
            <a:r>
              <a:rPr lang="en-US" dirty="0"/>
              <a:t>): </a:t>
            </a:r>
            <a:r>
              <a:rPr lang="en-US" dirty="0" err="1"/>
              <a:t>durante</a:t>
            </a:r>
            <a:r>
              <a:rPr lang="en-US" dirty="0"/>
              <a:t> un </a:t>
            </a:r>
            <a:r>
              <a:rPr lang="en-US" dirty="0" err="1"/>
              <a:t>rallentamento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thread </a:t>
            </a:r>
            <a:r>
              <a:rPr lang="en-US" dirty="0" err="1"/>
              <a:t>dell’application</a:t>
            </a:r>
            <a:r>
              <a:rPr lang="en-US" dirty="0"/>
              <a:t> server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accumulano</a:t>
            </a:r>
            <a:r>
              <a:rPr lang="en-US" dirty="0"/>
              <a:t> in </a:t>
            </a:r>
            <a:r>
              <a:rPr lang="en-US" dirty="0" err="1"/>
              <a:t>attesa</a:t>
            </a:r>
            <a:r>
              <a:rPr lang="en-US" dirty="0"/>
              <a:t> e </a:t>
            </a:r>
            <a:r>
              <a:rPr lang="en-US" dirty="0" err="1"/>
              <a:t>l’applicazione</a:t>
            </a:r>
            <a:r>
              <a:rPr lang="en-US" dirty="0"/>
              <a:t> </a:t>
            </a:r>
            <a:r>
              <a:rPr lang="en-US" dirty="0" err="1"/>
              <a:t>smette</a:t>
            </a:r>
            <a:r>
              <a:rPr lang="en-US" dirty="0"/>
              <a:t> di </a:t>
            </a:r>
            <a:r>
              <a:rPr lang="en-US" dirty="0" err="1"/>
              <a:t>rispondere</a:t>
            </a:r>
            <a:r>
              <a:rPr lang="en-US" dirty="0"/>
              <a:t> del </a:t>
            </a:r>
            <a:r>
              <a:rPr lang="en-US" dirty="0" err="1"/>
              <a:t>tutto</a:t>
            </a:r>
            <a:r>
              <a:rPr lang="en-US" dirty="0"/>
              <a:t>. </a:t>
            </a:r>
            <a:r>
              <a:rPr lang="en-US" dirty="0" err="1"/>
              <a:t>Troppo</a:t>
            </a:r>
            <a:r>
              <a:rPr lang="en-US" dirty="0"/>
              <a:t> basso: </a:t>
            </a:r>
            <a:r>
              <a:rPr lang="en-US" dirty="0" err="1"/>
              <a:t>errori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</a:t>
            </a:r>
            <a:r>
              <a:rPr lang="en-US" dirty="0" err="1"/>
              <a:t>picchi</a:t>
            </a:r>
            <a:r>
              <a:rPr lang="en-US" dirty="0"/>
              <a:t> </a:t>
            </a:r>
            <a:r>
              <a:rPr lang="en-US" dirty="0" err="1"/>
              <a:t>brevi</a:t>
            </a:r>
            <a:r>
              <a:rPr lang="en-US" dirty="0"/>
              <a:t> e </a:t>
            </a:r>
            <a:r>
              <a:rPr lang="en-US" dirty="0" err="1"/>
              <a:t>normali</a:t>
            </a:r>
            <a:r>
              <a:rPr lang="en-US" dirty="0"/>
              <a:t>. Max lifetime: un firewall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chiude</a:t>
            </a:r>
            <a:r>
              <a:rPr lang="en-US" dirty="0"/>
              <a:t> le </a:t>
            </a:r>
            <a:r>
              <a:rPr lang="en-US" dirty="0" err="1"/>
              <a:t>connessioni</a:t>
            </a:r>
            <a:r>
              <a:rPr lang="en-US" dirty="0"/>
              <a:t> TCP </a:t>
            </a:r>
            <a:r>
              <a:rPr lang="en-US" dirty="0" err="1"/>
              <a:t>inattive</a:t>
            </a:r>
            <a:r>
              <a:rPr lang="en-US" dirty="0"/>
              <a:t> da 60 </a:t>
            </a:r>
            <a:r>
              <a:rPr lang="en-US" dirty="0" err="1"/>
              <a:t>minuti</a:t>
            </a:r>
            <a:r>
              <a:rPr lang="en-US" dirty="0"/>
              <a:t>, con un pool </a:t>
            </a:r>
            <a:r>
              <a:rPr lang="en-US" dirty="0" err="1"/>
              <a:t>che</a:t>
            </a:r>
            <a:r>
              <a:rPr lang="en-US" dirty="0"/>
              <a:t> le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aperte</a:t>
            </a:r>
            <a:r>
              <a:rPr lang="en-US" dirty="0"/>
              <a:t> per ore, produce </a:t>
            </a:r>
            <a:r>
              <a:rPr lang="en-US" dirty="0" err="1"/>
              <a:t>errori</a:t>
            </a:r>
            <a:r>
              <a:rPr lang="en-US" dirty="0"/>
              <a:t> “connection reset” </a:t>
            </a:r>
            <a:r>
              <a:rPr lang="en-US" dirty="0" err="1"/>
              <a:t>casuali</a:t>
            </a:r>
            <a:r>
              <a:rPr lang="en-US" dirty="0"/>
              <a:t>. </a:t>
            </a:r>
            <a:r>
              <a:rPr lang="en-US" dirty="0" err="1"/>
              <a:t>Esistono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timeout a </a:t>
            </a:r>
            <a:r>
              <a:rPr lang="en-US" dirty="0" err="1"/>
              <a:t>livello</a:t>
            </a:r>
            <a:r>
              <a:rPr lang="en-US" dirty="0"/>
              <a:t> di </a:t>
            </a:r>
            <a:r>
              <a:rPr lang="en-US" dirty="0" err="1"/>
              <a:t>singola</a:t>
            </a:r>
            <a:r>
              <a:rPr lang="en-US" dirty="0"/>
              <a:t> query (</a:t>
            </a:r>
            <a:r>
              <a:rPr lang="en-US" dirty="0" err="1"/>
              <a:t>Statement.setQueryTimeout</a:t>
            </a:r>
            <a:r>
              <a:rPr lang="en-US" dirty="0"/>
              <a:t>) e di socket (</a:t>
            </a:r>
            <a:r>
              <a:rPr lang="en-US" dirty="0" err="1"/>
              <a:t>proprietà</a:t>
            </a:r>
            <a:r>
              <a:rPr lang="en-US" dirty="0"/>
              <a:t> </a:t>
            </a:r>
            <a:r>
              <a:rPr lang="en-US" dirty="0" err="1"/>
              <a:t>oracle.jdbc.ReadTimeout</a:t>
            </a:r>
            <a:r>
              <a:rPr lang="en-US" dirty="0"/>
              <a:t>): </a:t>
            </a:r>
            <a:r>
              <a:rPr lang="en-US" dirty="0" err="1"/>
              <a:t>proteggono</a:t>
            </a:r>
            <a:r>
              <a:rPr lang="en-US" dirty="0"/>
              <a:t> da </a:t>
            </a:r>
            <a:r>
              <a:rPr lang="en-US" dirty="0" err="1"/>
              <a:t>una</a:t>
            </a:r>
            <a:r>
              <a:rPr lang="en-US" dirty="0"/>
              <a:t> query o da </a:t>
            </a:r>
            <a:r>
              <a:rPr lang="en-US" dirty="0" err="1"/>
              <a:t>una</a:t>
            </a:r>
            <a:r>
              <a:rPr lang="en-US" dirty="0"/>
              <a:t> rete </a:t>
            </a:r>
            <a:r>
              <a:rPr lang="en-US" dirty="0" err="1"/>
              <a:t>bloccata</a:t>
            </a:r>
            <a:r>
              <a:rPr lang="en-US" dirty="0"/>
              <a:t>, non dal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concreto: timeout HTTP 10 s; connectionTimeout 3 s, così l’errore arriva prima che l’utente abbandoni; firewall che chiude le connessioni TCP inattive dopo 60 minuti, quindi maxLifetime sotto i 60 minuti (ad esempio 30). Lato Oracle: un profilo con IDLE_TIME disconnette le sessioni inattive oltre N minuti; SQLNET.EXPIRE_TIME in sqlnet.ora invia pacchetti di keep-alive per rilevare client morti. Se IDLE_TIME è più corto del maxLifetime, il pool presta connessioni già chiuse dal database: errori ORA-02396 o ORA-03113 “a caso”.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default indicati sono quelli documentati da HikariCP (versioni 4 e 5); verificateli sulla versione in uso nei vostri progetti. Valori minimi imposti da HikariCP: connectionTimeout 250 ms, maxLifetime 30 secondi. “Pochi secondi” per il connectionTimeout dipende dal contesto: un servizio web con un timeout HTTP di 10 secondi non ha senso che aspetti 30 secondi una connessione. Il connectionTimeout è uno dei parametri che stresseremo nel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Tempi indicativi: setup 15 minuti, scenari A–D circa 45 minuti (ogni esecuzione dura 60 secondi), esercizio extra sul kill delle sessioni 15 minuti, discussione finale sulla tabella dei risultati. L’alternativa con JMeter è per chi preferisce uno strumento grafico o non ha un JDK.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programma Stress.java simula 50 thread applicativi che chiedono continuamente una connessione al pool, eseguono un’operazione e la restituiscono. Cambiando solo gli argomenti da riga di comando (dimensione del pool, connection timeout, numero di thread, tipo di carico) si riproducono tutti gli scenari. Lavorare a coppie: uno lancia il programma, l’altro osserva dal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Coordinate Maven: com.oracle.database.jdbc:ojdbc11, com.zaxxer:HikariCP:5.1.0, org.slf4j:slf4j-api:2.0.9. Il nome del jar del driver contiene la versione (ad esempio ojdbc11-23.5.0.24.07.jar): rinominatelo in ojdbc11.jar oppure adattate il comando. All’avvio SLF4J stampa un avviso “No SLF4J providers were found”: è normale, significa solo che i log di Hikari sono disattivati. Il carico “sleep” usa DBMS_SESSION.SLEEP, disponibile da Oracle 18c (XE 21c va bene). Il programma è stato compilato con i jar indicati ma non eseguito contro un database: fatene una prova prima del corso.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Estratto semplificato: il file completo è nel materiale del corso. Ogni 5 secondi il programma stampa le operazioni riuscite, i timeout, le connessioni attive e libere e i thread in attesa di una connessione (dalle metriche JMX di Hikari); alla fine stampa throughput, latenza media e numero di timeout. SQLTransientConnectionException è l’eccezione che HikariCP lancia quando il connectionTimeout scade. Il carico “sleep” tiene occupata la connessione senza consumare CPU sul database (simula attese di I/O o di rete); il carico “cpu” fa un full scan in memoria di ORDINI e consuma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Argomenti: pool di 2 connessioni, connectionTimeout 500 ms, 50 thread, carico sleep da 200 ms. Ogni thread in coda deve aspettare che si liberi una delle 2 connessioni; con 48 thread davanti l’attesa supera quasi sempre i 500 ms, quindi la maggior parte delle richieste fallisce con timeout. Risposta alla domanda: il database è quasi a riposo, 2 sessioni in “PL/SQL lock timer”. Il collo di bottiglia è tutto nell’applicazione. È il caso in cui ingrandire il pool è davvero la soluzione giusta: lo vediamo nello scenario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 database: 50 sessioni attive, tutte in “PL/SQL lock timer”, la CPU è libera. È la legge di Little in azione: 250 op/s × 0,2 s = 50 connessioni. La conclusione apparente è “più connessioni = più throughput”. Il tranello: questo vale solo perché il lavoro dentro il database è un’attesa, che non consuma risorse condivise. Nello scenario C cambiamo solo il tipo di carico.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Annotare throughput e latenza media, poi rieseguire con un pool piccolo (scenario D) e confrontare. Atteso: il throughput resta circa uguale, perché il limite è la CPU del database e non il pool. Ciò che cambia è dove avviene la coda: con 50 connessioni le sessioni competono per la CPU dentro il database (in XE, che limita la CPU con il Resource Manager, comparirà probabilmente l’attesa “resmgr:cpu quantum”); con un pool piccolo la coda è nell’applicazione e il database lavora pulito. I valori esatti dipendono dalla macchina: è un esperimento, non una dimostrazione con numeri fissi.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Tutto torna al Giorno 1. La prima query mostra in tempo reale se le sessioni lavorano (ON CPU) o aspettano, e su cosa. La seconda usa ASH: ogni campione è una sessione attiva in un secondo, quindi il numero di campioni è proporzionale al tempo speso. Atteso: scenario A, poche sessioni in “PL/SQL lock timer”; scenario B, 50 sessioni in “PL/SQL lock timer”; scenario C, sessioni ON CPU e in attesa di CPU (“resmgr:cpu quantum”); scenario D, poche sessioni ON CPU. Aggiungere V$OSSTAT (NUM_CPUS, LOAD) per vedere il carico della macchina.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ciclo è per bash (Linux, Mac, Git Bash su Windows); in alternativa lanciare a mano i sei comandi. Riportare throughput e latenza di ogni esecuzione nella tabella dei risultati e disegnare insieme la curva throughput / dimensione del pool: si appiattisce in fretta. Con 50 thread e un pool da 4 la latenza vista dall’applicazione resta alta perché i thread sono troppi rispetto alla capacità: la soluzione vera, in quel caso, è ridurre il lavoro per operazione (Giorno 2: un indice) o aggiungere CPU, non aumentare il pool. Il test sul timeout fa capire che il connectionTimeout va dimensionato sulla coda attesa nei picchi.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Discussione finale: confronto B contro C (stesso pool, carico diverso, esito opposto) e C contro D (stesso throughput, database molto più tranquillo con il pool piccolo). Nella colonna “Attività DB” annotare l’evento principale visto in V$SESSION o ASH: PL/SQL lock timer, ON CPU, resmgr:cpu quantum. </a:t>
            </a:r>
            <a:r>
              <a:rPr lang="en-US" dirty="0" err="1"/>
              <a:t>Conclusione</a:t>
            </a:r>
            <a:r>
              <a:rPr lang="en-US" dirty="0"/>
              <a:t> : un pool va dimensionato sulla capacità del database e sul tipo di lavoro, e il connection timeout sulla coda accettabile nei picchi.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limite che i partecipanti hanno toccato con mano stamattina: XE usa 2 thread di CPU e oltre non si va, qualunque sia il pool. Su un server reale il limite è più alto ma esiste. Le soluzioni del pomeriggio rispondono a righe diverse: Exadata accelera l’I/O, pureScale e RAC aggiungono nodi e affidabilità, HADR e Data Guard proteggono dal disastro di 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famiglie di scale out: a disco condiviso (shared disk: RAC, pureScale), dove tutti i nodi vedono tutti i dati e devono coordinare cache e lock; e a nulla condiviso (shared nothing: sharding), dove ogni nodo possiede una parte dei dati e l’applicazione deve sapere dove cercarli. I cluster a disco condiviso sono trasparenti per l’applicazione, ma un’applicazione che aggiorna di continuo le stesse righe da nodi diversi genera molto traffico di coordinamento: il tuning di ieri (indici, cursori, bind) conta ancora di più in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Exadata è una piattaforma integrata hardware e software per Oracle Database. L’idea </a:t>
            </a:r>
            <a:r>
              <a:rPr lang="en-US" dirty="0" err="1"/>
              <a:t>chiave</a:t>
            </a:r>
            <a:r>
              <a:rPr lang="en-US" dirty="0"/>
              <a:t> : invece di portare tutti i blocchi al server per filtrarli, si chiede allo storage di filtrare e mandare solo il risultato.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Nello storage tradizionale il disco non sa nulla di Oracle: restituisce blocchi, e il database li filtra. Le storage cell di Exadata eseguono un software (Exadata Storage Server Software) che riceve dal database i predicati della query e lavora di conseguenza. Il numero di server e di cell dipende dalla configurazione; Exadata è disponibile on-premises, come Cloud@Customer e nel cloud Oracle. Le componenti principali: Smart Scan, Storage Index, Smart Flash Cache e Hybrid Columnar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Ripensate alla query del Giorno 1: SELECT COUNT(importo) FROM ordini WHERE stato = 'IN_ATTESA'. Su storage tradizionale il server legge tutti i blocchi di ORDINI e scarta il 90% delle righe. Con Smart Scan il filtro su STATO avviene nelle cell e al server arrivano solo le righe IN_ATTESA e la sola colonna IMPORTO. Conseguenza controintuitiva: su Exadata un full scan può battere un indice, e in sistemi di reportistica alcuni indici vengono rimossi. Su carichi OLTP (letture puntuali via indice) il beneficio viene soprattutto da flash cache e rete, non dallo Smart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Attenzione: TABLE ACCESS STORAGE FULL nel piano indica solo che lo Smart Scan è possibile; se avvenga davvero lo dicono i wait event e le statistiche di esecuzione. Se IO_INTERCONNECT_BYTES è molto più piccolo dei byte idonei all’offload, lo storage ha filtrato gran parte dei dati. Statistiche di sistema utili: “cell physical IO bytes eligible for predicate offload” e “cell physical IO interconnect bytes returned by smart scan” in V$SYSSTAT. Su XE non si vedono: servono le storage cell di Exadata.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Usciamo da Oracle: pureScale è la soluzione IBM Db2 per lo scale out a disco condiviso. Lo confrontiamo con Oracle RAC perché risolvono lo stesso problema con un’architettura diversa.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membro può leggere e scrivere su tutto il database: è un’architettura attiva/attiva. Il CF mantiene il Group Buffer Pool (GBP), dove le pagine modificate diventano visibili agli altri membri, e il Global Lock Manager (GLM). Il CF secondario è una copia sincrona del primario e subentra se questo cade. Lo storage condiviso è gestito da IBM Storage Scale (ex GPFS). L’interconnessione usa RDMA (InfiniBand o RoCE), con TCP/IP supportato in alcune configurazioni. Se cade un membro, gli altri continuano: solo i dati bloccati dalle transazioni in volo di quel membro restano indisponibili fino al suo recovery, che di solito è molto rapido.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confronto è a livello concettuale. La differenza chiave: in RAC ogni istanza gestisce una parte delle risorse globali (Global Cache Service e Global Enqueue Service) e i blocchi viaggiano direttamente tra istanze; in pureScale il punto di coordinamento è il CF, centralizzato e ridondato. In entrambi i casi un’applicazione con “hot spot” (molte sessioni che aggiornano le stesse righe da nodi diversi) genera traffico di coordinamento: in RAC lo si vede con i wait event “gc …” (global cache). Lato client: in Db2 Automatic Client Reroute e workload balancing; in Oracle servizi, FAN e Application Continuity.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cluster protegge dalla caduta di un server, ma non dalla perdita dell’intero data center. Per questo serve una copia del database in un altro sito, aggiornata continuamente: è il disaster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Alta affidabilità (HA) e disaster recovery (DR) sono complementari: HA copre i guasti locali con tempi di ripristino di secondi (cluster, failover di nodo); DR copre la perdita del sito, con il database di riserva a distanza. RPO e RTO non sono scelte tecniche ma di business: un RPO pari a zero richiede la replica sincrona, che aggiunge latenza a ogni COMMIT. Collegamento con il Giorno 1: il wait event “log file sync” cresce se il COMMIT deve aspettare anche il sito remoto.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HADR è la funzionalità di Db2 per replicare un intero database tramite log shipping. Lo standby riapplica continuamente i log; con Reads on Standby può servire query in sola lettura. Il cambio di ruolo si fa con TAKEOVER HADR (pianificato) o TAKEOVER HADR BY FORCE (in emergenza, quando il primario non risponde). I client possono essere reindirizzati automaticamente con Automatic Client Reroute. Si possono configurare fino a tre standby: uno principale, in una qualsiasi modalità, e fino a due ausiliari, sempre in SUPERASYNC. Più la modalità è sincrona, più il COMMIT dipende dalla latenza di rete: SYNC tra due siti lontani può rallentare ogni transazione. HADR si può combinare con pureScale.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Corrispondenza indicativa delle modalità: Maximum Protection e Maximum Availability usano trasporto sincrono del redo (come SYNC/NEARSYNC), Maximum Performance trasporto asincrono (come ASYNC). Active Data Guard è un’opzione a licenza separata che permette di aprire lo standby in lettura mentre applica il redo. Il Data Guard Broker e l’observer automatizzano il failover. Collegamento con il lab di stamattina (kill delle sessioni): durante uno switchover le connessioni del pool cadono e devono essere ricreate verso il nuovo primario. Un pool ben configurato, con validazione e maxLifetime, rende questo passaggio quasi invisibile all’utente.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Lasciare almeno 20–30 minuti per Q&amp;A: è il momento in cui i partecipanti portano i loro casi reali. Un buon modo per aprire: chiedere a ciascuno quale strumento visto nei tre giorni userà per primo nel proprio lavoro.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Spunti per far partire la discussione se la classe è silenziosa: “qual è stata la query più lenta che avete visto in produzione?”, “come è configurato oggi il pool della vostra applicazione principale?”, “avete un piano di disaster recovery testato?”.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guide Oracle sono gratuite su docs.oracle.com, scegliendo la versione del database in uso. Ricordare la licenza: Oracle XE è gratuito anche per uso in produzione entro i suoi limiti, ma ASH e AWR su Enterprise Edition richiedono il Diagnostics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1661"/>
            <a:ext cx="10566400" cy="4193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1661"/>
            <a:ext cx="10566400" cy="4193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7366000" y="0"/>
            <a:ext cx="482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99088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1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CORSO ORACLE · GIORNO 3 DI 3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2493804"/>
            <a:ext cx="7848600" cy="150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24"/>
              </a:lnSpc>
              <a:buNone/>
            </a:pPr>
            <a:r>
              <a:rPr lang="en-US" sz="5600" b="1" i="0" kern="0" spc="-11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Tuning applicativo</a:t>
            </a:r>
            <a:endParaRPr lang="en-US" sz="5600" dirty="0"/>
          </a:p>
          <a:p>
            <a:pPr marL="0" indent="0" algn="l">
              <a:lnSpc>
                <a:spcPts val="5824"/>
              </a:lnSpc>
              <a:buNone/>
            </a:pPr>
            <a:r>
              <a:rPr lang="en-US" sz="5600" b="1" i="0" kern="0" spc="-11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scalabilità enterprise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812800" y="4227036"/>
            <a:ext cx="71945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4B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Parametri JDBC e connection pool, Exadata, Db2 pureScale, disaster recovery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603504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Teoria + laboratorio su Oracle Database XE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 pool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data center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51660"/>
            <a:ext cx="5130800" cy="39903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2800" y="1864360"/>
            <a:ext cx="51308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66800" y="2131060"/>
            <a:ext cx="47614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2471420"/>
            <a:ext cx="47614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Tuning dei parametri JDBC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73150" y="2872740"/>
            <a:ext cx="0" cy="706120"/>
          </a:xfrm>
          <a:prstGeom prst="line">
            <a:avLst/>
          </a:prstGeom>
          <a:noFill/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229360" y="2872740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Teoria · 2–3 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29360" y="3136900"/>
            <a:ext cx="4594047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B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Dimensionamento del pool (size, min/max) · Connection timeout, idle timeout, max lifetime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73150" y="3705860"/>
            <a:ext cx="0" cy="706120"/>
          </a:xfrm>
          <a:prstGeom prst="line">
            <a:avLst/>
          </a:prstGeom>
          <a:noFill/>
          <a:ln w="127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29360" y="3705860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Hands-on · 1–2 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9360" y="3970020"/>
            <a:ext cx="4594047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B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test di un pool mal configurato, osservazione dei timeout, calibrazione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8400" y="1851660"/>
            <a:ext cx="5130800" cy="39903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248400" y="1864360"/>
            <a:ext cx="5130800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02400" y="2131060"/>
            <a:ext cx="47614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POMERIGGIO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02400" y="2471420"/>
            <a:ext cx="47614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Scalabilità enterprise e chiusura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08750" y="2872740"/>
            <a:ext cx="0" cy="706120"/>
          </a:xfrm>
          <a:prstGeom prst="line">
            <a:avLst/>
          </a:prstGeom>
          <a:noFill/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664960" y="2872740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Teoria · 2 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64960" y="3136900"/>
            <a:ext cx="4594047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B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Verticale vs orizzontale · Exadata · Db2 pureScale · HADR e log shipping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08750" y="3705860"/>
            <a:ext cx="0" cy="485140"/>
          </a:xfrm>
          <a:prstGeom prst="line">
            <a:avLst/>
          </a:prstGeom>
          <a:noFill/>
          <a:ln w="127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664960" y="3705860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Wrap-up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64960" y="3970020"/>
            <a:ext cx="4594047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B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Riepilogo dei 3 giorni, Q&amp;A finale, rilascio del materiale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0857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36069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MATTINA · TEORIA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777252"/>
            <a:ext cx="9810750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Dimensionare</a:t>
            </a:r>
            <a:endParaRPr lang="en-US" sz="5200" dirty="0"/>
          </a:p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connection pool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380469"/>
            <a:ext cx="784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Perché un pool troppo grande degrada le prestazioni, e come trovare la misura giusta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DIMENSIONAMENTO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Più connessioni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è più velocità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00861"/>
            <a:ext cx="5207000" cy="10591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5500" y="1800861"/>
            <a:ext cx="0" cy="105918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41400" y="197866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limitata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2255520"/>
            <a:ext cx="49184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8 core, solo 8 query lavorano davvero insieme. Le altre aspettano in coda.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00861"/>
            <a:ext cx="5207000" cy="10591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184900" y="1800861"/>
            <a:ext cx="0" cy="105918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0" y="197866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switch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255520"/>
            <a:ext cx="49184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sistema operativo passa il tempo a cambiare processo invece di eseguirlo.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012441"/>
            <a:ext cx="5207000" cy="10591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825500" y="3012441"/>
            <a:ext cx="0" cy="105918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041400" y="319024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1400" y="3467100"/>
            <a:ext cx="49184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Più sessioni sugli stessi blocchi: latch, mutex e lock crescono più che proporzionalmente.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012441"/>
            <a:ext cx="5207000" cy="10591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184900" y="3012441"/>
            <a:ext cx="0" cy="105918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00800" y="3190241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467100"/>
            <a:ext cx="49184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Ogni sessione ha la sua PGA e il suo processo: meno RAM per la Buffer Cache.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325620"/>
            <a:ext cx="10566400" cy="80010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pool piccolo mette la coda nell’applicazione, dove costa poco ed è visibile. Un pool grande la sposta nel database, dove costa a tutti.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DIMENSIONAMENTO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formule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partire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00861"/>
            <a:ext cx="5181600" cy="20243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66800" y="2054861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LEGGE DI LITTLE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369821"/>
            <a:ext cx="481380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= λ × 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2806700"/>
            <a:ext cx="481380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Connessioni in uso = richieste al secondo × secondi per cui ciascuna tiene la connessione.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3350261"/>
            <a:ext cx="4813808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 req/s × 0,05 s = 10 connessioni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7600" y="1800861"/>
            <a:ext cx="5181600" cy="20243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6197600" y="1813561"/>
            <a:ext cx="5181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451600" y="2080261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REGOLA EMPIRICA (HIKARICP)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51600" y="2395221"/>
            <a:ext cx="481380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× 2 + dischi effettivi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51600" y="2782571"/>
            <a:ext cx="481380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di partenza per carichi OLTP sul server database. Va sempre verificato con un test di carico.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DIMENSIONAMENTO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fisso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elastico?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1021"/>
          <a:ext cx="10556239" cy="2141220"/>
        </p:xfrm>
        <a:graphic>
          <a:graphicData uri="http://schemas.openxmlformats.org/drawingml/2006/table">
            <a:tbl>
              <a:tblPr/>
              <a:tblGrid>
                <a:gridCol w="2955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Aspetto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Fisso (min = max)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Elastico (min &lt; max)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Logon nei picchi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Nessuno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Proprio quando serve meno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Carico sul DB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Prevedibile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Variabile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Risorse a riposo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Sessioni sempre aperte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Liberate dopo l’idle timeout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Rischio logon storm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Basso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Alto con molti nodi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Adatto 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OLTP, servizi sempre attivi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Batch saltuari, ambienti di sviluppo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DIMENSIONAMENTO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metodo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quattro passi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51661"/>
            <a:ext cx="2641600" cy="1437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2800" y="1864361"/>
            <a:ext cx="2641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16000" y="208026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36982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Stimare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2659382"/>
            <a:ext cx="23022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Legge di Little sul carico atteso e regola dei 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4400" y="1851661"/>
            <a:ext cx="2641600" cy="1437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454400" y="1864361"/>
            <a:ext cx="2641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657600" y="208026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36982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Sommare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659382"/>
            <a:ext cx="23022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× numero di istanze applicative ≤ capacità del 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000" y="1851661"/>
            <a:ext cx="2641600" cy="1437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096000" y="1864361"/>
            <a:ext cx="2641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299200" y="208026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9200" y="236982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99200" y="2659382"/>
            <a:ext cx="23022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di carico misurando throughput e latenza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37600" y="1851661"/>
            <a:ext cx="2641600" cy="1437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8737600" y="1864361"/>
            <a:ext cx="2641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940800" y="208026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40800" y="236982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Osservare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40800" y="2659382"/>
            <a:ext cx="23022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 in attesa nel pool, sessioni attive e wait nel 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3594100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misura giusta è quella oltre la quale il throughput smette di crescere.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0857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360693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MATTINA · TEORIA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777254"/>
            <a:ext cx="9810750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timeout</a:t>
            </a:r>
            <a:endParaRPr lang="en-US" sz="5200" dirty="0"/>
          </a:p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380471"/>
            <a:ext cx="784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timeout, idle timeout e max lifetime: cosa proteggono e come si sbagliano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TIMEOUT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timeout,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momenti diversi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00864"/>
            <a:ext cx="3420507" cy="2245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2800" y="1813564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16000" y="2029464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PRESTITO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331721"/>
            <a:ext cx="31045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timeout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2649221"/>
            <a:ext cx="3104530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un thread aspetta una connessione libera prima di ricevere un errore.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3401064"/>
            <a:ext cx="310453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Protegge</a:t>
            </a:r>
            <a:r>
              <a:rPr lang="en-US" sz="12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 thread applicativi dal blocco infinito.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5707" y="1800864"/>
            <a:ext cx="3420586" cy="2245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385707" y="1813564"/>
            <a:ext cx="3420586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88907" y="2029464"/>
            <a:ext cx="31046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RIPOSO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8907" y="2331721"/>
            <a:ext cx="31046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Idle timeout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8907" y="2649221"/>
            <a:ext cx="3104612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Dopo quanto chiudere una connessione inutilizzata, oltre il minimo.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88907" y="3304593"/>
            <a:ext cx="3104612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 err="1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Protegge</a:t>
            </a:r>
            <a:r>
              <a:rPr lang="en-US" sz="12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il database dalle sessioni inutili. Non agisce su un pool fisso.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8693" y="1800864"/>
            <a:ext cx="3420507" cy="22453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7958693" y="1813564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8161893" y="2029464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61893" y="2331721"/>
            <a:ext cx="31045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lifetime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61893" y="2649221"/>
            <a:ext cx="310453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Età massima di una connessione: poi viene sostituita, appena libera.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61893" y="3180079"/>
            <a:ext cx="310453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Protegge</a:t>
            </a:r>
            <a:r>
              <a:rPr lang="en-US" sz="1200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firewall e timeout che chiudono connessioni dall’altra parte.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TIMEOUT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catena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dei timeout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958342"/>
            <a:ext cx="2260600" cy="807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2800" y="1971042"/>
            <a:ext cx="2260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65200" y="2136142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5200" y="2400300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 HTTP o del client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75000" y="2286000"/>
            <a:ext cx="3048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81400" y="1958342"/>
            <a:ext cx="2260600" cy="9144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3581400" y="1958342"/>
            <a:ext cx="2260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3733800" y="2029464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33800" y="2293621"/>
            <a:ext cx="201447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connectionTimeout, maxLifetime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2286000"/>
            <a:ext cx="3048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50000" y="1958342"/>
            <a:ext cx="2260600" cy="807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6350000" y="1971042"/>
            <a:ext cx="2260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2"/>
          <p:cNvSpPr/>
          <p:nvPr/>
        </p:nvSpPr>
        <p:spPr>
          <a:xfrm>
            <a:off x="6502400" y="2136142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02400" y="2400300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e load balancer</a:t>
            </a:r>
            <a:endParaRPr lang="en-US" sz="12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12200" y="2286000"/>
            <a:ext cx="304800" cy="15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18600" y="1958342"/>
            <a:ext cx="2260600" cy="914402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9118600" y="1958342"/>
            <a:ext cx="2260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9271000" y="2029464"/>
            <a:ext cx="201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271000" y="2293621"/>
            <a:ext cx="201447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Profilo IDLE_TIME, SQLNET.EXPIRE_TIME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12800" y="3177542"/>
            <a:ext cx="10566400" cy="80010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Regola: ogni livello deve arrendersi prima di quello che lo chiama, e il pool deve rinnovare le connessioni prima che rete o database le chiudano.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TIMEOUT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indicazioni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1024"/>
          <a:ext cx="10556240" cy="1981200"/>
        </p:xfrm>
        <a:graphic>
          <a:graphicData uri="http://schemas.openxmlformats.org/drawingml/2006/table">
            <a:tbl>
              <a:tblPr/>
              <a:tblGrid>
                <a:gridCol w="2744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Parametro HikariCP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Default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Indicazione pratica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maximumPoolSize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Dalla legge di Little, verificato con test di carico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minimumIdle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= maximumPoolSize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Lasciare uguale: pool fisso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connectionTimeout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Pochi secondi: meglio un errore rapido di un thread bloccato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idleTimeout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min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Rilevante solo con pool elastico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maxLifetime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 min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Alcuni minuti meno del timeout più corto tra firewall e database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046221"/>
            <a:ext cx="10566400" cy="80010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stesso schema vale per Oracle UCP, con nomi diversi: MaxPoolSize, ConnectionWaitTimeout, InactiveConnectionTimeout, MaxConnectionReuseTime.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CE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0857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4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360693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4B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MATTINA · HANDS-ON · 1–2 H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777251"/>
            <a:ext cx="9810750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1B4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Stressare un pool</a:t>
            </a:r>
            <a:endParaRPr lang="en-US" sz="5200" dirty="0"/>
          </a:p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calibrarlo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380471"/>
            <a:ext cx="85026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 con un pool troppo piccolo, database saturo con uno troppo grande, throughput stabile con quello giusto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PERCORSO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Quattro scenari,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solo programma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51664"/>
            <a:ext cx="2641600" cy="1437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2800" y="1864364"/>
            <a:ext cx="2641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16000" y="2080264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36982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piccolo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2659379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 a raffica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4400" y="1851664"/>
            <a:ext cx="2641600" cy="1437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454400" y="1864364"/>
            <a:ext cx="2641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657600" y="2080264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24072" y="2382521"/>
            <a:ext cx="23022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grande, carico “in attesa”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92144" y="2676954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Sembra la soluzione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000" y="1851664"/>
            <a:ext cx="2641600" cy="1437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096000" y="1864364"/>
            <a:ext cx="2641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299200" y="2080264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9200" y="236982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grande, carico CPU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99200" y="2659379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database si satura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37600" y="1851664"/>
            <a:ext cx="2641600" cy="1437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8737600" y="1864364"/>
            <a:ext cx="2641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940800" y="2080264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40800" y="2369821"/>
            <a:ext cx="23022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calibrato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40800" y="2659379"/>
            <a:ext cx="23022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 stabile, zero timeout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3594100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Ogni esecuzione dura 60 secondi: mentre gira, guardiamo lo stesso carico dal database con le viste V$.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SETUP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serve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64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NELLA STESSA CARTELLA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524931"/>
              </p:ext>
            </p:extLst>
          </p:nvPr>
        </p:nvGraphicFramePr>
        <p:xfrm>
          <a:off x="822960" y="2125981"/>
          <a:ext cx="5171440" cy="1651000"/>
        </p:xfrm>
        <a:graphic>
          <a:graphicData uri="http://schemas.openxmlformats.org/drawingml/2006/table">
            <a:tbl>
              <a:tblPr/>
              <a:tblGrid>
                <a:gridCol w="258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 dove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Stress.java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Materiale del corso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ojdbc11.jar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Maven Central / Oracle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HikariCP-5.1.0.jar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Maven Central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slf4j-api-2.0.9.jar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Maven Central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3878579"/>
            <a:ext cx="6217920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JDK 17 o successivo, database XE con lo schema dei giorni precedenti.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97600" y="1800864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ESECUZIONE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97600" y="2115820"/>
            <a:ext cx="5181600" cy="2437519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177800" tIns="152400" rIns="33020" bIns="12700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Linux / Mac (separatore :)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java -cp "ojdbc11.jar:HikariCP-5.1.0.jar: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slf4j-api-2.0.9.jar" Stress.java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&lt;pool&gt; &lt;timeoutMs&gt; &lt;thread&gt; &lt;sleep|cpu&gt;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Windows: </a:t>
            </a:r>
            <a:r>
              <a:rPr lang="en-US" sz="1200" dirty="0" err="1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separatore</a:t>
            </a: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;</a:t>
            </a:r>
          </a:p>
          <a:p>
            <a:pPr>
              <a:lnSpc>
                <a:spcPts val="174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java -cp "ojdbc11.jar;HikariCP-5.1.0.jar;</a:t>
            </a:r>
          </a:p>
          <a:p>
            <a:pPr>
              <a:lnSpc>
                <a:spcPts val="174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slf4j-api-2.0.9.jar" Stress.java</a:t>
            </a:r>
          </a:p>
          <a:p>
            <a:pPr>
              <a:lnSpc>
                <a:spcPts val="174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&lt;pool&gt; &lt;</a:t>
            </a:r>
            <a:r>
              <a:rPr lang="en-US" sz="1200" dirty="0" err="1">
                <a:solidFill>
                  <a:schemeClr val="bg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timeoutMs</a:t>
            </a:r>
            <a:r>
              <a:rPr lang="en-US" sz="1200" dirty="0">
                <a:solidFill>
                  <a:schemeClr val="bg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 &lt;thread&gt; &lt;</a:t>
            </a:r>
            <a:r>
              <a:rPr lang="en-US" sz="1200" dirty="0" err="1">
                <a:solidFill>
                  <a:schemeClr val="bg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sleep|cpu</a:t>
            </a:r>
            <a:r>
              <a:rPr lang="en-US" sz="1200" dirty="0">
                <a:solidFill>
                  <a:schemeClr val="bg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</a:p>
          <a:p>
            <a:pPr marL="0" indent="0" algn="l">
              <a:lnSpc>
                <a:spcPts val="1740"/>
              </a:lnSpc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IL PROGRAMMA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cuore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Stress.java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75464"/>
            <a:ext cx="10566400" cy="344932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203200" tIns="177800" rIns="0" bIns="15240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HikariConfig cfg = new HikariConfig();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cfg.setMaximumPoolSize(poolSize);      </a:t>
            </a: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argomento 1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cfg.setMinimumIdle(poolSize);          </a:t>
            </a: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pool fisso: min = max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cfg.setConnectionTimeout(timeoutMs);   </a:t>
            </a: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argomento 2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String sql = mode.equals("cpu")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? "SELECT COUNT(importo) FROM ordini WHERE stato = 'IN_ATTESA'"  </a:t>
            </a: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lavoro CPU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: "BEGIN DBMS_SESSION.SLEEP(0.2); END;";  </a:t>
            </a: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200 ms di attesa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(System.currentTimeMillis() &lt; end) {    </a:t>
            </a:r>
            <a:r>
              <a:rPr lang="en-US" sz="1200" dirty="0">
                <a:solidFill>
                  <a:srgbClr val="8DB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in ognuno dei thread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try (Connection c = ds.getConnection(); PreparedStatement ps = c.prepareStatement(sql)) {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ps.execute(); ok.incrementAndGet();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 catch (SQLTransientConnectionException e) { timeouts.incrementAndGet(); }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SCENARIO 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troppo piccolo,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 troppo corto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58"/>
            <a:ext cx="10566400" cy="64008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228600" tIns="177800" rIns="0" bIns="15240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java -cp "..." Stress.java 2 500 50 sleep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694942"/>
            <a:ext cx="3420507" cy="1084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12800" y="2707642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90600" y="2898142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calcolo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0600" y="3175000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connessioni ÷ 0,2 s = al massimo </a:t>
            </a:r>
            <a:r>
              <a:rPr lang="en-US" sz="1200" b="1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operazioni al secondo</a:t>
            </a: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707" y="2694942"/>
            <a:ext cx="3420586" cy="1084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85707" y="2707642"/>
            <a:ext cx="3420586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63507" y="2898142"/>
            <a:ext cx="3156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vedrete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3507" y="3175000"/>
            <a:ext cx="3156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Circa 48 thread in attesa, timeout che crescono a ogni riga di report.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693" y="2694942"/>
            <a:ext cx="3420507" cy="10845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958693" y="2707642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6493" y="2898142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domanda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6493" y="3175000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database è in difficoltà? Guardatelo dalle viste V$.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SCENARIO 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grande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un carico che aspetta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58"/>
            <a:ext cx="10566400" cy="64008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228600" tIns="177800" rIns="0" bIns="15240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java -cp "..." Stress.java 50 5000 50 sleep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694942"/>
            <a:ext cx="3420507" cy="1084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12800" y="2707642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90600" y="2898142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calcolo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0600" y="3175000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÷ 0,2 s = fino a </a:t>
            </a:r>
            <a:r>
              <a:rPr lang="en-US" sz="1200" b="1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operazioni al secondo</a:t>
            </a: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707" y="2694942"/>
            <a:ext cx="3420586" cy="1084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85707" y="2707642"/>
            <a:ext cx="3420586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63507" y="2898142"/>
            <a:ext cx="3156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vedrete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3507" y="3175000"/>
            <a:ext cx="3156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timeout, nessun thread in attesa, throughput vicino al massimo teorico.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693" y="2694942"/>
            <a:ext cx="3420507" cy="10845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958693" y="2707642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6493" y="2898142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tranello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6493" y="3175000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Funziona perché le sessioni non </a:t>
            </a:r>
            <a:r>
              <a:rPr lang="en-US" sz="1200" dirty="0" err="1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consumano</a:t>
            </a: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CPU. </a:t>
            </a:r>
            <a:r>
              <a:rPr lang="en-US" sz="1200" dirty="0" err="1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Sarà</a:t>
            </a: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sempre </a:t>
            </a:r>
            <a:r>
              <a:rPr lang="en-US" sz="1200" dirty="0" err="1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così</a:t>
            </a: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SCENARIO C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grande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un carico CPU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58"/>
            <a:ext cx="10566400" cy="64008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228600" tIns="177800" rIns="0" bIns="15240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java -cp "..." Stress.java 50 5000 50 cpu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694942"/>
            <a:ext cx="3420507" cy="12979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12800" y="2707642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90600" y="2898142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limite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0600" y="3175000"/>
            <a:ext cx="31568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XE usa al massimo </a:t>
            </a:r>
            <a:r>
              <a:rPr lang="en-US" sz="1200" b="1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thread di CPU</a:t>
            </a: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solo 2 query lavorano davvero insieme.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707" y="2694942"/>
            <a:ext cx="3420586" cy="12979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85707" y="2707642"/>
            <a:ext cx="3420586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63507" y="2898142"/>
            <a:ext cx="3156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vedrete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3507" y="3175000"/>
            <a:ext cx="315693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Throughput fermo, latenza di ogni query molto più alta, 50 sessioni in coda per la CPU.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693" y="2694942"/>
            <a:ext cx="3420507" cy="12979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958693" y="2707642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6493" y="2898142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costo nascosto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6493" y="3175000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Ogni altra applicazione sullo stesso database ora fa la coda insieme a noi.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DURANTE OGNI SCENARIO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stesso carico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visto dal database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75458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COSA STANNO FACENDO LE SESSIONI, ADESSO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15827"/>
            <a:ext cx="10566400" cy="91694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 DECODE(state, 'WAITING', event, 'ON CPU') AS attivita, COUNT(*)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v$session WHERE username = 'TUNING_USER' AND status = 'ACTIVE'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GROUP BY DECODE(state, 'WAITING', event, 'ON CPU');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3159758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GLI ULTIMI 5 MINUTI, DA ASH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500127"/>
            <a:ext cx="10566400" cy="91694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177800" tIns="127000" rIns="0" bIns="10160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SELECT NVL(event, 'ON CPU') AS attivita, COUNT(*) AS campioni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v$active_session_history WHERE sample_time &gt; SYSDATE - 5/1440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AND session_type = 'FOREGROUND' GROUP BY event ORDER BY 2 DESC;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SCENARIO 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Calibrare: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trovare il ginocchio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58"/>
            <a:ext cx="10566400" cy="112903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228600" tIns="177800" rIns="0" bIns="15240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P in 1 2 4 8 16 50; do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java -cp "..." Stress.java $P 5000 50 cpu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3183892"/>
            <a:ext cx="3420507" cy="1084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12800" y="3196592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90600" y="3387092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cercare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0600" y="3663950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valore di pool oltre il quale il throughput smette di crescere.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707" y="3183892"/>
            <a:ext cx="3420586" cy="10845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85707" y="3196592"/>
            <a:ext cx="3420586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63507" y="3387092"/>
            <a:ext cx="3156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Atteso su XE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3507" y="3663950"/>
            <a:ext cx="31569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Intorno a 2–4: la regola core × 2 con 2 thread di CPU.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8693" y="3183892"/>
            <a:ext cx="3420507" cy="10845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958693" y="3196592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6493" y="3387092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timeout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6493" y="3663950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il pool giusto, abbassatelo a 1.000 ms: compaiono timeout?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· RIEPILOGO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vostri numeri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1018"/>
          <a:ext cx="10556240" cy="1981200"/>
        </p:xfrm>
        <a:graphic>
          <a:graphicData uri="http://schemas.openxmlformats.org/drawingml/2006/table">
            <a:tbl>
              <a:tblPr/>
              <a:tblGrid>
                <a:gridCol w="1477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3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2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45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Scenario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Argomenti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op/s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Latenza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Timeout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Attività DB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2 500 50 sleep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 5000 50 sleep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 5000 50 cpu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5000 50 cpu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D′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1000 50 cpu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___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046227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pool giusto dipende dal tipo di lavoro: misurare, non indovinare.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081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0292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POMERIGGIO · TEORIA · 2 H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919499"/>
            <a:ext cx="9810750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Oltre l’istanza</a:t>
            </a:r>
            <a:endParaRPr lang="en-US" sz="5200" dirty="0"/>
          </a:p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singola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522713"/>
            <a:ext cx="784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Scalabilità verticale e orizzontale: quando il tuning non basta più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SCALABILITÀ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limiti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un’istanza singola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00858"/>
            <a:ext cx="3420507" cy="12979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2800" y="1813558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0600" y="2004058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0600" y="2280927"/>
            <a:ext cx="31568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solo server ha un numero finito di core, e il costo cresce più che linearmente.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707" y="1800858"/>
            <a:ext cx="3420507" cy="12979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385707" y="1813558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63507" y="2004058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I/O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3507" y="2280927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Tutti i dati passano dallo stesso canale tra storage e server.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614" y="1800858"/>
            <a:ext cx="3420507" cy="12979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7958614" y="1813558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136414" y="2004058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6414" y="2280927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SGA e PGA vivono nella RAM di una sola macchina.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3251200"/>
            <a:ext cx="3420507" cy="8712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12800" y="3263900"/>
            <a:ext cx="3420507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90600" y="3454400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point of failure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0600" y="3731258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il server si ferma, si ferma il servizio.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5707" y="3251200"/>
            <a:ext cx="3420507" cy="8712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385707" y="3263900"/>
            <a:ext cx="3420507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563507" y="3454400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Manutenzione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63507" y="3731258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Patch e upgrade richiedono un fermo.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8614" y="3251200"/>
            <a:ext cx="3420507" cy="8712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7958614" y="3263900"/>
            <a:ext cx="3420507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136414" y="3454400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Sito unico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36414" y="3731258"/>
            <a:ext cx="32427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evento sul data center coinvolge tutto.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4376427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 riga: limiti di prestazione → scalabilità. Seconda riga: limiti di continuità → alta affidabilità e disaster recovery.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SCALABILITÀ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Verticale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orizzontale?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1018"/>
          <a:ext cx="10556240" cy="1981200"/>
        </p:xfrm>
        <a:graphic>
          <a:graphicData uri="http://schemas.openxmlformats.org/drawingml/2006/table">
            <a:tbl>
              <a:tblPr/>
              <a:tblGrid>
                <a:gridCol w="2533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1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Aspetto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Verticale (scale up)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Orizzontale (scale out)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 più grande: più CPU, RAM, I/O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Più nodi che lavorano insieme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Applicazione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Nessuna modifica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Trasparente o quasi in cluster a disco condiviso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Il server più grande disponibile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Coordinamento tra nodi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Affidabilità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Resta un single point of failure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 nodo può cadere senza fermare il servizio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Esempi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 più potente, Exadata più grande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Oracle RAC, Db2 pureScale, sharding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046227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scale out ha un costo: i nodi devono mettersi d’accordo su lock e blocchi in memoria.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081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0292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POMERIGGIO · TEORIA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919499"/>
            <a:ext cx="9810750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Exadata</a:t>
            </a:r>
            <a:endParaRPr lang="en-US" sz="5200" dirty="0"/>
          </a:p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lo Smart Scan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522713"/>
            <a:ext cx="784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Portare il lavoro dove stanno i dati: l’offloading verso lo storage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EXADATA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Un’architettura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tre livelli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58"/>
            <a:ext cx="3027680" cy="46736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85395" tIns="127000" rIns="85395" bIns="1016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server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42080" y="1800858"/>
            <a:ext cx="3027680" cy="46736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85395" tIns="127000" rIns="85395" bIns="1016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server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369827"/>
            <a:ext cx="6156960" cy="41656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12294" tIns="101600" rIns="12294" bIns="762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 interna ad altissima velocità (RDMA)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2894335"/>
            <a:ext cx="1971834" cy="4749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D1"/>
            </a:solidFill>
            <a:prstDash val="solid"/>
          </a:ln>
        </p:spPr>
        <p:txBody>
          <a:bodyPr wrap="square" lIns="105157" tIns="130810" rIns="105157" bIns="10541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cell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05284" y="2894335"/>
            <a:ext cx="1971913" cy="4749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D1"/>
            </a:solidFill>
            <a:prstDash val="solid"/>
          </a:ln>
        </p:spPr>
        <p:txBody>
          <a:bodyPr wrap="square" lIns="105156" tIns="130810" rIns="105156" bIns="10541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cell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91497" y="2894335"/>
            <a:ext cx="1971913" cy="4749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D1"/>
            </a:solidFill>
            <a:prstDash val="solid"/>
          </a:ln>
        </p:spPr>
        <p:txBody>
          <a:bodyPr wrap="square" lIns="105156" tIns="130810" rIns="105156" bIns="10541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cell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74560" y="1800858"/>
            <a:ext cx="4227779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server</a:t>
            </a: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istanze Oracle, spesso in RAC.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74560" y="2154560"/>
            <a:ext cx="4227779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cell</a:t>
            </a: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server con dischi, flash e un proprio software che capisce l’SQL.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74560" y="2747652"/>
            <a:ext cx="4227779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differenza</a:t>
            </a: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lo storage non restituisce blocchi, restituisce risultati.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EXADATA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Scan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offloading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00858"/>
            <a:ext cx="5207000" cy="8458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5500" y="1800858"/>
            <a:ext cx="0" cy="84582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41400" y="1978658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 dei predicati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2255527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WHERE viene valutato nelle cell: tornano solo le righe utili.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00858"/>
            <a:ext cx="5207000" cy="8458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184900" y="1800858"/>
            <a:ext cx="0" cy="84582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0" y="1978658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Proiezione delle colonne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255527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Tornano solo le colonne richieste dalla SELECT.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2799085"/>
            <a:ext cx="5207000" cy="10591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825500" y="2799085"/>
            <a:ext cx="0" cy="105918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041400" y="297688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Index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1400" y="3253742"/>
            <a:ext cx="491845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 e max per regione di disco: le regioni impossibili non vengono neanche lette.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799085"/>
            <a:ext cx="5207000" cy="10591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184900" y="2799085"/>
            <a:ext cx="0" cy="105918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00800" y="2976885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filtering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253742"/>
            <a:ext cx="49184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Bloom filter dell’hash join applicati già nello storage.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112258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Condizione: un full scan letto in direct path. Le letture via indice e la Buffer Cache non passano dallo Smart Scan.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EXADATA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58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 si riconosce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 Smart Scan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00858"/>
            <a:ext cx="3420507" cy="1600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2800" y="1813558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90600" y="2004058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NEL PIANO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2293627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TABLE ACCESS STORAGE FULL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583185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predicati storage(…) in Predicate Information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707" y="1800858"/>
            <a:ext cx="3420586" cy="1600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85707" y="1813558"/>
            <a:ext cx="3420586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63507" y="2004058"/>
            <a:ext cx="3156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 WAIT EVENT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63507" y="2293627"/>
            <a:ext cx="3156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cell smart table scan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3507" y="2583185"/>
            <a:ext cx="3156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posto di db file scattered read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8693" y="1800858"/>
            <a:ext cx="3420507" cy="16002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7958693" y="1813558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136493" y="2004058"/>
            <a:ext cx="3156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V$SQL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6493" y="2293627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IO_CELL_OFFLOAD_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8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ELIGIBLE_BYTES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6493" y="2796542"/>
            <a:ext cx="315685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confrontato con IO_INTERCONNECT_BYTES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3655058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Gli strumenti sono quelli dei Giorni 1 e 2: piano, wait event, V$SQL. Cambia solo cosa ci leggiamo dentro.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081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029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POMERIGGIO · TEORIA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919487"/>
            <a:ext cx="9810750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Db2 pureScale</a:t>
            </a:r>
            <a:endParaRPr lang="en-US" sz="5200" dirty="0"/>
          </a:p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attivo/attivo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522713"/>
            <a:ext cx="784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Più membri, un solo database, disco condiviso e un coordinatore centrale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DB2 PURESCALE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Membri, CF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disco condiviso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70"/>
            <a:ext cx="1984534" cy="46736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101042" tIns="127000" rIns="101042" bIns="1016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Membro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98934" y="1800870"/>
            <a:ext cx="1984613" cy="46736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101041" tIns="127000" rIns="101041" bIns="1016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Membro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85147" y="1800870"/>
            <a:ext cx="1984613" cy="46736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101041" tIns="127000" rIns="101041" bIns="1016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Membro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369815"/>
            <a:ext cx="3017520" cy="48768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85547" tIns="127000" rIns="85547" bIns="1016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 primario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8270" y="2376165"/>
            <a:ext cx="3025140" cy="4749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  <p:txBody>
          <a:bodyPr wrap="square" lIns="89357" tIns="130810" rIns="89357" bIns="10541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B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 secondario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150" y="2965450"/>
            <a:ext cx="6144260" cy="4749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D1"/>
            </a:solidFill>
            <a:prstDash val="solid"/>
          </a:ln>
        </p:spPr>
        <p:txBody>
          <a:bodyPr wrap="square" lIns="42570" tIns="130810" rIns="42570" bIns="10541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 condiviso (IBM Storage Scale)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74560" y="1800870"/>
            <a:ext cx="4227779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Membri</a:t>
            </a: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motori Db2 attivi insieme, ciascuno con buffer pool e log propri.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74560" y="2357115"/>
            <a:ext cx="4227779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</a:t>
            </a: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(Cluster Caching Facility): buffer pool di gruppo e gestore dei lock globale.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74560" y="2913385"/>
            <a:ext cx="4227779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RDMA</a:t>
            </a: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 membri parlano con il CF senza passare dal sistema operativo.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55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DB2 PURESCALE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pureScale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Oracle RAC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1030"/>
          <a:ext cx="10556240" cy="2311400"/>
        </p:xfrm>
        <a:graphic>
          <a:graphicData uri="http://schemas.openxmlformats.org/drawingml/2006/table">
            <a:tbl>
              <a:tblPr/>
              <a:tblGrid>
                <a:gridCol w="2533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1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1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Aspetto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Db2 pureScale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Oracle RAC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Modello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Attivo/attivo, disco condiviso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Attivo/attivo, disco condiviso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Coordinamento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Centrale, nel CF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Distribuito tra le istanze (Cache Fusion)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Blocchi condivisi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 Buffer Pool nel CF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Trasferiti tra le cache delle istanze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Storage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IBM Storage Scale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Oracle ASM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Componente da proteggere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CF, duplicato (primario e secondario)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Interconnect privato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 l’applicazione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Trasparente, con reroute automatico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Trasparente, con servizi e failover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55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082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029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POMERIGGIO · TEORIA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919487"/>
            <a:ext cx="9810750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Disaster recovery</a:t>
            </a:r>
            <a:endParaRPr lang="en-US" sz="5200" dirty="0"/>
          </a:p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log shipping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522713"/>
            <a:ext cx="7848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HADR in Db2 e il suo equivalente Oracle, Data Guard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DISASTER RECOVERY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numeri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 decidono tutto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00870"/>
            <a:ext cx="5181600" cy="18592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66800" y="205487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66800" y="2600970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Point 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800" y="2938785"/>
            <a:ext cx="481380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 dati posso permettermi di perdere. Zero = ogni transazione confermata deve essere già nel sito remoto.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600" y="1800870"/>
            <a:ext cx="5181600" cy="1859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197600" y="1813570"/>
            <a:ext cx="5181600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51600" y="2080270"/>
            <a:ext cx="481380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RTO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51600" y="2626370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Time Objective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51600" y="2964185"/>
            <a:ext cx="481380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tempo può restare fermo il servizio prima di ripartire nel sito di riserva.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914155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shipping: il primario invia i suoi log al standby, che li riapplica e resta allineato.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55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DB2 HADR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Availability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Disaster Recovery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85615"/>
            <a:ext cx="2871867" cy="46736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87732" tIns="127000" rIns="87732" bIns="1016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Primario</a:t>
            </a:r>
            <a:endParaRPr lang="en-US" sz="1200" dirty="0"/>
          </a:p>
        </p:txBody>
      </p:sp>
      <p:pic>
        <p:nvPicPr>
          <p:cNvPr id="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86267" y="1892300"/>
            <a:ext cx="762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49867" y="1785615"/>
            <a:ext cx="2871946" cy="46736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87731" tIns="127000" rIns="87731" bIns="10160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in transito</a:t>
            </a:r>
            <a:endParaRPr lang="en-US" sz="120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3413" y="1892300"/>
            <a:ext cx="762000" cy="25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93363" y="1781820"/>
            <a:ext cx="2879487" cy="4749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BD1"/>
            </a:solidFill>
            <a:prstDash val="solid"/>
          </a:ln>
        </p:spPr>
        <p:txBody>
          <a:bodyPr wrap="square" lIns="91542" tIns="130810" rIns="91542" bIns="10541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Standby (replay)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01915"/>
          <a:ext cx="10556240" cy="1651000"/>
        </p:xfrm>
        <a:graphic>
          <a:graphicData uri="http://schemas.openxmlformats.org/drawingml/2006/table">
            <a:tbl>
              <a:tblPr/>
              <a:tblGrid>
                <a:gridCol w="2322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5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Modalità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Il COMMIT sul primario aspetta che il log sia…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Perdita possibile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SYNC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scritto su disco nello standby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Nessuna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NEARSYNC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ricevuto in memoria dallo standby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Solo con guasto doppio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ASYNC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consegnato alla rete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 in transito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SUPERASYNC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nulla: non aspetta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Il ritardo accumulato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12800" y="6238255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IL PARALLELO ORACLE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HADR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Data Guard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1030"/>
          <a:ext cx="10556240" cy="2311400"/>
        </p:xfrm>
        <a:graphic>
          <a:graphicData uri="http://schemas.openxmlformats.org/drawingml/2006/table">
            <a:tbl>
              <a:tblPr/>
              <a:tblGrid>
                <a:gridCol w="2744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Concetto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Db2 HADR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Oracle Data Guard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Cosa si spedisce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 delle transazioni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Livelli di protezione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SYNC, NEARSYNC, ASYNC, SUPERASYNC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Maximum Protection, Availability, Performance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Lettura sullo standby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Reads on Standby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Active Data Guard (opzione)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Cambio di ruolo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TAKEOVER, BY FORCE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Switchover, failover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Failover automatico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 cluster manager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Fast-Start Failover con observer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Client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Automatic Client Reroute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Servizi per ruolo, FAN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55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CE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082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4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WRAP-UP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029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4B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CHIUSURA DEL CORSO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919487"/>
            <a:ext cx="9810750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1B4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giorni</a:t>
            </a:r>
            <a:endParaRPr lang="en-US" sz="5200" dirty="0"/>
          </a:p>
          <a:p>
            <a:pPr marL="0" indent="0" algn="l">
              <a:lnSpc>
                <a:spcPts val="5512"/>
              </a:lnSpc>
              <a:buNone/>
            </a:pPr>
            <a:r>
              <a:rPr lang="en-US" sz="5200" b="1" i="0" kern="0" spc="-105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tre minuti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522713"/>
            <a:ext cx="850265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Riepilogo, domande finali e materiale del corso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RIEPILOGO DEL CORSO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 sintomo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all’architettura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00870"/>
            <a:ext cx="3420507" cy="1965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2800" y="1813570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16000" y="2029470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GIORNO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331715"/>
            <a:ext cx="31045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Misurare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1156" y="2649215"/>
            <a:ext cx="29917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Istanza e database</a:t>
            </a:r>
            <a:endParaRPr lang="en-US" sz="1200" dirty="0"/>
          </a:p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layer e viste V$</a:t>
            </a:r>
            <a:endParaRPr lang="en-US" sz="1200" dirty="0"/>
          </a:p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 event e ASH</a:t>
            </a:r>
            <a:endParaRPr lang="en-US" sz="1200" dirty="0"/>
          </a:p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CBO e piani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5707" y="1800870"/>
            <a:ext cx="3420586" cy="1965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385707" y="1813570"/>
            <a:ext cx="3420586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88907" y="2029470"/>
            <a:ext cx="31046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GIORNO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88907" y="2331715"/>
            <a:ext cx="31046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Correggere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94063" y="2649215"/>
            <a:ext cx="299183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Indici e join</a:t>
            </a:r>
            <a:endParaRPr lang="en-US" sz="1200" dirty="0"/>
          </a:p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Trappole comuni</a:t>
            </a:r>
            <a:endParaRPr lang="en-US" sz="1200" dirty="0"/>
          </a:p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Connessioni e pool</a:t>
            </a:r>
            <a:endParaRPr lang="en-US" sz="1200" dirty="0"/>
          </a:p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JDBC e statement cache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8693" y="1800870"/>
            <a:ext cx="3420507" cy="19659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7958693" y="1813570"/>
            <a:ext cx="3420507" cy="0"/>
          </a:xfrm>
          <a:prstGeom prst="line">
            <a:avLst/>
          </a:prstGeom>
          <a:noFill/>
          <a:ln w="25400">
            <a:solidFill>
              <a:srgbClr val="2E6B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161893" y="2029470"/>
            <a:ext cx="310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GIORNO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61893" y="2331715"/>
            <a:ext cx="31045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8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67049" y="2649215"/>
            <a:ext cx="29917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Dimensionare il pool</a:t>
            </a:r>
            <a:endParaRPr lang="en-US" sz="1200" dirty="0"/>
          </a:p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</a:t>
            </a:r>
            <a:endParaRPr lang="en-US" sz="1200" dirty="0"/>
          </a:p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Exadata e pureScale</a:t>
            </a:r>
            <a:endParaRPr lang="en-US" sz="1200" dirty="0"/>
          </a:p>
          <a:p>
            <a:pPr marL="148844" indent="-148844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HADR e Data Guard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020815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 si misura, poi si corregge, solo alla fine si scala.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55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473325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kern="0" spc="-160" dirty="0">
                <a:solidFill>
                  <a:srgbClr val="5B9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Domande?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812800" y="3749675"/>
            <a:ext cx="3420507" cy="0"/>
          </a:xfrm>
          <a:prstGeom prst="line">
            <a:avLst/>
          </a:prstGeom>
          <a:noFill/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12800" y="3905885"/>
            <a:ext cx="3523122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caso reale dal vostro lavoro che vorreste analizzare con il metodo visto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5707" y="3749675"/>
            <a:ext cx="3420586" cy="0"/>
          </a:xfrm>
          <a:prstGeom prst="line">
            <a:avLst/>
          </a:prstGeom>
          <a:noFill/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385707" y="3905885"/>
            <a:ext cx="352320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argomento dei tre giorni da riprendere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8693" y="3749675"/>
            <a:ext cx="3420507" cy="0"/>
          </a:xfrm>
          <a:prstGeom prst="line">
            <a:avLst/>
          </a:prstGeom>
          <a:noFill/>
          <a:ln w="12700">
            <a:solidFill>
              <a:srgbClr val="5B9B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958693" y="3905885"/>
            <a:ext cx="3523122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 strumento che userete per primo, e perché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MATERIALE DEL CORSO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777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kern="0" spc="-6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vi portate </a:t>
            </a:r>
            <a:r>
              <a:rPr lang="en-US" sz="3000" b="1" i="0" kern="0" spc="-60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0087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MATERIALE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0844" y="2115815"/>
            <a:ext cx="5231384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dei tre giorni</a:t>
            </a:r>
            <a:endParaRPr lang="en-US" sz="1300" dirty="0"/>
          </a:p>
          <a:p>
            <a:pPr marL="155956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docker-compose.yaml dell’ambiente XE</a:t>
            </a:r>
            <a:endParaRPr lang="en-US" sz="1300" dirty="0"/>
          </a:p>
          <a:p>
            <a:pPr marL="155956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SQL di tutti i laboratori</a:t>
            </a:r>
            <a:endParaRPr lang="en-US" sz="1300" dirty="0"/>
          </a:p>
          <a:p>
            <a:pPr marL="155956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Logon, Leak, Cache e Stress (.java)</a:t>
            </a:r>
            <a:endParaRPr lang="en-US" sz="1300" dirty="0"/>
          </a:p>
          <a:p>
            <a:pPr marL="155956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Tabelle dei risultati da compilare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97600" y="1800870"/>
            <a:ext cx="53370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95" dirty="0">
                <a:solidFill>
                  <a:srgbClr val="2E6B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APPROFONDIRE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95644" y="2115815"/>
            <a:ext cx="5231384" cy="104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Database Performance Tuning Guide</a:t>
            </a:r>
            <a:endParaRPr lang="en-US" sz="1300" dirty="0"/>
          </a:p>
          <a:p>
            <a:pPr marL="155956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Database SQL Tuning Guide</a:t>
            </a:r>
            <a:endParaRPr lang="en-US" sz="1300" dirty="0"/>
          </a:p>
          <a:p>
            <a:pPr marL="155956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HikariCP wiki: “About Pool Sizing”</a:t>
            </a:r>
            <a:endParaRPr lang="en-US" sz="1300" dirty="0"/>
          </a:p>
          <a:p>
            <a:pPr marL="155956" indent="-1559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3D4B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Documentazione IBM Db2: pureScale e HADR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3649340"/>
            <a:ext cx="10566400" cy="552450"/>
          </a:xfrm>
          <a:prstGeom prst="rect">
            <a:avLst/>
          </a:prstGeom>
          <a:solidFill>
            <a:srgbClr val="DCE5F2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L’ambiente Docker resta vostro: rifate i laboratori sui vostri dati e con le vostre query.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6238255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 Performance Monitoring &amp; Tuning · Giorno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cle Performance Monitoring &amp; Tuning – Giorno 3">
  <a:themeElements>
    <a:clrScheme name="Oracle Performance Monitoring &amp; Tuning – Giorno 3">
      <a:dk1>
        <a:srgbClr val="0F1B2D"/>
      </a:dk1>
      <a:lt1>
        <a:srgbClr val="F6F8FB"/>
      </a:lt1>
      <a:dk2>
        <a:srgbClr val="495261"/>
      </a:dk2>
      <a:lt2>
        <a:srgbClr val="DFE2E6"/>
      </a:lt2>
      <a:accent1>
        <a:srgbClr val="2E6BD1"/>
      </a:accent1>
      <a:accent2>
        <a:srgbClr val="5B9BFF"/>
      </a:accent2>
      <a:accent3>
        <a:srgbClr val="1B4C9C"/>
      </a:accent3>
      <a:accent4>
        <a:srgbClr val="8DB8FF"/>
      </a:accent4>
      <a:accent5>
        <a:srgbClr val="3D4B5E"/>
      </a:accent5>
      <a:accent6>
        <a:srgbClr val="5B6B80"/>
      </a:accent6>
      <a:hlink>
        <a:srgbClr val="0563C1"/>
      </a:hlink>
      <a:folHlink>
        <a:srgbClr val="954F72"/>
      </a:folHlink>
    </a:clrScheme>
    <a:fontScheme name="Oracle Performance Monitoring &amp; Tuning – Giorno 3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5965</Words>
  <Application>Microsoft Office PowerPoint</Application>
  <PresentationFormat>Widescreen</PresentationFormat>
  <Paragraphs>602</Paragraphs>
  <Slides>39</Slides>
  <Notes>39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39</vt:i4>
      </vt:variant>
    </vt:vector>
  </HeadingPairs>
  <TitlesOfParts>
    <vt:vector size="43" baseType="lpstr">
      <vt:lpstr>Arial</vt:lpstr>
      <vt:lpstr>Inter</vt:lpstr>
      <vt:lpstr>JetBrains Mono</vt:lpstr>
      <vt:lpstr>Oracle Performance Monitoring &amp; Tuning – Giorno 3</vt:lpstr>
      <vt:lpstr>Tuning applicativo e scalabilità enterprise</vt:lpstr>
      <vt:lpstr>Dal pool al data center</vt:lpstr>
      <vt:lpstr>Dimensionare il connection pool</vt:lpstr>
      <vt:lpstr>Più connessioni non è più velocità</vt:lpstr>
      <vt:lpstr>Due formule per partire</vt:lpstr>
      <vt:lpstr>Pool fisso o elastico?</vt:lpstr>
      <vt:lpstr>Un metodo in quattro passi</vt:lpstr>
      <vt:lpstr>I timeout critici</vt:lpstr>
      <vt:lpstr>Tre timeout, tre momenti diversi</vt:lpstr>
      <vt:lpstr>La catena dei timeout</vt:lpstr>
      <vt:lpstr>Default e indicazioni</vt:lpstr>
      <vt:lpstr>Stressare un pool e calibrarlo</vt:lpstr>
      <vt:lpstr>Quattro scenari, un solo programma</vt:lpstr>
      <vt:lpstr>Cosa serve</vt:lpstr>
      <vt:lpstr>Il cuore di Stress.java</vt:lpstr>
      <vt:lpstr>Pool troppo piccolo, timeout troppo corto</vt:lpstr>
      <vt:lpstr>Pool grande su un carico che aspetta</vt:lpstr>
      <vt:lpstr>Pool grande su un carico CPU</vt:lpstr>
      <vt:lpstr>Lo stesso carico visto dal database</vt:lpstr>
      <vt:lpstr>Calibrare: trovare il ginocchio</vt:lpstr>
      <vt:lpstr>I vostri numeri</vt:lpstr>
      <vt:lpstr>Oltre l’istanza singola</vt:lpstr>
      <vt:lpstr>I limiti di un’istanza singola</vt:lpstr>
      <vt:lpstr>Verticale o orizzontale?</vt:lpstr>
      <vt:lpstr>Oracle Exadata e lo Smart Scan</vt:lpstr>
      <vt:lpstr>Un’architettura in tre livelli</vt:lpstr>
      <vt:lpstr>Smart Scan e offloading</vt:lpstr>
      <vt:lpstr>Come si riconosce uno Smart Scan</vt:lpstr>
      <vt:lpstr>Db2 pureScale cluster attivo/attivo</vt:lpstr>
      <vt:lpstr>Membri, CF e disco condiviso</vt:lpstr>
      <vt:lpstr>pureScale e Oracle RAC</vt:lpstr>
      <vt:lpstr>Disaster recovery e log shipping</vt:lpstr>
      <vt:lpstr>Due numeri che decidono tutto</vt:lpstr>
      <vt:lpstr>High Availability Disaster Recovery</vt:lpstr>
      <vt:lpstr>HADR e Data Guard</vt:lpstr>
      <vt:lpstr>Tre giorni in tre minuti</vt:lpstr>
      <vt:lpstr>Dal sintomo all’architettura</vt:lpstr>
      <vt:lpstr>Domande?</vt:lpstr>
      <vt:lpstr>Cosa vi portate a casa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Performance Monitoring &amp; Tuning – Giorno 3</dc:title>
  <dc:subject/>
  <dc:creator/>
  <cp:lastModifiedBy>Tommaso Maione</cp:lastModifiedBy>
  <cp:revision>14</cp:revision>
  <dcterms:created xsi:type="dcterms:W3CDTF">2026-10-15T09:52:02Z</dcterms:created>
  <dcterms:modified xsi:type="dcterms:W3CDTF">2026-10-22T16:30:36Z</dcterms:modified>
</cp:coreProperties>
</file>