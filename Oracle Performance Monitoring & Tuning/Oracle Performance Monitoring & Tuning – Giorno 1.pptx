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9" r:id="rId33"/>
    <p:sldId id="287" r:id="rId34"/>
    <p:sldId id="288" r:id="rId35"/>
    <p:sldId id="290" r:id="rId36"/>
    <p:sldId id="291" r:id="rId37"/>
    <p:sldId id="292" r:id="rId38"/>
    <p:sldId id="293" r:id="rId39"/>
    <p:sldId id="294" r:id="rId40"/>
    <p:sldId id="295" r:id="rId41"/>
    <p:sldId id="296" r:id="rId42"/>
    <p:sldId id="297" r:id="rId43"/>
    <p:sldId id="298" r:id="rId44"/>
    <p:sldId id="300"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837" autoAdjust="0"/>
  </p:normalViewPr>
  <p:slideViewPr>
    <p:cSldViewPr snapToGrid="0" snapToObjects="1">
      <p:cViewPr varScale="1">
        <p:scale>
          <a:sx n="70" d="100"/>
          <a:sy n="70" d="100"/>
        </p:scale>
        <p:origin x="11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524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durate sono indicative: teoria tra 2 e 3 ore per blocco, laboratorio da 1 a massimo 2 ore. Il filo conduttore della giornata: dal sintomo (il sistema è lento) alla causa (sessione, wait event, SQL) fino al piano di esecuzione. Il Giorno 2 riparte esattamente da dove finisce il lab del pomeriggio: indici e trasformazione dei piani.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misurare le prestazioni dobbiamo sapere dove guardare. Ogni metrica che vedremo oggi appartiene a un componente preciso dell’architettura.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Distinzione fondamentale per il tuning: un problema di “istanza” si misura in CPU, memoria e attese; un problema di “database” si misura in I/O e dimensione/organizzazione dei file. Domanda alla classe: se riavvio il server, cosa perdo? Cache, statistiche di sessione, contenuto delle viste V$. Ecco perché esiste AWR/ASH per lo storico.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Collegamento con i lab: “session pga memory” in V$SESSTAT misura la PGA di una sessione; Buffers vs Reads in DBMS_XPLAN mostrano Buffer Cache vs disco. Shared Pool troppo piccola o SQL senza bind variable portano a hard parse continui e contention sui latch/mutex della library cache. Query utile: SELECT name, bytes/1024/1024 MB FROM v$sgainfo;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 lab filtreremo sempre type != 'BACKGROUND' in V$SESSION: i processi di background sono sempre presenti e “rumorosi”, ma raramente sono la causa del problema; più spesso ne sono la vittima (es. LGWR rallentato da disco lento). La colonna PNAME di V$PROCESS è disponibile da 12c.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file sequential read” = lettura di un singolo blocco (tipicamente accesso via indice); “db file scattered read” = letture multiblocco (tipicamente Full Table Scan). Questo collegamento tornerà nel pomeriggio quando leggeremo i piani di esecuzione. Viste: DBA_DATA_FILES, V$LOGFILE, V$LOG, V$CONTROLFILE, V$TEMPFILE.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problema di prestazioni si manifesta quasi sempre su più layer contemporaneamente. Il lavoro del DBA è capire in quale layer sta la causa e in quali solo il sintomo.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Esempio da raccontare: il sistemista vede la CPU al 100% e chiede più core; il DBA scopre che una sola query in loop la satura. Aggiungere hardware avrebbe solo spostato il problema. È esattamente lo scenario del Lab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Regola pratica: una latenza di lettura singolo blocco stabilmente sopra i 10–20 ms su storage tradizionale (o sopra 1–2 ms su flash) è un segnale da approfondire. Query di esempio: SELECT stat_name, value FROM v$osstat WHERE stat_name IN ('NUM_CPUS','LOAD','BUSY_TIME','IDLE_TIME'); In Docker i valori riflettono l’host/VM, utile da far notare.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Latch tipici: “cache buffers chains” (blocchi molto caldi, spesso letti da SQL inefficiente) e “shared pool / library cache” (hard parse eccessivo). Il Lab 2 riproduce un lock TX: “enq: TX - row lock contention”. Gli advisor indicano se aumentare la memoria ridurrebbe davvero il DB time: utile per non sovradimensionare.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cuore del metodo “Time Model”: V$SYS_TIME_MODEL espone “DB time” e “DB CPU”. Se il DB CPU è la quota dominante, si cerca SQL che fa troppo lavoro (Lab 1). Se dominano le attese, si guarda quale classe (Lab 2: Application/lock). Far notare che “SQL*Net message from client” è il DB che aspetta l’applicazione: tempo idle lato DB.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parse = ottimizzazione completa e allocazione in Shared Pool, costoso in CPU e latch. Soft parse = il cursore esiste già. Query utili: SELECT name, value FROM v$sysstat WHERE name LIKE 'parse count%'; per i cursori aperti per sessione: SELECT sid, COUNT(*) FROM v$open_cursor GROUP BY sid ORDER BY 2 DESC; Il parametro OPEN_CURSORS limita i cursori aperti per sessione.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qualsiasi tool grafico (OEM, SQL Developer, AWR report) ci sono le viste: tutti i tool le interrogano. Saperle leggere direttamente rende indipendenti dal tool.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USER_ = oggetti miei; ALL_ = oggetti a cui ho accesso; DBA_ = tutti (serve privilegio). Le V$ sono sinonimi pubblici di viste V_$ costruite sulle tabelle X$ interne. Per lo storico oltre la memoria: le viste DBA_HIST_* (AWR), che richiedono la licenza Diagnostics Pack. Esercizio rapido in aula: far cercare agli studenti nella DICTIONARY le viste che contengono “WAIT”.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“mappa” del laboratorio della mattina. Le prime tre viste sono il percorso del Lab 1 (sessione → consumo → SQL); V$SESSION con EVENT/BLOCKING_SESSION e V$ACTIVE_SESSION_HISTORY sono il percorso del Lab 2. Nota licenze: ASH fa parte del Diagnostics Pack su Enterprise Edition; in ambiente XE di laboratorio la usiamo a scopo didattico.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metodo che applicheremo identico nei due laboratori. Insistere sul principio: la decisione (kill, indice, riscrittura) arriva solo alla fine, dopo aver misurato. Nel Giorno 2 lo step “Azione” diventerà il centro del lavoro: indici, statistiche, riscrittura SQL.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Tempi indicativi: setup 15–20 minuti (se l’immagine Docker è già scaricata), Lab 1 circa 30–40 minuti, Lab 2 circa 30–40 minuti. Consigliato far scaricare l’immagine Docker prima del corso: il download è di diversi GB.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avvio richiede alcuni minuti per l’inizializzazione del database. XEPDB1 è il Pluggable Database di default: è lì che creeremo lo schema di lavoro. In alternativa a system si può usare sys as sysdba. Con le versioni recenti di Docker il comando è anche “docker compose up -d” (senza trattino).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Distribuzione dei dati da far notare: 365 date diverse, 10.000 clienti, 10% degli ordini IN_ATTESA (50.000 righe) e 90% COMPLETATO. Questa distribuzione servirà nel pomeriggio per verificare le stime di cardinalità del CBO. Il GRANT DBA è solo per comodità di laboratorio: mai in produzione. Se si usa la forma con blocco BEGIN … END; in SQL*Plus serve la barra “/” su una riga a sé per eseguirlo; EXEC funziona in SQL*Plus e SQL Developer. Senza statistiche l’ottimizzatore userebbe il dynamic sampling.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Obiettivo: trasformare SGA, PGA e processi in un’indagine in tempo reale. Aprire due tab di SQL*Plus o SQL Developer collegate al database del laboratorio. Il Terminale 2 può essere connesso come SYS/system oppure tuning_user (che ha il ruolo DBA).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 finale serve in SQL*Plus per eseguire il blocco PL/SQL; in SQL Developer o DBeaver si esegue come script. Il connect string usa la sintassi EZConnect host:porta/service. Le letture saranno soprattutto logiche (i blocchi restano in Buffer Cache), quindi il consumo dominante è CPU: lo vedremo nella Fase 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filtro esclude i processi di background e le sessioni senza utente: resta solo chi sta lavorando. Domanda alla classe: perché vediamo anche la nostra stessa sessione del Terminale 2? Perché mentre esegue la query è ACTIVE. Far rieseguire la query più volte: lo SQL_ID della sessione del Terminale 1 resta lo stesso (la SELECT dentro il loop).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V$SESSTAT contiene i valori, V$STATNAME i nomi: si uniscono su STATISTIC#. Far rieseguire la query 3–4 volte a distanza di qualche secondo: la CPU cresce, le physical reads restano basse perché i blocchi sono già in Buffer Cache. È il collegamento diretto con la teoria su SGA (buffer cache) e PGA. Variante: aggiungere 'session logical reads' per vedere quanto lavora in memoria, </a:t>
            </a:r>
            <a:r>
              <a:rPr lang="it-IT" sz="1200" b="0" u="none" strike="noStrike" kern="1200" dirty="0">
                <a:solidFill>
                  <a:schemeClr val="tx1"/>
                </a:solidFill>
                <a:effectLst/>
                <a:latin typeface="+mn-lt"/>
                <a:ea typeface="+mn-ea"/>
                <a:cs typeface="+mn-cs"/>
              </a:rPr>
              <a:t>indica i blocchi letti dalla SGA</a:t>
            </a:r>
            <a:r>
              <a:rPr lang="it-IT" dirty="0"/>
              <a:t> (</a:t>
            </a:r>
            <a:r>
              <a:rPr lang="it-IT" dirty="0" err="1"/>
              <a:t>Shared</a:t>
            </a:r>
            <a:r>
              <a:rPr lang="it-IT" dirty="0"/>
              <a:t> Global Area), nello specifico dalla </a:t>
            </a:r>
            <a:r>
              <a:rPr lang="it-IT" sz="1200" b="0" u="none" strike="noStrike" kern="1200" dirty="0">
                <a:solidFill>
                  <a:schemeClr val="tx1"/>
                </a:solidFill>
                <a:effectLst/>
                <a:latin typeface="+mn-lt"/>
                <a:ea typeface="+mn-ea"/>
                <a:cs typeface="+mn-cs"/>
              </a:rPr>
              <a:t>Buffer Cache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CPU_TIME ed ELAPSED_TIME in V$SQL sono in microsecondi e cumulativi su tutte le esecuzioni: dividere per EXECUTIONS per il costo medio. In alternativa alla sostituzione manuale si può unire V$SESSION e V$SQL su sql_id. Il kill è l’ultima risorsa: in produzione si concorda prima con il responsabile applicativo, e la vera soluzione è correggere il codice (il loop non ha motivo di esistere). Le variabili &amp; sono sostituite da SQL*Plus/SQL Developer; in DBeaver usare i parametri o scrivere i valori.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quotidiano in produzione: una transazione lasciata aperta (un utente che va in pausa caffè con una maschera in modifica, un batch che non fa commit). Attenzione con i client grafici: SQL Developer e DBeaver possono avere l’auto-commit attivo; per la Connessione 1 va disattivato, altrimenti il lock viene rilasciato subito.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Differenza rispetto al Lab 1: lì cercavamo chi consuma CPU, qui cerchiamo chi aspetta. Stessa vista, colonne diverse. La colonna WAIT_CLASS di V$SESSION mostrerà “Application”: collegamento con la tabella delle wait class vista in teoria.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didattico chiave: un filtro su status = 'ACTIVE' non avrebbe mai trovato il colpevole, perché è INACTIVE. Chi blocca non sta lavorando: sta solo tenendo il lock. Varianti: la colonna FINAL_BLOCKING_SESSION per catene di blocchi; V$LOCK per vedere i lock TX/TM. Azione possibile: COMMIT/ROLLBACK da parte dell’applicazione o, in ultima istanza, kill della sessione bloccante.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Domanda da porre: come dimostro che c’è stato un problema 5 minuti fa, se ora V$SESSION è pulita? Risposta: ASH. È fondamentale per i problemi transitori, quelli che “quando arrivo io non c’è più niente”. V$ACTIVE_SESSION_HISTORY tiene in memoria circa l’ultima ora (dipende dal carico); i campioni più vecchi finiscono in DBA_HIST_ACTIVE_SESS_HISTORY (1 campione su 10). Nota licenze: su Enterprise Edition ASH richiede il Diagnostics Pack. FETCH FIRST richiede Oracle 12c o successivo.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mattino siamo arrivati allo SQL_ID colpevole. Il pomeriggio risponde alla domanda successiva: perché quella query è lenta? La risposta sta nel piano di esecuzione.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il CBO è buono quanto le informazioni che riceve. Statistiche mancanti o vecchie significano stime sbagliate, e quindi piani sbagliati. Il costo serve a confrontare piani alternativi della stessa query, non ha senso confrontarlo tra query diverse. Il vecchio Rule-Based Optimizer è deprecato da 10g. Nel lab vedremo come verificare se la stima corrisponde alla realtà (E-Rows vs A-Rows).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istogramma il CBO assume distribuzione uniforme: 1/NUM_DISTINCT. Con dati sbilanciati (10% / 90%) servirebbe un istogramma per stimare bene. GATHER_TABLE_STATS con METHOD_OPT di default (SIZE AUTO) crea istogrammi solo sulle colonne usate nei predicati, quindi dopo aver eseguito query su STATO e ri-raccolto le statistiche la stima può cambiare. Ottimo spunto da verificare nel lab: confrontate la colonna Rows con il valore reale. Viste: USER_TAB_COL_STATISTICS (num_distinct, histogram).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Ordine di grandezza da trasmettere: oltre una certa percentuale di righe (spesso indicata intorno al 5–15%, ma dipende dal clustering factor) l’indice smette di convenire rispetto al full scan. Il CBO lo calcola, non applica una soglia fissa. Collegamento con la teoria del mattino: FULL = db file scattered read / direct path read; accesso via indice = db file sequential read.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Anticipazione della challenge del lab: tra CLIENTI e ORDINI, senza indice su ordini.cliente_id, il CBO sceglierà un Hash Join. Un Nested Loops senza indice significherebbe scansionare ORDINI una volta per ogni cliente del Sud. Se l’hash table non sta nella PGA, l’hash join fa spill su TEMP: collegamento con la teoria del mattino.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Varianti AUTOTRACE: SET AUTOTRACE ON (righe + piano + statistiche), ON EXPLAIN, ON STATISTICS, TRACEONLY. Attenzione: il piano mostrato da AUTOTRACE è un EXPLAIN PLAN, quindi una stima; le statistiche invece sono reali. In SQL Developer: tasto F6 (Autotrace) e F10 (Explain Plan). DBeaver non supporta i comandi SET di SQL*Plus. Lo strumento più affidabile resta DBMS_XPLAN.DISPLAY_CURSOR, perché legge il piano effettivamente usato.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Piano schematico (valori omessi) della challenge del pomeriggio. Lettura: Id 2 (CLIENTI) viene letto per primo e diventa la build table dell’hash join; Id 3 (ORDINI) è la probe table; Id 1 unisce; Id 0 restituisce. L’asterisco indica che per quella riga esiste un predicato nella sezione Predicate Information. Un “filter” su una riga TABLE ACCESS FULL significa: leggo tutto, poi butto via quello che non serve.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colonne A-Rows, Buffers e Reads compaiono solo se la query è stata eseguita con l’hint GATHER_PLAN_STATISTICS (oppure con STATISTICS_LEVEL = ALL nella sessione). Formati utili: 'TYPICAL' (default), 'ALL', 'ALLSTATS LAST' (statistiche dell’ultima esecuzione), '+PEEKED_BINDS'. Un rapporto E-Rows/A-Rows superiore a 10 è un segnale forte da indagare.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Tempi indicativi: setup tabella CLIENTI 10 minuti, Fase 1 15 minuti, Fase 2 con flush della cache 25–30 minuti, challenge 20–30 minuti, AUTOTRACE opzionale se avanza tempo. Tutte le query vanno eseguite connessi come tuning_user.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sui dati: ordini.cliente_id va da 0 a 9.999 (MOD), clienti.cliente_id da 1 a 10.000, quindi la sovrapposizione è quasi totale. Nessuna chiave primaria e nessun indice: è voluto, il Giorno 2 li creeremo e misureremo la differenza. Con il blocco BEGIN … END; in SQL*Plus ricordarsi la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Chiedere agli studenti di annotare Rows e Cost: li confronteremo con i valori reali nella Fase 2. Domanda: quante righe vi aspettate davvero? IN_ATTESA è il 10% (50.000), importo &gt; 900 circa l’11% dei valori tra 10 e 1000: quindi circa 5.500 righe. Quanto si avvicina la stima del CBO? Il CBO moltiplica le selettività assumendo le colonne indipendenti.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L’hint GATHER_PLAN_STATISTICS dice all’ottimizzatore: esegui davvero e conta righe, memoria e letture per ogni operazione. Cercare lo SQL_ID tramite il tag evita le interferenze del client grafico (che spesso esegue query proprie, rendendo inaffidabile DISPLAY_CURSOR senza parametri). Nello step 3 sostituire &lt;sql_id&gt; con il valore reale, mantenendo gli apici. Nell’output confrontare E-Rows con A-Rows e osservare Buffers.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Avendo appena creato la tabella e fatto test, i blocchi sono “caldi” in memoria. Il flush costringe Oracle a dimenticarli. Attenzione: FLUSH BUFFER_CACHE è un comando da laboratorio, mai in produzione, perché degrada le prestazioni di tutte le sessioni. Collegamento con la teoria: Buffers = logical reads in SGA, Reads = physical reads su datafile (db file scattered read per il full scan). Per un full scan grande Oracle può usare direct path read, bypassando la cache.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4"/>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Inter" pitchFamily="34" charset="0"/>
                <a:ea typeface="Inter" pitchFamily="34" charset="-122"/>
                <a:cs typeface="Inter"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51664"/>
            <a:ext cx="10566400" cy="4193536"/>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4"/>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Inter" pitchFamily="34" charset="0"/>
                <a:ea typeface="Inter" pitchFamily="34" charset="-122"/>
                <a:cs typeface="Inter"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51664"/>
            <a:ext cx="10566400" cy="4193536"/>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6" r="-6"/>
          <a:stretch/>
        </p:blipFill>
        <p:spPr>
          <a:xfrm>
            <a:off x="7366000" y="0"/>
            <a:ext cx="4826000" cy="6858000"/>
          </a:xfrm>
          <a:prstGeom prst="rect">
            <a:avLst/>
          </a:prstGeom>
        </p:spPr>
      </p:pic>
      <p:sp>
        <p:nvSpPr>
          <p:cNvPr id="3" name="Text 0"/>
          <p:cNvSpPr/>
          <p:nvPr/>
        </p:nvSpPr>
        <p:spPr>
          <a:xfrm>
            <a:off x="812800" y="1621076"/>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10" dirty="0">
                <a:solidFill>
                  <a:srgbClr val="2E6BD1"/>
                </a:solidFill>
                <a:latin typeface="Inter" pitchFamily="34" charset="0"/>
                <a:ea typeface="Inter" pitchFamily="34" charset="-122"/>
                <a:cs typeface="Inter" pitchFamily="34" charset="-120"/>
              </a:rPr>
              <a:t>CORSO ORACLE · GIORNO 1 DI 3</a:t>
            </a:r>
            <a:endParaRPr lang="en-US" sz="1400" dirty="0"/>
          </a:p>
        </p:txBody>
      </p:sp>
      <p:sp>
        <p:nvSpPr>
          <p:cNvPr id="4" name="Text 1"/>
          <p:cNvSpPr>
            <a:spLocks noGrp="1"/>
          </p:cNvSpPr>
          <p:nvPr>
            <p:ph type="title"/>
          </p:nvPr>
        </p:nvSpPr>
        <p:spPr>
          <a:xfrm>
            <a:off x="812800" y="2123996"/>
            <a:ext cx="7848600" cy="2244249"/>
          </a:xfrm>
          <a:prstGeom prst="rect">
            <a:avLst/>
          </a:prstGeom>
          <a:noFill/>
          <a:ln/>
        </p:spPr>
        <p:txBody>
          <a:bodyPr wrap="square" lIns="0" tIns="0" rIns="0" bIns="0" rtlCol="0" anchor="t">
            <a:normAutofit/>
          </a:bodyPr>
          <a:lstStyle/>
          <a:p>
            <a:pPr marL="0" indent="0" algn="l">
              <a:lnSpc>
                <a:spcPts val="5824"/>
              </a:lnSpc>
              <a:buNone/>
            </a:pPr>
            <a:r>
              <a:rPr lang="en-US" sz="5600" b="1" i="0" kern="0" spc="-110" dirty="0">
                <a:solidFill>
                  <a:srgbClr val="2E6BD1"/>
                </a:solidFill>
                <a:latin typeface="Inter" pitchFamily="34" charset="0"/>
                <a:ea typeface="Inter" pitchFamily="34" charset="-122"/>
                <a:cs typeface="Inter" pitchFamily="34" charset="-120"/>
              </a:rPr>
              <a:t>Monitoraggio</a:t>
            </a:r>
            <a:endParaRPr lang="en-US" sz="5600" dirty="0"/>
          </a:p>
          <a:p>
            <a:pPr marL="0" indent="0" algn="l">
              <a:lnSpc>
                <a:spcPts val="5824"/>
              </a:lnSpc>
              <a:buNone/>
            </a:pPr>
            <a:r>
              <a:rPr lang="en-US" sz="5600" b="1" i="0" kern="0" spc="-110" dirty="0">
                <a:solidFill>
                  <a:srgbClr val="0F1B2D"/>
                </a:solidFill>
                <a:latin typeface="Inter" pitchFamily="34" charset="0"/>
                <a:ea typeface="Inter" pitchFamily="34" charset="-122"/>
                <a:cs typeface="Inter" pitchFamily="34" charset="-120"/>
              </a:rPr>
              <a:t>e tuning delle prestazioni</a:t>
            </a:r>
            <a:endParaRPr lang="en-US" sz="5600" dirty="0"/>
          </a:p>
        </p:txBody>
      </p:sp>
      <p:sp>
        <p:nvSpPr>
          <p:cNvPr id="5" name="Text 2"/>
          <p:cNvSpPr/>
          <p:nvPr/>
        </p:nvSpPr>
        <p:spPr>
          <a:xfrm>
            <a:off x="812800" y="4596845"/>
            <a:ext cx="719455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B5A6E"/>
                </a:solidFill>
                <a:latin typeface="Inter" pitchFamily="34" charset="0"/>
                <a:ea typeface="Inter" pitchFamily="34" charset="-122"/>
                <a:cs typeface="Inter" pitchFamily="34" charset="-120"/>
              </a:rPr>
              <a:t>Architettura, i 3 layer del monitoraggio, l’ottimizzatore CBO e i tool di access plan</a:t>
            </a:r>
            <a:endParaRPr lang="en-US" sz="1800" dirty="0"/>
          </a:p>
        </p:txBody>
      </p:sp>
      <p:sp>
        <p:nvSpPr>
          <p:cNvPr id="6" name="Text 3"/>
          <p:cNvSpPr/>
          <p:nvPr/>
        </p:nvSpPr>
        <p:spPr>
          <a:xfrm>
            <a:off x="812800" y="6035040"/>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E"/>
                </a:solidFill>
                <a:latin typeface="Inter" pitchFamily="34" charset="0"/>
                <a:ea typeface="Inter" pitchFamily="34" charset="-122"/>
                <a:cs typeface="Inter" pitchFamily="34" charset="-120"/>
              </a:rPr>
              <a:t>Teoria + laboratorio su Oracle Database XE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AGENDA</a:t>
            </a:r>
            <a:endParaRPr lang="en-US" sz="1200" dirty="0"/>
          </a:p>
        </p:txBody>
      </p:sp>
      <p:sp>
        <p:nvSpPr>
          <p:cNvPr id="3" name="Text 1"/>
          <p:cNvSpPr>
            <a:spLocks noGrp="1"/>
          </p:cNvSpPr>
          <p:nvPr>
            <p:ph type="title"/>
          </p:nvPr>
        </p:nvSpPr>
        <p:spPr>
          <a:xfrm>
            <a:off x="812800" y="112776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giornata in </a:t>
            </a:r>
            <a:r>
              <a:rPr lang="en-US" sz="3000" b="1" i="0" kern="0" spc="-60" dirty="0">
                <a:solidFill>
                  <a:srgbClr val="2E6BD1"/>
                </a:solidFill>
                <a:latin typeface="Inter" pitchFamily="34" charset="0"/>
                <a:ea typeface="Inter" pitchFamily="34" charset="-122"/>
                <a:cs typeface="Inter" pitchFamily="34" charset="-120"/>
              </a:rPr>
              <a:t>due blocchi</a:t>
            </a:r>
            <a:endParaRPr lang="en-US" sz="3000" dirty="0"/>
          </a:p>
        </p:txBody>
      </p:sp>
      <p:sp>
        <p:nvSpPr>
          <p:cNvPr id="4" name="Shape 2"/>
          <p:cNvSpPr/>
          <p:nvPr/>
        </p:nvSpPr>
        <p:spPr>
          <a:xfrm>
            <a:off x="812800" y="1851660"/>
            <a:ext cx="5130800" cy="3990340"/>
          </a:xfrm>
          <a:prstGeom prst="rect">
            <a:avLst/>
          </a:prstGeom>
          <a:solidFill>
            <a:srgbClr val="FFFFFF"/>
          </a:solidFill>
          <a:ln/>
        </p:spPr>
        <p:txBody>
          <a:bodyPr/>
          <a:lstStyle/>
          <a:p>
            <a:endParaRPr lang="it-IT"/>
          </a:p>
        </p:txBody>
      </p:sp>
      <p:sp>
        <p:nvSpPr>
          <p:cNvPr id="5" name="Shape 3"/>
          <p:cNvSpPr/>
          <p:nvPr/>
        </p:nvSpPr>
        <p:spPr>
          <a:xfrm>
            <a:off x="812800" y="1864360"/>
            <a:ext cx="5130800" cy="0"/>
          </a:xfrm>
          <a:prstGeom prst="line">
            <a:avLst/>
          </a:prstGeom>
          <a:noFill/>
          <a:ln w="25400">
            <a:solidFill>
              <a:srgbClr val="2E6BD1"/>
            </a:solidFill>
            <a:prstDash val="solid"/>
          </a:ln>
        </p:spPr>
        <p:txBody>
          <a:bodyPr/>
          <a:lstStyle/>
          <a:p>
            <a:endParaRPr lang="it-IT"/>
          </a:p>
        </p:txBody>
      </p:sp>
      <p:sp>
        <p:nvSpPr>
          <p:cNvPr id="6" name="Text 4"/>
          <p:cNvSpPr/>
          <p:nvPr/>
        </p:nvSpPr>
        <p:spPr>
          <a:xfrm>
            <a:off x="1066800" y="2131060"/>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MATTINA</a:t>
            </a:r>
            <a:endParaRPr lang="en-US" sz="1200" dirty="0"/>
          </a:p>
        </p:txBody>
      </p:sp>
      <p:sp>
        <p:nvSpPr>
          <p:cNvPr id="7" name="Text 5"/>
          <p:cNvSpPr/>
          <p:nvPr/>
        </p:nvSpPr>
        <p:spPr>
          <a:xfrm>
            <a:off x="1066800" y="2471420"/>
            <a:ext cx="4761484"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nter" pitchFamily="34" charset="0"/>
                <a:ea typeface="Inter" pitchFamily="34" charset="-122"/>
                <a:cs typeface="Inter" pitchFamily="34" charset="-120"/>
              </a:rPr>
              <a:t>Architettura, i 3 layer e il loro monitoraggio</a:t>
            </a:r>
            <a:endParaRPr lang="en-US" sz="1800" dirty="0"/>
          </a:p>
        </p:txBody>
      </p:sp>
      <p:sp>
        <p:nvSpPr>
          <p:cNvPr id="8" name="Shape 6"/>
          <p:cNvSpPr/>
          <p:nvPr/>
        </p:nvSpPr>
        <p:spPr>
          <a:xfrm>
            <a:off x="1073150" y="3147060"/>
            <a:ext cx="0" cy="706120"/>
          </a:xfrm>
          <a:prstGeom prst="line">
            <a:avLst/>
          </a:prstGeom>
          <a:noFill/>
          <a:ln w="12700">
            <a:solidFill>
              <a:srgbClr val="DCE5F2"/>
            </a:solidFill>
            <a:prstDash val="solid"/>
          </a:ln>
        </p:spPr>
        <p:txBody>
          <a:bodyPr/>
          <a:lstStyle/>
          <a:p>
            <a:endParaRPr lang="it-IT"/>
          </a:p>
        </p:txBody>
      </p:sp>
      <p:sp>
        <p:nvSpPr>
          <p:cNvPr id="9" name="Text 7"/>
          <p:cNvSpPr/>
          <p:nvPr/>
        </p:nvSpPr>
        <p:spPr>
          <a:xfrm>
            <a:off x="1229360" y="314706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Teoria · 2–3 h</a:t>
            </a:r>
            <a:endParaRPr lang="en-US" sz="1200" dirty="0"/>
          </a:p>
        </p:txBody>
      </p:sp>
      <p:sp>
        <p:nvSpPr>
          <p:cNvPr id="10" name="Text 8"/>
          <p:cNvSpPr/>
          <p:nvPr/>
        </p:nvSpPr>
        <p:spPr>
          <a:xfrm>
            <a:off x="1229360" y="341122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Istanza vs Database · Layer OS/HW, Istanza, SQL · Data Dictionary e viste V$</a:t>
            </a:r>
            <a:endParaRPr lang="en-US" sz="1200" dirty="0"/>
          </a:p>
        </p:txBody>
      </p:sp>
      <p:sp>
        <p:nvSpPr>
          <p:cNvPr id="11" name="Shape 9"/>
          <p:cNvSpPr/>
          <p:nvPr/>
        </p:nvSpPr>
        <p:spPr>
          <a:xfrm>
            <a:off x="1073150" y="3980180"/>
            <a:ext cx="0" cy="706120"/>
          </a:xfrm>
          <a:prstGeom prst="line">
            <a:avLst/>
          </a:prstGeom>
          <a:noFill/>
          <a:ln w="12700">
            <a:solidFill>
              <a:srgbClr val="2E6BD1"/>
            </a:solidFill>
            <a:prstDash val="solid"/>
          </a:ln>
        </p:spPr>
        <p:txBody>
          <a:bodyPr/>
          <a:lstStyle/>
          <a:p>
            <a:endParaRPr lang="it-IT"/>
          </a:p>
        </p:txBody>
      </p:sp>
      <p:sp>
        <p:nvSpPr>
          <p:cNvPr id="12" name="Text 10"/>
          <p:cNvSpPr/>
          <p:nvPr/>
        </p:nvSpPr>
        <p:spPr>
          <a:xfrm>
            <a:off x="1229360" y="398018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Hands-on · 1–2 h</a:t>
            </a:r>
            <a:endParaRPr lang="en-US" sz="1200" dirty="0"/>
          </a:p>
        </p:txBody>
      </p:sp>
      <p:sp>
        <p:nvSpPr>
          <p:cNvPr id="13" name="Text 11"/>
          <p:cNvSpPr/>
          <p:nvPr/>
        </p:nvSpPr>
        <p:spPr>
          <a:xfrm>
            <a:off x="1229360" y="424434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Setup ambiente · Lab 1 “Killer query” (CPU e memoria) · Lab 2 Wait events e lock</a:t>
            </a:r>
            <a:endParaRPr lang="en-US" sz="1200" dirty="0"/>
          </a:p>
        </p:txBody>
      </p:sp>
      <p:sp>
        <p:nvSpPr>
          <p:cNvPr id="14" name="Shape 12"/>
          <p:cNvSpPr/>
          <p:nvPr/>
        </p:nvSpPr>
        <p:spPr>
          <a:xfrm>
            <a:off x="6248400" y="1851660"/>
            <a:ext cx="5130800" cy="3990340"/>
          </a:xfrm>
          <a:prstGeom prst="rect">
            <a:avLst/>
          </a:prstGeom>
          <a:solidFill>
            <a:srgbClr val="FFFFFF"/>
          </a:solidFill>
          <a:ln/>
        </p:spPr>
        <p:txBody>
          <a:bodyPr/>
          <a:lstStyle/>
          <a:p>
            <a:endParaRPr lang="it-IT"/>
          </a:p>
        </p:txBody>
      </p:sp>
      <p:sp>
        <p:nvSpPr>
          <p:cNvPr id="15" name="Shape 13"/>
          <p:cNvSpPr/>
          <p:nvPr/>
        </p:nvSpPr>
        <p:spPr>
          <a:xfrm>
            <a:off x="6248400" y="1864360"/>
            <a:ext cx="5130800" cy="0"/>
          </a:xfrm>
          <a:prstGeom prst="line">
            <a:avLst/>
          </a:prstGeom>
          <a:noFill/>
          <a:ln w="25400">
            <a:solidFill>
              <a:srgbClr val="0F1B2D"/>
            </a:solidFill>
            <a:prstDash val="solid"/>
          </a:ln>
        </p:spPr>
        <p:txBody>
          <a:bodyPr/>
          <a:lstStyle/>
          <a:p>
            <a:endParaRPr lang="it-IT"/>
          </a:p>
        </p:txBody>
      </p:sp>
      <p:sp>
        <p:nvSpPr>
          <p:cNvPr id="16" name="Text 14"/>
          <p:cNvSpPr/>
          <p:nvPr/>
        </p:nvSpPr>
        <p:spPr>
          <a:xfrm>
            <a:off x="6502400" y="2131060"/>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POMERIGGIO</a:t>
            </a:r>
            <a:endParaRPr lang="en-US" sz="1200" dirty="0"/>
          </a:p>
        </p:txBody>
      </p:sp>
      <p:sp>
        <p:nvSpPr>
          <p:cNvPr id="17" name="Text 15"/>
          <p:cNvSpPr/>
          <p:nvPr/>
        </p:nvSpPr>
        <p:spPr>
          <a:xfrm>
            <a:off x="6502400" y="2471420"/>
            <a:ext cx="47614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nter" pitchFamily="34" charset="0"/>
                <a:ea typeface="Inter" pitchFamily="34" charset="-122"/>
                <a:cs typeface="Inter" pitchFamily="34" charset="-120"/>
              </a:rPr>
              <a:t>L’ottimizzatore e i tool di access plan</a:t>
            </a:r>
            <a:endParaRPr lang="en-US" sz="1800" dirty="0"/>
          </a:p>
        </p:txBody>
      </p:sp>
      <p:sp>
        <p:nvSpPr>
          <p:cNvPr id="18" name="Shape 16"/>
          <p:cNvSpPr/>
          <p:nvPr/>
        </p:nvSpPr>
        <p:spPr>
          <a:xfrm>
            <a:off x="6508750" y="2872740"/>
            <a:ext cx="0" cy="706120"/>
          </a:xfrm>
          <a:prstGeom prst="line">
            <a:avLst/>
          </a:prstGeom>
          <a:noFill/>
          <a:ln w="12700">
            <a:solidFill>
              <a:srgbClr val="DCE5F2"/>
            </a:solidFill>
            <a:prstDash val="solid"/>
          </a:ln>
        </p:spPr>
        <p:txBody>
          <a:bodyPr/>
          <a:lstStyle/>
          <a:p>
            <a:endParaRPr lang="it-IT"/>
          </a:p>
        </p:txBody>
      </p:sp>
      <p:sp>
        <p:nvSpPr>
          <p:cNvPr id="19" name="Text 17"/>
          <p:cNvSpPr/>
          <p:nvPr/>
        </p:nvSpPr>
        <p:spPr>
          <a:xfrm>
            <a:off x="6664960" y="287274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Teoria · 2–3 h</a:t>
            </a:r>
            <a:endParaRPr lang="en-US" sz="1200" dirty="0"/>
          </a:p>
        </p:txBody>
      </p:sp>
      <p:sp>
        <p:nvSpPr>
          <p:cNvPr id="20" name="Text 18"/>
          <p:cNvSpPr/>
          <p:nvPr/>
        </p:nvSpPr>
        <p:spPr>
          <a:xfrm>
            <a:off x="6664960" y="313690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Cost-Based Optimizer · Access path e join · EXPLAIN PLAN, AUTOTRACE, DBMS_XPLAN</a:t>
            </a:r>
            <a:endParaRPr lang="en-US" sz="1200" dirty="0"/>
          </a:p>
        </p:txBody>
      </p:sp>
      <p:sp>
        <p:nvSpPr>
          <p:cNvPr id="21" name="Shape 19"/>
          <p:cNvSpPr/>
          <p:nvPr/>
        </p:nvSpPr>
        <p:spPr>
          <a:xfrm>
            <a:off x="6508750" y="3705860"/>
            <a:ext cx="0" cy="706120"/>
          </a:xfrm>
          <a:prstGeom prst="line">
            <a:avLst/>
          </a:prstGeom>
          <a:noFill/>
          <a:ln w="12700">
            <a:solidFill>
              <a:srgbClr val="2E6BD1"/>
            </a:solidFill>
            <a:prstDash val="solid"/>
          </a:ln>
        </p:spPr>
        <p:txBody>
          <a:bodyPr/>
          <a:lstStyle/>
          <a:p>
            <a:endParaRPr lang="it-IT"/>
          </a:p>
        </p:txBody>
      </p:sp>
      <p:sp>
        <p:nvSpPr>
          <p:cNvPr id="22" name="Text 20"/>
          <p:cNvSpPr/>
          <p:nvPr/>
        </p:nvSpPr>
        <p:spPr>
          <a:xfrm>
            <a:off x="6664960" y="370586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Hands-on · 1–2 h</a:t>
            </a:r>
            <a:endParaRPr lang="en-US" sz="1200" dirty="0"/>
          </a:p>
        </p:txBody>
      </p:sp>
      <p:sp>
        <p:nvSpPr>
          <p:cNvPr id="23" name="Text 21"/>
          <p:cNvSpPr/>
          <p:nvPr/>
        </p:nvSpPr>
        <p:spPr>
          <a:xfrm>
            <a:off x="6664960" y="397002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Lab 3 Piani di esecuzione: stima vs realtà, Full Table Scan, join inefficienti</a:t>
            </a:r>
            <a:endParaRPr lang="en-US" sz="1200" dirty="0"/>
          </a:p>
        </p:txBody>
      </p:sp>
      <p:sp>
        <p:nvSpPr>
          <p:cNvPr id="24" name="Text 22"/>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19085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01</a:t>
            </a:r>
            <a:endParaRPr lang="en-US" sz="1400" dirty="0"/>
          </a:p>
        </p:txBody>
      </p:sp>
      <p:sp>
        <p:nvSpPr>
          <p:cNvPr id="3" name="Text 1"/>
          <p:cNvSpPr/>
          <p:nvPr/>
        </p:nvSpPr>
        <p:spPr>
          <a:xfrm>
            <a:off x="812800" y="236069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MATTINA · TEORIA</a:t>
            </a:r>
            <a:endParaRPr lang="en-US" sz="1200" dirty="0"/>
          </a:p>
        </p:txBody>
      </p:sp>
      <p:sp>
        <p:nvSpPr>
          <p:cNvPr id="4" name="Text 2"/>
          <p:cNvSpPr>
            <a:spLocks noGrp="1"/>
          </p:cNvSpPr>
          <p:nvPr>
            <p:ph type="title"/>
          </p:nvPr>
        </p:nvSpPr>
        <p:spPr>
          <a:xfrm>
            <a:off x="812800" y="2777252"/>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Architettura</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Oracle</a:t>
            </a:r>
            <a:endParaRPr lang="en-US" sz="5200" dirty="0"/>
          </a:p>
        </p:txBody>
      </p:sp>
      <p:sp>
        <p:nvSpPr>
          <p:cNvPr id="5" name="Text 3"/>
          <p:cNvSpPr/>
          <p:nvPr/>
        </p:nvSpPr>
        <p:spPr>
          <a:xfrm>
            <a:off x="812800" y="4380469"/>
            <a:ext cx="784860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Istanza e database: cosa vive in memoria, cosa vive su disco e chi li tiene allineati</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ARCHITETTURA</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Istanza </a:t>
            </a:r>
            <a:r>
              <a:rPr lang="en-US" sz="3000" b="1" i="0" kern="0" spc="-60" dirty="0">
                <a:solidFill>
                  <a:srgbClr val="2E6BD1"/>
                </a:solidFill>
                <a:latin typeface="Inter" pitchFamily="34" charset="0"/>
                <a:ea typeface="Inter" pitchFamily="34" charset="-122"/>
                <a:cs typeface="Inter" pitchFamily="34" charset="-120"/>
              </a:rPr>
              <a:t>≠</a:t>
            </a:r>
            <a:r>
              <a:rPr lang="en-US" sz="3000" b="1" i="0" kern="0" spc="-60" dirty="0">
                <a:solidFill>
                  <a:srgbClr val="0F1B2D"/>
                </a:solidFill>
                <a:latin typeface="Inter" pitchFamily="34" charset="0"/>
                <a:ea typeface="Inter" pitchFamily="34" charset="-122"/>
                <a:cs typeface="Inter" pitchFamily="34" charset="-120"/>
              </a:rPr>
              <a:t> Database</a:t>
            </a:r>
            <a:endParaRPr lang="en-US" sz="3000" dirty="0"/>
          </a:p>
        </p:txBody>
      </p:sp>
      <p:sp>
        <p:nvSpPr>
          <p:cNvPr id="4" name="Shape 2"/>
          <p:cNvSpPr/>
          <p:nvPr/>
        </p:nvSpPr>
        <p:spPr>
          <a:xfrm>
            <a:off x="812800" y="1851661"/>
            <a:ext cx="5130800" cy="2018030"/>
          </a:xfrm>
          <a:prstGeom prst="rect">
            <a:avLst/>
          </a:prstGeom>
          <a:solidFill>
            <a:srgbClr val="FFFFFF"/>
          </a:solidFill>
          <a:ln/>
        </p:spPr>
        <p:txBody>
          <a:bodyPr/>
          <a:lstStyle/>
          <a:p>
            <a:endParaRPr lang="it-IT"/>
          </a:p>
        </p:txBody>
      </p:sp>
      <p:sp>
        <p:nvSpPr>
          <p:cNvPr id="5" name="Shape 3"/>
          <p:cNvSpPr/>
          <p:nvPr/>
        </p:nvSpPr>
        <p:spPr>
          <a:xfrm>
            <a:off x="812800" y="1864361"/>
            <a:ext cx="5130800" cy="0"/>
          </a:xfrm>
          <a:prstGeom prst="line">
            <a:avLst/>
          </a:prstGeom>
          <a:noFill/>
          <a:ln w="25400">
            <a:solidFill>
              <a:srgbClr val="2E6BD1"/>
            </a:solidFill>
            <a:prstDash val="solid"/>
          </a:ln>
        </p:spPr>
        <p:txBody>
          <a:bodyPr/>
          <a:lstStyle/>
          <a:p>
            <a:endParaRPr lang="it-IT"/>
          </a:p>
        </p:txBody>
      </p:sp>
      <p:sp>
        <p:nvSpPr>
          <p:cNvPr id="6" name="Text 4"/>
          <p:cNvSpPr/>
          <p:nvPr/>
        </p:nvSpPr>
        <p:spPr>
          <a:xfrm>
            <a:off x="1066800" y="2131061"/>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ISTANZA · IN MEMORIA</a:t>
            </a:r>
            <a:endParaRPr lang="en-US" sz="1200" dirty="0"/>
          </a:p>
        </p:txBody>
      </p:sp>
      <p:sp>
        <p:nvSpPr>
          <p:cNvPr id="7" name="Text 5"/>
          <p:cNvSpPr/>
          <p:nvPr/>
        </p:nvSpPr>
        <p:spPr>
          <a:xfrm>
            <a:off x="1066800" y="2471420"/>
            <a:ext cx="47614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nter" pitchFamily="34" charset="0"/>
                <a:ea typeface="Inter" pitchFamily="34" charset="-122"/>
                <a:cs typeface="Inter" pitchFamily="34" charset="-120"/>
              </a:rPr>
              <a:t>SGA + PGA + processi di background</a:t>
            </a:r>
            <a:endParaRPr lang="en-US" sz="1800" dirty="0"/>
          </a:p>
        </p:txBody>
      </p:sp>
      <p:sp>
        <p:nvSpPr>
          <p:cNvPr id="8" name="Text 6"/>
          <p:cNvSpPr/>
          <p:nvPr/>
        </p:nvSpPr>
        <p:spPr>
          <a:xfrm>
            <a:off x="1164844" y="2872741"/>
            <a:ext cx="4655820" cy="768350"/>
          </a:xfrm>
          <a:prstGeom prst="rect">
            <a:avLst/>
          </a:prstGeom>
          <a:noFill/>
          <a:ln/>
        </p:spPr>
        <p:txBody>
          <a:bodyPr wrap="square" lIns="0" tIns="0" rIns="0" bIns="0" rtlCol="0" anchor="t">
            <a:normAutofit/>
          </a:bodyPr>
          <a:lstStyle/>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Esiste solo quando è avviata (STARTUP)</a:t>
            </a:r>
            <a:endParaRPr lang="en-US" sz="1300" dirty="0"/>
          </a:p>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Volatile: si perde allo shutdown</a:t>
            </a:r>
            <a:endParaRPr lang="en-US" sz="1300" dirty="0"/>
          </a:p>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È dove si consumano CPU e RAM</a:t>
            </a:r>
            <a:endParaRPr lang="en-US" sz="1300" dirty="0"/>
          </a:p>
        </p:txBody>
      </p:sp>
      <p:sp>
        <p:nvSpPr>
          <p:cNvPr id="9" name="Shape 7"/>
          <p:cNvSpPr/>
          <p:nvPr/>
        </p:nvSpPr>
        <p:spPr>
          <a:xfrm>
            <a:off x="6248400" y="1851661"/>
            <a:ext cx="5130800" cy="2018030"/>
          </a:xfrm>
          <a:prstGeom prst="rect">
            <a:avLst/>
          </a:prstGeom>
          <a:solidFill>
            <a:srgbClr val="FFFFFF"/>
          </a:solidFill>
          <a:ln/>
        </p:spPr>
        <p:txBody>
          <a:bodyPr/>
          <a:lstStyle/>
          <a:p>
            <a:endParaRPr lang="it-IT"/>
          </a:p>
        </p:txBody>
      </p:sp>
      <p:sp>
        <p:nvSpPr>
          <p:cNvPr id="10" name="Shape 8"/>
          <p:cNvSpPr/>
          <p:nvPr/>
        </p:nvSpPr>
        <p:spPr>
          <a:xfrm>
            <a:off x="6248400" y="1864361"/>
            <a:ext cx="5130800" cy="0"/>
          </a:xfrm>
          <a:prstGeom prst="line">
            <a:avLst/>
          </a:prstGeom>
          <a:noFill/>
          <a:ln w="25400">
            <a:solidFill>
              <a:srgbClr val="0F1B2D"/>
            </a:solidFill>
            <a:prstDash val="solid"/>
          </a:ln>
        </p:spPr>
        <p:txBody>
          <a:bodyPr/>
          <a:lstStyle/>
          <a:p>
            <a:endParaRPr lang="it-IT"/>
          </a:p>
        </p:txBody>
      </p:sp>
      <p:sp>
        <p:nvSpPr>
          <p:cNvPr id="11" name="Text 9"/>
          <p:cNvSpPr/>
          <p:nvPr/>
        </p:nvSpPr>
        <p:spPr>
          <a:xfrm>
            <a:off x="6502400" y="2131061"/>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DATABASE · SU DISCO</a:t>
            </a:r>
            <a:endParaRPr lang="en-US" sz="1200" dirty="0"/>
          </a:p>
        </p:txBody>
      </p:sp>
      <p:sp>
        <p:nvSpPr>
          <p:cNvPr id="12" name="Text 10"/>
          <p:cNvSpPr/>
          <p:nvPr/>
        </p:nvSpPr>
        <p:spPr>
          <a:xfrm>
            <a:off x="6502400" y="2471420"/>
            <a:ext cx="47614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nter" pitchFamily="34" charset="0"/>
                <a:ea typeface="Inter" pitchFamily="34" charset="-122"/>
                <a:cs typeface="Inter" pitchFamily="34" charset="-120"/>
              </a:rPr>
              <a:t>Datafile, control file, redo log</a:t>
            </a:r>
            <a:endParaRPr lang="en-US" sz="1800" dirty="0"/>
          </a:p>
        </p:txBody>
      </p:sp>
      <p:sp>
        <p:nvSpPr>
          <p:cNvPr id="13" name="Text 11"/>
          <p:cNvSpPr/>
          <p:nvPr/>
        </p:nvSpPr>
        <p:spPr>
          <a:xfrm>
            <a:off x="6600444" y="2872741"/>
            <a:ext cx="4655820" cy="768350"/>
          </a:xfrm>
          <a:prstGeom prst="rect">
            <a:avLst/>
          </a:prstGeom>
          <a:noFill/>
          <a:ln/>
        </p:spPr>
        <p:txBody>
          <a:bodyPr wrap="square" lIns="0" tIns="0" rIns="0" bIns="0" rtlCol="0" anchor="t">
            <a:normAutofit/>
          </a:bodyPr>
          <a:lstStyle/>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Persistente: sopravvive al riavvio</a:t>
            </a:r>
            <a:endParaRPr lang="en-US" sz="1300" dirty="0"/>
          </a:p>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Contiene dati, metadati e storico delle modifiche</a:t>
            </a:r>
            <a:endParaRPr lang="en-US" sz="1300" dirty="0"/>
          </a:p>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È dove si genera l’I/O</a:t>
            </a:r>
            <a:endParaRPr lang="en-US" sz="1300" dirty="0"/>
          </a:p>
        </p:txBody>
      </p:sp>
      <p:sp>
        <p:nvSpPr>
          <p:cNvPr id="15" name="Text 1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pic>
        <p:nvPicPr>
          <p:cNvPr id="16" name="image1" descr="Architettura Oracle · istanza e database">
            <a:extLst>
              <a:ext uri="{FF2B5EF4-FFF2-40B4-BE49-F238E27FC236}">
                <a16:creationId xmlns:a16="http://schemas.microsoft.com/office/drawing/2014/main" id="{A5640310-602A-EAF5-EB14-4428B18D9A5E}"/>
              </a:ext>
            </a:extLst>
          </p:cNvPr>
          <p:cNvPicPr/>
          <p:nvPr/>
        </p:nvPicPr>
        <p:blipFill>
          <a:blip r:embed="rId3"/>
          <a:stretch>
            <a:fillRect/>
          </a:stretch>
        </p:blipFill>
        <p:spPr>
          <a:xfrm>
            <a:off x="6248400" y="3971290"/>
            <a:ext cx="5130800" cy="26125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ARCHITETTURA</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memoria: </a:t>
            </a:r>
            <a:r>
              <a:rPr lang="en-US" sz="3000" b="1" i="0" kern="0" spc="-60" dirty="0">
                <a:solidFill>
                  <a:srgbClr val="2E6BD1"/>
                </a:solidFill>
                <a:latin typeface="Inter" pitchFamily="34" charset="0"/>
                <a:ea typeface="Inter" pitchFamily="34" charset="-122"/>
                <a:cs typeface="Inter" pitchFamily="34" charset="-120"/>
              </a:rPr>
              <a:t>SGA e PGA</a:t>
            </a:r>
            <a:endParaRPr lang="en-US" sz="3000" dirty="0"/>
          </a:p>
        </p:txBody>
      </p:sp>
      <p:sp>
        <p:nvSpPr>
          <p:cNvPr id="4" name="Text 2"/>
          <p:cNvSpPr/>
          <p:nvPr/>
        </p:nvSpPr>
        <p:spPr>
          <a:xfrm>
            <a:off x="812800" y="1800861"/>
            <a:ext cx="708115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SGA · CONDIVISA DA TUTTE LE SESSIONI</a:t>
            </a:r>
            <a:endParaRPr lang="en-US" sz="1200" dirty="0"/>
          </a:p>
        </p:txBody>
      </p:sp>
      <p:sp>
        <p:nvSpPr>
          <p:cNvPr id="5" name="Shape 3"/>
          <p:cNvSpPr/>
          <p:nvPr/>
        </p:nvSpPr>
        <p:spPr>
          <a:xfrm>
            <a:off x="812800" y="2115821"/>
            <a:ext cx="3386614" cy="995680"/>
          </a:xfrm>
          <a:prstGeom prst="rect">
            <a:avLst/>
          </a:prstGeom>
          <a:solidFill>
            <a:srgbClr val="FFFFFF"/>
          </a:solidFill>
          <a:ln/>
        </p:spPr>
        <p:txBody>
          <a:bodyPr/>
          <a:lstStyle/>
          <a:p>
            <a:endParaRPr lang="it-IT"/>
          </a:p>
        </p:txBody>
      </p:sp>
      <p:sp>
        <p:nvSpPr>
          <p:cNvPr id="6" name="Shape 4"/>
          <p:cNvSpPr/>
          <p:nvPr/>
        </p:nvSpPr>
        <p:spPr>
          <a:xfrm>
            <a:off x="825500" y="2115821"/>
            <a:ext cx="0" cy="995680"/>
          </a:xfrm>
          <a:prstGeom prst="line">
            <a:avLst/>
          </a:prstGeom>
          <a:noFill/>
          <a:ln w="25400">
            <a:solidFill>
              <a:srgbClr val="2E6BD1"/>
            </a:solidFill>
            <a:prstDash val="solid"/>
          </a:ln>
        </p:spPr>
        <p:txBody>
          <a:bodyPr/>
          <a:lstStyle/>
          <a:p>
            <a:endParaRPr lang="it-IT"/>
          </a:p>
        </p:txBody>
      </p:sp>
      <p:sp>
        <p:nvSpPr>
          <p:cNvPr id="7" name="Text 5"/>
          <p:cNvSpPr/>
          <p:nvPr/>
        </p:nvSpPr>
        <p:spPr>
          <a:xfrm>
            <a:off x="990600" y="2268221"/>
            <a:ext cx="314810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Buffer Cache</a:t>
            </a:r>
            <a:endParaRPr lang="en-US" sz="1400" dirty="0"/>
          </a:p>
        </p:txBody>
      </p:sp>
      <p:sp>
        <p:nvSpPr>
          <p:cNvPr id="8" name="Text 6"/>
          <p:cNvSpPr/>
          <p:nvPr/>
        </p:nvSpPr>
        <p:spPr>
          <a:xfrm>
            <a:off x="990600" y="2532382"/>
            <a:ext cx="314810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Blocchi dati in RAM: logical vs physical reads</a:t>
            </a:r>
            <a:endParaRPr lang="en-US" sz="1200" dirty="0"/>
          </a:p>
        </p:txBody>
      </p:sp>
      <p:sp>
        <p:nvSpPr>
          <p:cNvPr id="9" name="Shape 7"/>
          <p:cNvSpPr/>
          <p:nvPr/>
        </p:nvSpPr>
        <p:spPr>
          <a:xfrm>
            <a:off x="4301014" y="2115821"/>
            <a:ext cx="3386693" cy="995680"/>
          </a:xfrm>
          <a:prstGeom prst="rect">
            <a:avLst/>
          </a:prstGeom>
          <a:solidFill>
            <a:srgbClr val="FFFFFF"/>
          </a:solidFill>
          <a:ln/>
        </p:spPr>
        <p:txBody>
          <a:bodyPr/>
          <a:lstStyle/>
          <a:p>
            <a:endParaRPr lang="it-IT"/>
          </a:p>
        </p:txBody>
      </p:sp>
      <p:sp>
        <p:nvSpPr>
          <p:cNvPr id="10" name="Shape 8"/>
          <p:cNvSpPr/>
          <p:nvPr/>
        </p:nvSpPr>
        <p:spPr>
          <a:xfrm>
            <a:off x="4313714" y="2115821"/>
            <a:ext cx="0" cy="995680"/>
          </a:xfrm>
          <a:prstGeom prst="line">
            <a:avLst/>
          </a:prstGeom>
          <a:noFill/>
          <a:ln w="25400">
            <a:solidFill>
              <a:srgbClr val="2E6BD1"/>
            </a:solidFill>
            <a:prstDash val="solid"/>
          </a:ln>
        </p:spPr>
        <p:txBody>
          <a:bodyPr/>
          <a:lstStyle/>
          <a:p>
            <a:endParaRPr lang="it-IT"/>
          </a:p>
        </p:txBody>
      </p:sp>
      <p:sp>
        <p:nvSpPr>
          <p:cNvPr id="11" name="Text 9"/>
          <p:cNvSpPr/>
          <p:nvPr/>
        </p:nvSpPr>
        <p:spPr>
          <a:xfrm>
            <a:off x="4478814" y="2268221"/>
            <a:ext cx="314818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Shared Pool</a:t>
            </a:r>
            <a:endParaRPr lang="en-US" sz="1400" dirty="0"/>
          </a:p>
        </p:txBody>
      </p:sp>
      <p:sp>
        <p:nvSpPr>
          <p:cNvPr id="12" name="Text 10"/>
          <p:cNvSpPr/>
          <p:nvPr/>
        </p:nvSpPr>
        <p:spPr>
          <a:xfrm>
            <a:off x="4478814" y="2532382"/>
            <a:ext cx="314818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Library cache (SQL e piani) e dictionary cache</a:t>
            </a:r>
            <a:endParaRPr lang="en-US" sz="1200" dirty="0"/>
          </a:p>
        </p:txBody>
      </p:sp>
      <p:sp>
        <p:nvSpPr>
          <p:cNvPr id="13" name="Shape 11"/>
          <p:cNvSpPr/>
          <p:nvPr/>
        </p:nvSpPr>
        <p:spPr>
          <a:xfrm>
            <a:off x="812800" y="3213100"/>
            <a:ext cx="3386614" cy="782320"/>
          </a:xfrm>
          <a:prstGeom prst="rect">
            <a:avLst/>
          </a:prstGeom>
          <a:solidFill>
            <a:srgbClr val="FFFFFF"/>
          </a:solidFill>
          <a:ln/>
        </p:spPr>
        <p:txBody>
          <a:bodyPr/>
          <a:lstStyle/>
          <a:p>
            <a:endParaRPr lang="it-IT"/>
          </a:p>
        </p:txBody>
      </p:sp>
      <p:sp>
        <p:nvSpPr>
          <p:cNvPr id="14" name="Shape 12"/>
          <p:cNvSpPr/>
          <p:nvPr/>
        </p:nvSpPr>
        <p:spPr>
          <a:xfrm>
            <a:off x="825500" y="3213100"/>
            <a:ext cx="0" cy="782320"/>
          </a:xfrm>
          <a:prstGeom prst="line">
            <a:avLst/>
          </a:prstGeom>
          <a:noFill/>
          <a:ln w="25400">
            <a:solidFill>
              <a:srgbClr val="94A3B8"/>
            </a:solidFill>
            <a:prstDash val="solid"/>
          </a:ln>
        </p:spPr>
        <p:txBody>
          <a:bodyPr/>
          <a:lstStyle/>
          <a:p>
            <a:endParaRPr lang="it-IT"/>
          </a:p>
        </p:txBody>
      </p:sp>
      <p:sp>
        <p:nvSpPr>
          <p:cNvPr id="15" name="Text 13"/>
          <p:cNvSpPr/>
          <p:nvPr/>
        </p:nvSpPr>
        <p:spPr>
          <a:xfrm>
            <a:off x="990600" y="3365500"/>
            <a:ext cx="314810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Redo Log Buffer</a:t>
            </a:r>
            <a:endParaRPr lang="en-US" sz="1400" dirty="0"/>
          </a:p>
        </p:txBody>
      </p:sp>
      <p:sp>
        <p:nvSpPr>
          <p:cNvPr id="16" name="Text 14"/>
          <p:cNvSpPr/>
          <p:nvPr/>
        </p:nvSpPr>
        <p:spPr>
          <a:xfrm>
            <a:off x="990600" y="3629661"/>
            <a:ext cx="314810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Modifiche in attesa di LGWR</a:t>
            </a:r>
            <a:endParaRPr lang="en-US" sz="1200" dirty="0"/>
          </a:p>
        </p:txBody>
      </p:sp>
      <p:sp>
        <p:nvSpPr>
          <p:cNvPr id="17" name="Shape 15"/>
          <p:cNvSpPr/>
          <p:nvPr/>
        </p:nvSpPr>
        <p:spPr>
          <a:xfrm>
            <a:off x="4301014" y="3213100"/>
            <a:ext cx="3386693" cy="782320"/>
          </a:xfrm>
          <a:prstGeom prst="rect">
            <a:avLst/>
          </a:prstGeom>
          <a:solidFill>
            <a:srgbClr val="FFFFFF"/>
          </a:solidFill>
          <a:ln/>
        </p:spPr>
        <p:txBody>
          <a:bodyPr/>
          <a:lstStyle/>
          <a:p>
            <a:endParaRPr lang="it-IT"/>
          </a:p>
        </p:txBody>
      </p:sp>
      <p:sp>
        <p:nvSpPr>
          <p:cNvPr id="18" name="Shape 16"/>
          <p:cNvSpPr/>
          <p:nvPr/>
        </p:nvSpPr>
        <p:spPr>
          <a:xfrm>
            <a:off x="4313714" y="3213100"/>
            <a:ext cx="0" cy="782320"/>
          </a:xfrm>
          <a:prstGeom prst="line">
            <a:avLst/>
          </a:prstGeom>
          <a:noFill/>
          <a:ln w="25400">
            <a:solidFill>
              <a:srgbClr val="94A3B8"/>
            </a:solidFill>
            <a:prstDash val="solid"/>
          </a:ln>
        </p:spPr>
        <p:txBody>
          <a:bodyPr/>
          <a:lstStyle/>
          <a:p>
            <a:endParaRPr lang="it-IT"/>
          </a:p>
        </p:txBody>
      </p:sp>
      <p:sp>
        <p:nvSpPr>
          <p:cNvPr id="19" name="Text 17"/>
          <p:cNvSpPr/>
          <p:nvPr/>
        </p:nvSpPr>
        <p:spPr>
          <a:xfrm>
            <a:off x="4478814" y="3365500"/>
            <a:ext cx="314818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Large / Java Pool</a:t>
            </a:r>
            <a:endParaRPr lang="en-US" sz="1400" dirty="0"/>
          </a:p>
        </p:txBody>
      </p:sp>
      <p:sp>
        <p:nvSpPr>
          <p:cNvPr id="20" name="Text 18"/>
          <p:cNvSpPr/>
          <p:nvPr/>
        </p:nvSpPr>
        <p:spPr>
          <a:xfrm>
            <a:off x="4478814" y="3629661"/>
            <a:ext cx="32088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RMAN, parallel query, shared server, Java</a:t>
            </a:r>
            <a:endParaRPr lang="en-US" sz="1200" dirty="0"/>
          </a:p>
        </p:txBody>
      </p:sp>
      <p:sp>
        <p:nvSpPr>
          <p:cNvPr id="21" name="Text 19"/>
          <p:cNvSpPr/>
          <p:nvPr/>
        </p:nvSpPr>
        <p:spPr>
          <a:xfrm>
            <a:off x="7941707" y="1800861"/>
            <a:ext cx="354061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PGA · PRIVATA PER PROCESSO</a:t>
            </a:r>
            <a:endParaRPr lang="en-US" sz="1200" dirty="0"/>
          </a:p>
        </p:txBody>
      </p:sp>
      <p:sp>
        <p:nvSpPr>
          <p:cNvPr id="22" name="Shape 20"/>
          <p:cNvSpPr/>
          <p:nvPr/>
        </p:nvSpPr>
        <p:spPr>
          <a:xfrm>
            <a:off x="7941707" y="2115821"/>
            <a:ext cx="3437493" cy="1879600"/>
          </a:xfrm>
          <a:prstGeom prst="rect">
            <a:avLst/>
          </a:prstGeom>
          <a:solidFill>
            <a:srgbClr val="0F1B2D"/>
          </a:solidFill>
          <a:ln/>
        </p:spPr>
        <p:txBody>
          <a:bodyPr/>
          <a:lstStyle/>
          <a:p>
            <a:endParaRPr lang="it-IT"/>
          </a:p>
        </p:txBody>
      </p:sp>
      <p:sp>
        <p:nvSpPr>
          <p:cNvPr id="23" name="Text 21"/>
          <p:cNvSpPr/>
          <p:nvPr/>
        </p:nvSpPr>
        <p:spPr>
          <a:xfrm>
            <a:off x="8250063" y="2319021"/>
            <a:ext cx="3009250" cy="711200"/>
          </a:xfrm>
          <a:prstGeom prst="rect">
            <a:avLst/>
          </a:prstGeom>
          <a:noFill/>
          <a:ln/>
        </p:spPr>
        <p:txBody>
          <a:bodyPr wrap="square" lIns="0" tIns="0" rIns="0" bIns="0" rtlCol="0" anchor="t">
            <a:normAutofit/>
          </a:bodyPr>
          <a:lstStyle/>
          <a:p>
            <a:pPr marL="148844" indent="-148844" algn="l">
              <a:lnSpc>
                <a:spcPts val="1800"/>
              </a:lnSpc>
              <a:buSzPct val="100000"/>
              <a:buChar char="•"/>
            </a:pPr>
            <a:r>
              <a:rPr lang="en-US" sz="1200" dirty="0">
                <a:solidFill>
                  <a:srgbClr val="DCE5F2"/>
                </a:solidFill>
                <a:latin typeface="Inter" pitchFamily="34" charset="0"/>
                <a:ea typeface="Inter" pitchFamily="34" charset="-122"/>
                <a:cs typeface="Inter" pitchFamily="34" charset="-120"/>
              </a:rPr>
              <a:t>Sort area e hash area</a:t>
            </a:r>
            <a:endParaRPr lang="en-US" sz="1200" dirty="0"/>
          </a:p>
          <a:p>
            <a:pPr marL="148844" indent="-148844" algn="l">
              <a:lnSpc>
                <a:spcPts val="1800"/>
              </a:lnSpc>
              <a:buSzPct val="100000"/>
              <a:buChar char="•"/>
            </a:pPr>
            <a:r>
              <a:rPr lang="en-US" sz="1200" dirty="0">
                <a:solidFill>
                  <a:srgbClr val="DCE5F2"/>
                </a:solidFill>
                <a:latin typeface="Inter" pitchFamily="34" charset="0"/>
                <a:ea typeface="Inter" pitchFamily="34" charset="-122"/>
                <a:cs typeface="Inter" pitchFamily="34" charset="-120"/>
              </a:rPr>
              <a:t>Variabili e stato di sessione</a:t>
            </a:r>
            <a:endParaRPr lang="en-US" sz="1200" dirty="0"/>
          </a:p>
          <a:p>
            <a:pPr marL="148844" indent="-148844" algn="l">
              <a:lnSpc>
                <a:spcPts val="1800"/>
              </a:lnSpc>
              <a:buSzPct val="100000"/>
              <a:buChar char="•"/>
            </a:pPr>
            <a:r>
              <a:rPr lang="en-US" sz="1200" dirty="0">
                <a:solidFill>
                  <a:srgbClr val="DCE5F2"/>
                </a:solidFill>
                <a:latin typeface="Inter" pitchFamily="34" charset="0"/>
                <a:ea typeface="Inter" pitchFamily="34" charset="-122"/>
                <a:cs typeface="Inter" pitchFamily="34" charset="-120"/>
              </a:rPr>
              <a:t>Private SQL area (cursori)</a:t>
            </a:r>
            <a:endParaRPr lang="en-US" sz="1200" dirty="0"/>
          </a:p>
        </p:txBody>
      </p:sp>
      <p:sp>
        <p:nvSpPr>
          <p:cNvPr id="24" name="Text 22"/>
          <p:cNvSpPr/>
          <p:nvPr/>
        </p:nvSpPr>
        <p:spPr>
          <a:xfrm>
            <a:off x="8144907" y="3081021"/>
            <a:ext cx="31220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Se non basta: </a:t>
            </a:r>
            <a:r>
              <a:rPr lang="en-US" sz="1200" b="1" dirty="0">
                <a:solidFill>
                  <a:srgbClr val="F6F8FB"/>
                </a:solidFill>
                <a:latin typeface="Inter" pitchFamily="34" charset="0"/>
                <a:ea typeface="Inter" pitchFamily="34" charset="-122"/>
                <a:cs typeface="Inter" pitchFamily="34" charset="-120"/>
              </a:rPr>
              <a:t>spill su TEMP</a:t>
            </a:r>
            <a:r>
              <a:rPr lang="en-US" sz="1200" dirty="0">
                <a:solidFill>
                  <a:srgbClr val="F6F8FB"/>
                </a:solidFill>
                <a:latin typeface="Inter" pitchFamily="34" charset="0"/>
                <a:ea typeface="Inter" pitchFamily="34" charset="-122"/>
                <a:cs typeface="Inter" pitchFamily="34" charset="-120"/>
              </a:rPr>
              <a:t> e I/O in più</a:t>
            </a:r>
            <a:endParaRPr lang="en-US" sz="1200" dirty="0"/>
          </a:p>
        </p:txBody>
      </p:sp>
      <p:sp>
        <p:nvSpPr>
          <p:cNvPr id="25" name="Text 23"/>
          <p:cNvSpPr/>
          <p:nvPr/>
        </p:nvSpPr>
        <p:spPr>
          <a:xfrm>
            <a:off x="812800" y="4249421"/>
            <a:ext cx="10566400" cy="680720"/>
          </a:xfrm>
          <a:prstGeom prst="rect">
            <a:avLst/>
          </a:prstGeom>
          <a:solidFill>
            <a:srgbClr val="DCE5F2"/>
          </a:solidFill>
          <a:ln/>
        </p:spPr>
        <p:txBody>
          <a:bodyPr wrap="square" lIns="203200" tIns="127000" rIns="0" bIns="101600" rtlCol="0" anchor="t">
            <a:normAutofit/>
          </a:bodyPr>
          <a:lstStyle/>
          <a:p>
            <a:pPr marL="0" indent="0" algn="l">
              <a:lnSpc>
                <a:spcPts val="1680"/>
              </a:lnSpc>
              <a:buNone/>
            </a:pPr>
            <a:r>
              <a:rPr lang="en-US" sz="1200" dirty="0">
                <a:solidFill>
                  <a:srgbClr val="3D4B5E"/>
                </a:solidFill>
                <a:latin typeface="JetBrains Mono" pitchFamily="49" charset="0"/>
                <a:ea typeface="JetBrains Mono" pitchFamily="49" charset="-122"/>
                <a:cs typeface="JetBrains Mono" pitchFamily="49" charset="-120"/>
              </a:rPr>
              <a:t>Parametri: SGA_TARGET · PGA_AGGREGATE_TARGET · MEMORY_TARGET — Viste: V$SGAINFO · V$SGASTAT · V$PGASTAT · V$PROCESS</a:t>
            </a:r>
            <a:endParaRPr lang="en-US" sz="1200" dirty="0"/>
          </a:p>
        </p:txBody>
      </p:sp>
      <p:sp>
        <p:nvSpPr>
          <p:cNvPr id="26" name="Text 24"/>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ARCHITETTURA</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 processi </a:t>
            </a:r>
            <a:r>
              <a:rPr lang="en-US" sz="3000" b="1" i="0" kern="0" spc="-60" dirty="0">
                <a:solidFill>
                  <a:srgbClr val="2E6BD1"/>
                </a:solidFill>
                <a:latin typeface="Inter" pitchFamily="34" charset="0"/>
                <a:ea typeface="Inter" pitchFamily="34" charset="-122"/>
                <a:cs typeface="Inter" pitchFamily="34" charset="-120"/>
              </a:rPr>
              <a:t>di background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21"/>
          <a:ext cx="10556239" cy="2311400"/>
        </p:xfrm>
        <a:graphic>
          <a:graphicData uri="http://schemas.openxmlformats.org/drawingml/2006/table">
            <a:tbl>
              <a:tblPr/>
              <a:tblGrid>
                <a:gridCol w="1688998">
                  <a:extLst>
                    <a:ext uri="{9D8B030D-6E8A-4147-A177-3AD203B41FA5}">
                      <a16:colId xmlns:a16="http://schemas.microsoft.com/office/drawing/2014/main" val="20000"/>
                    </a:ext>
                  </a:extLst>
                </a:gridCol>
                <a:gridCol w="4011371">
                  <a:extLst>
                    <a:ext uri="{9D8B030D-6E8A-4147-A177-3AD203B41FA5}">
                      <a16:colId xmlns:a16="http://schemas.microsoft.com/office/drawing/2014/main" val="20001"/>
                    </a:ext>
                  </a:extLst>
                </a:gridCol>
                <a:gridCol w="4855870">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Processo</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Ruolo</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Perché conta per le prestazioni</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DBWn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Scrive i blocchi “dirty” sui datafile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Se è lento: free buffer waits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LGWR</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Scrive il redo buffer sui redo log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Ogni COMMIT lo attende: log file sync</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CKPT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Coordina i checkpoint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Checkpoint frequenti = I/O a picchi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SMON / PMON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Recovery di istanza / pulizia sessioni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PMON libera lock e risorse di sessioni morte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ARCn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Archivia i redo log pieni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Archiviazione lenta blocca i log switch</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MMON / MMNL</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Raccolgono metriche, AWR e ASH</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Sono la fonte dello storico prestazionale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376421"/>
            <a:ext cx="10566400" cy="467360"/>
          </a:xfrm>
          <a:prstGeom prst="rect">
            <a:avLst/>
          </a:prstGeom>
          <a:solidFill>
            <a:srgbClr val="0F1B2D"/>
          </a:solidFill>
          <a:ln/>
        </p:spPr>
        <p:txBody>
          <a:bodyPr wrap="square" lIns="203200" tIns="127000" rIns="0" bIns="101600" rtlCol="0" anchor="t">
            <a:normAutofit/>
          </a:bodyPr>
          <a:lstStyle/>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SELECT pname, program FROM v$process WHERE background = 1 ORDER BY pname;</a:t>
            </a:r>
            <a:endParaRPr lang="en-US" sz="1200" dirty="0"/>
          </a:p>
        </p:txBody>
      </p:sp>
      <p:sp>
        <p:nvSpPr>
          <p:cNvPr id="6" name="Text 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ARCHITETTURA</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Il database: </a:t>
            </a:r>
            <a:r>
              <a:rPr lang="en-US" sz="3000" b="1" i="0" kern="0" spc="-60" dirty="0">
                <a:solidFill>
                  <a:srgbClr val="2E6BD1"/>
                </a:solidFill>
                <a:latin typeface="Inter" pitchFamily="34" charset="0"/>
                <a:ea typeface="Inter" pitchFamily="34" charset="-122"/>
                <a:cs typeface="Inter" pitchFamily="34" charset="-120"/>
              </a:rPr>
              <a:t>i file su disco</a:t>
            </a:r>
            <a:endParaRPr lang="en-US" sz="3000" dirty="0"/>
          </a:p>
        </p:txBody>
      </p:sp>
      <p:sp>
        <p:nvSpPr>
          <p:cNvPr id="4" name="Shape 2"/>
          <p:cNvSpPr/>
          <p:nvPr/>
        </p:nvSpPr>
        <p:spPr>
          <a:xfrm>
            <a:off x="812800" y="1800861"/>
            <a:ext cx="2527300" cy="1902460"/>
          </a:xfrm>
          <a:prstGeom prst="rect">
            <a:avLst/>
          </a:prstGeom>
          <a:solidFill>
            <a:srgbClr val="FFFFFF"/>
          </a:solidFill>
          <a:ln/>
        </p:spPr>
        <p:txBody>
          <a:bodyPr/>
          <a:lstStyle/>
          <a:p>
            <a:endParaRPr lang="it-IT"/>
          </a:p>
        </p:txBody>
      </p:sp>
      <p:sp>
        <p:nvSpPr>
          <p:cNvPr id="5" name="Shape 3"/>
          <p:cNvSpPr/>
          <p:nvPr/>
        </p:nvSpPr>
        <p:spPr>
          <a:xfrm>
            <a:off x="812800" y="1813561"/>
            <a:ext cx="2527300" cy="0"/>
          </a:xfrm>
          <a:prstGeom prst="line">
            <a:avLst/>
          </a:prstGeom>
          <a:noFill/>
          <a:ln w="25400">
            <a:solidFill>
              <a:srgbClr val="2E6BD1"/>
            </a:solidFill>
            <a:prstDash val="solid"/>
          </a:ln>
        </p:spPr>
        <p:txBody>
          <a:bodyPr/>
          <a:lstStyle/>
          <a:p>
            <a:endParaRPr lang="it-IT"/>
          </a:p>
        </p:txBody>
      </p:sp>
      <p:sp>
        <p:nvSpPr>
          <p:cNvPr id="6" name="Text 4"/>
          <p:cNvSpPr/>
          <p:nvPr/>
        </p:nvSpPr>
        <p:spPr>
          <a:xfrm>
            <a:off x="1016000" y="2029461"/>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Datafile</a:t>
            </a:r>
            <a:endParaRPr lang="en-US" sz="1500" dirty="0"/>
          </a:p>
        </p:txBody>
      </p:sp>
      <p:sp>
        <p:nvSpPr>
          <p:cNvPr id="7" name="Text 5"/>
          <p:cNvSpPr/>
          <p:nvPr/>
        </p:nvSpPr>
        <p:spPr>
          <a:xfrm>
            <a:off x="1016000" y="2334261"/>
            <a:ext cx="2184527"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Tablespace, segmenti, extent, blocchi. Qui avvengono le letture fisiche.</a:t>
            </a:r>
            <a:endParaRPr lang="en-US" sz="1200" dirty="0"/>
          </a:p>
        </p:txBody>
      </p:sp>
      <p:sp>
        <p:nvSpPr>
          <p:cNvPr id="8" name="Text 6"/>
          <p:cNvSpPr/>
          <p:nvPr/>
        </p:nvSpPr>
        <p:spPr>
          <a:xfrm>
            <a:off x="1016000" y="3073400"/>
            <a:ext cx="218452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6BD1"/>
                </a:solidFill>
                <a:latin typeface="Inter" pitchFamily="34" charset="0"/>
                <a:ea typeface="Inter" pitchFamily="34" charset="-122"/>
                <a:cs typeface="Inter" pitchFamily="34" charset="-120"/>
              </a:rPr>
              <a:t>db file sequential / scattered read</a:t>
            </a:r>
            <a:endParaRPr lang="en-US" sz="1200" dirty="0"/>
          </a:p>
        </p:txBody>
      </p:sp>
      <p:sp>
        <p:nvSpPr>
          <p:cNvPr id="9" name="Shape 7"/>
          <p:cNvSpPr/>
          <p:nvPr/>
        </p:nvSpPr>
        <p:spPr>
          <a:xfrm>
            <a:off x="3492500" y="1800861"/>
            <a:ext cx="2527300" cy="1902460"/>
          </a:xfrm>
          <a:prstGeom prst="rect">
            <a:avLst/>
          </a:prstGeom>
          <a:solidFill>
            <a:srgbClr val="FFFFFF"/>
          </a:solidFill>
          <a:ln/>
        </p:spPr>
        <p:txBody>
          <a:bodyPr/>
          <a:lstStyle/>
          <a:p>
            <a:endParaRPr lang="it-IT"/>
          </a:p>
        </p:txBody>
      </p:sp>
      <p:sp>
        <p:nvSpPr>
          <p:cNvPr id="10" name="Shape 8"/>
          <p:cNvSpPr/>
          <p:nvPr/>
        </p:nvSpPr>
        <p:spPr>
          <a:xfrm>
            <a:off x="3492500" y="1813561"/>
            <a:ext cx="2527300" cy="0"/>
          </a:xfrm>
          <a:prstGeom prst="line">
            <a:avLst/>
          </a:prstGeom>
          <a:noFill/>
          <a:ln w="25400">
            <a:solidFill>
              <a:srgbClr val="2E6BD1"/>
            </a:solidFill>
            <a:prstDash val="solid"/>
          </a:ln>
        </p:spPr>
        <p:txBody>
          <a:bodyPr/>
          <a:lstStyle/>
          <a:p>
            <a:endParaRPr lang="it-IT"/>
          </a:p>
        </p:txBody>
      </p:sp>
      <p:sp>
        <p:nvSpPr>
          <p:cNvPr id="11" name="Text 9"/>
          <p:cNvSpPr/>
          <p:nvPr/>
        </p:nvSpPr>
        <p:spPr>
          <a:xfrm>
            <a:off x="3695700" y="2029461"/>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Redo log</a:t>
            </a:r>
            <a:endParaRPr lang="en-US" sz="1500" dirty="0"/>
          </a:p>
        </p:txBody>
      </p:sp>
      <p:sp>
        <p:nvSpPr>
          <p:cNvPr id="12" name="Text 10"/>
          <p:cNvSpPr/>
          <p:nvPr/>
        </p:nvSpPr>
        <p:spPr>
          <a:xfrm>
            <a:off x="3695700" y="2334261"/>
            <a:ext cx="2184527"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Registro di tutte le modifiche, scritto in modo sequenziale da LGWR.</a:t>
            </a:r>
            <a:endParaRPr lang="en-US" sz="1200" dirty="0"/>
          </a:p>
        </p:txBody>
      </p:sp>
      <p:sp>
        <p:nvSpPr>
          <p:cNvPr id="13" name="Text 11"/>
          <p:cNvSpPr/>
          <p:nvPr/>
        </p:nvSpPr>
        <p:spPr>
          <a:xfrm>
            <a:off x="3695700" y="3073400"/>
            <a:ext cx="21845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6BD1"/>
                </a:solidFill>
                <a:latin typeface="Inter" pitchFamily="34" charset="0"/>
                <a:ea typeface="Inter" pitchFamily="34" charset="-122"/>
                <a:cs typeface="Inter" pitchFamily="34" charset="-120"/>
              </a:rPr>
              <a:t>log file sync · log file switch</a:t>
            </a:r>
            <a:endParaRPr lang="en-US" sz="1200" dirty="0"/>
          </a:p>
        </p:txBody>
      </p:sp>
      <p:sp>
        <p:nvSpPr>
          <p:cNvPr id="14" name="Shape 12"/>
          <p:cNvSpPr/>
          <p:nvPr/>
        </p:nvSpPr>
        <p:spPr>
          <a:xfrm>
            <a:off x="6172200" y="1800861"/>
            <a:ext cx="2527300" cy="1902460"/>
          </a:xfrm>
          <a:prstGeom prst="rect">
            <a:avLst/>
          </a:prstGeom>
          <a:solidFill>
            <a:srgbClr val="FFFFFF"/>
          </a:solidFill>
          <a:ln/>
        </p:spPr>
        <p:txBody>
          <a:bodyPr/>
          <a:lstStyle/>
          <a:p>
            <a:endParaRPr lang="it-IT"/>
          </a:p>
        </p:txBody>
      </p:sp>
      <p:sp>
        <p:nvSpPr>
          <p:cNvPr id="15" name="Shape 13"/>
          <p:cNvSpPr/>
          <p:nvPr/>
        </p:nvSpPr>
        <p:spPr>
          <a:xfrm>
            <a:off x="6172200" y="1813561"/>
            <a:ext cx="2527300" cy="0"/>
          </a:xfrm>
          <a:prstGeom prst="line">
            <a:avLst/>
          </a:prstGeom>
          <a:noFill/>
          <a:ln w="25400">
            <a:solidFill>
              <a:srgbClr val="94A3B8"/>
            </a:solidFill>
            <a:prstDash val="solid"/>
          </a:ln>
        </p:spPr>
        <p:txBody>
          <a:bodyPr/>
          <a:lstStyle/>
          <a:p>
            <a:endParaRPr lang="it-IT"/>
          </a:p>
        </p:txBody>
      </p:sp>
      <p:sp>
        <p:nvSpPr>
          <p:cNvPr id="16" name="Text 14"/>
          <p:cNvSpPr/>
          <p:nvPr/>
        </p:nvSpPr>
        <p:spPr>
          <a:xfrm>
            <a:off x="6375400" y="2029461"/>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Control file</a:t>
            </a:r>
            <a:endParaRPr lang="en-US" sz="1500" dirty="0"/>
          </a:p>
        </p:txBody>
      </p:sp>
      <p:sp>
        <p:nvSpPr>
          <p:cNvPr id="17" name="Text 15"/>
          <p:cNvSpPr/>
          <p:nvPr/>
        </p:nvSpPr>
        <p:spPr>
          <a:xfrm>
            <a:off x="6375400" y="2334261"/>
            <a:ext cx="218452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Struttura fisica del database, checkpoint e SCN.</a:t>
            </a:r>
            <a:endParaRPr lang="en-US" sz="1200" dirty="0"/>
          </a:p>
        </p:txBody>
      </p:sp>
      <p:sp>
        <p:nvSpPr>
          <p:cNvPr id="18" name="Text 16"/>
          <p:cNvSpPr/>
          <p:nvPr/>
        </p:nvSpPr>
        <p:spPr>
          <a:xfrm>
            <a:off x="6375400" y="2852421"/>
            <a:ext cx="21845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6BD1"/>
                </a:solidFill>
                <a:latin typeface="Inter" pitchFamily="34" charset="0"/>
                <a:ea typeface="Inter" pitchFamily="34" charset="-122"/>
                <a:cs typeface="Inter" pitchFamily="34" charset="-120"/>
              </a:rPr>
              <a:t>control file parallel write</a:t>
            </a:r>
            <a:endParaRPr lang="en-US" sz="1200" dirty="0"/>
          </a:p>
        </p:txBody>
      </p:sp>
      <p:sp>
        <p:nvSpPr>
          <p:cNvPr id="19" name="Shape 17"/>
          <p:cNvSpPr/>
          <p:nvPr/>
        </p:nvSpPr>
        <p:spPr>
          <a:xfrm>
            <a:off x="8851900" y="1800861"/>
            <a:ext cx="2527300" cy="1902460"/>
          </a:xfrm>
          <a:prstGeom prst="rect">
            <a:avLst/>
          </a:prstGeom>
          <a:solidFill>
            <a:srgbClr val="FFFFFF"/>
          </a:solidFill>
          <a:ln/>
        </p:spPr>
        <p:txBody>
          <a:bodyPr/>
          <a:lstStyle/>
          <a:p>
            <a:endParaRPr lang="it-IT"/>
          </a:p>
        </p:txBody>
      </p:sp>
      <p:sp>
        <p:nvSpPr>
          <p:cNvPr id="20" name="Shape 18"/>
          <p:cNvSpPr/>
          <p:nvPr/>
        </p:nvSpPr>
        <p:spPr>
          <a:xfrm>
            <a:off x="8851900" y="1813561"/>
            <a:ext cx="2527300" cy="0"/>
          </a:xfrm>
          <a:prstGeom prst="line">
            <a:avLst/>
          </a:prstGeom>
          <a:noFill/>
          <a:ln w="25400">
            <a:solidFill>
              <a:srgbClr val="94A3B8"/>
            </a:solidFill>
            <a:prstDash val="solid"/>
          </a:ln>
        </p:spPr>
        <p:txBody>
          <a:bodyPr/>
          <a:lstStyle/>
          <a:p>
            <a:endParaRPr lang="it-IT"/>
          </a:p>
        </p:txBody>
      </p:sp>
      <p:sp>
        <p:nvSpPr>
          <p:cNvPr id="21" name="Text 19"/>
          <p:cNvSpPr/>
          <p:nvPr/>
        </p:nvSpPr>
        <p:spPr>
          <a:xfrm>
            <a:off x="9055100" y="2029461"/>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Temp file</a:t>
            </a:r>
            <a:endParaRPr lang="en-US" sz="1500" dirty="0"/>
          </a:p>
        </p:txBody>
      </p:sp>
      <p:sp>
        <p:nvSpPr>
          <p:cNvPr id="22" name="Text 20"/>
          <p:cNvSpPr/>
          <p:nvPr/>
        </p:nvSpPr>
        <p:spPr>
          <a:xfrm>
            <a:off x="9055100" y="2334261"/>
            <a:ext cx="218452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Sort e hash join che non stanno nella PGA.</a:t>
            </a:r>
            <a:endParaRPr lang="en-US" sz="1200" dirty="0"/>
          </a:p>
        </p:txBody>
      </p:sp>
      <p:sp>
        <p:nvSpPr>
          <p:cNvPr id="23" name="Text 21"/>
          <p:cNvSpPr/>
          <p:nvPr/>
        </p:nvSpPr>
        <p:spPr>
          <a:xfrm>
            <a:off x="9055100" y="2852421"/>
            <a:ext cx="21845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6BD1"/>
                </a:solidFill>
                <a:latin typeface="Inter" pitchFamily="34" charset="0"/>
                <a:ea typeface="Inter" pitchFamily="34" charset="-122"/>
                <a:cs typeface="Inter" pitchFamily="34" charset="-120"/>
              </a:rPr>
              <a:t>direct path read / write temp</a:t>
            </a:r>
            <a:endParaRPr lang="en-US" sz="1200" dirty="0"/>
          </a:p>
        </p:txBody>
      </p:sp>
      <p:sp>
        <p:nvSpPr>
          <p:cNvPr id="25" name="Text 2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05081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02</a:t>
            </a:r>
            <a:endParaRPr lang="en-US" sz="1400" dirty="0"/>
          </a:p>
        </p:txBody>
      </p:sp>
      <p:sp>
        <p:nvSpPr>
          <p:cNvPr id="3" name="Text 1"/>
          <p:cNvSpPr/>
          <p:nvPr/>
        </p:nvSpPr>
        <p:spPr>
          <a:xfrm>
            <a:off x="812800" y="250293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MATTINA · TEORIA</a:t>
            </a:r>
            <a:endParaRPr lang="en-US" sz="1200" dirty="0"/>
          </a:p>
        </p:txBody>
      </p:sp>
      <p:sp>
        <p:nvSpPr>
          <p:cNvPr id="4" name="Text 2"/>
          <p:cNvSpPr>
            <a:spLocks noGrp="1"/>
          </p:cNvSpPr>
          <p:nvPr>
            <p:ph type="title"/>
          </p:nvPr>
        </p:nvSpPr>
        <p:spPr>
          <a:xfrm>
            <a:off x="812800" y="2919493"/>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I 3 layer</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delle prestazioni</a:t>
            </a:r>
            <a:endParaRPr lang="en-US" sz="5200" dirty="0"/>
          </a:p>
        </p:txBody>
      </p:sp>
      <p:sp>
        <p:nvSpPr>
          <p:cNvPr id="5" name="Text 3"/>
          <p:cNvSpPr/>
          <p:nvPr/>
        </p:nvSpPr>
        <p:spPr>
          <a:xfrm>
            <a:off x="812800" y="4522707"/>
            <a:ext cx="78486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OS e hardware, istanza, applicazione e SQL: cosa misurare e dove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I 3 LAYER</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Tre livelli, </a:t>
            </a:r>
            <a:r>
              <a:rPr lang="en-US" sz="3000" b="1" i="0" kern="0" spc="-60" dirty="0">
                <a:solidFill>
                  <a:srgbClr val="2E6BD1"/>
                </a:solidFill>
                <a:latin typeface="Inter" pitchFamily="34" charset="0"/>
                <a:ea typeface="Inter" pitchFamily="34" charset="-122"/>
                <a:cs typeface="Inter" pitchFamily="34" charset="-120"/>
              </a:rPr>
              <a:t>una sola domanda</a:t>
            </a:r>
            <a:r>
              <a:rPr lang="en-US" sz="3000" b="1" i="0" kern="0" spc="-60" dirty="0">
                <a:solidFill>
                  <a:srgbClr val="0F1B2D"/>
                </a:solidFill>
                <a:latin typeface="Inter" pitchFamily="34" charset="0"/>
                <a:ea typeface="Inter" pitchFamily="34" charset="-122"/>
                <a:cs typeface="Inter" pitchFamily="34" charset="-120"/>
              </a:rPr>
              <a:t>: dove si spende il tempo?</a:t>
            </a:r>
            <a:endParaRPr lang="en-US" sz="3000" dirty="0"/>
          </a:p>
        </p:txBody>
      </p:sp>
      <p:sp>
        <p:nvSpPr>
          <p:cNvPr id="4" name="Shape 2"/>
          <p:cNvSpPr/>
          <p:nvPr/>
        </p:nvSpPr>
        <p:spPr>
          <a:xfrm>
            <a:off x="812800" y="1800864"/>
            <a:ext cx="10566400" cy="599440"/>
          </a:xfrm>
          <a:prstGeom prst="rect">
            <a:avLst/>
          </a:prstGeom>
          <a:solidFill>
            <a:srgbClr val="FFFFFF"/>
          </a:solidFill>
          <a:ln/>
        </p:spPr>
        <p:txBody>
          <a:bodyPr/>
          <a:lstStyle/>
          <a:p>
            <a:endParaRPr lang="it-IT"/>
          </a:p>
        </p:txBody>
      </p:sp>
      <p:sp>
        <p:nvSpPr>
          <p:cNvPr id="5" name="Shape 3"/>
          <p:cNvSpPr/>
          <p:nvPr/>
        </p:nvSpPr>
        <p:spPr>
          <a:xfrm>
            <a:off x="838200" y="1800864"/>
            <a:ext cx="0" cy="599440"/>
          </a:xfrm>
          <a:prstGeom prst="line">
            <a:avLst/>
          </a:prstGeom>
          <a:noFill/>
          <a:ln w="50800">
            <a:solidFill>
              <a:srgbClr val="2E6BD1"/>
            </a:solidFill>
            <a:prstDash val="solid"/>
          </a:ln>
        </p:spPr>
        <p:txBody>
          <a:bodyPr/>
          <a:lstStyle/>
          <a:p>
            <a:endParaRPr lang="it-IT"/>
          </a:p>
        </p:txBody>
      </p:sp>
      <p:sp>
        <p:nvSpPr>
          <p:cNvPr id="6" name="Text 4"/>
          <p:cNvSpPr/>
          <p:nvPr/>
        </p:nvSpPr>
        <p:spPr>
          <a:xfrm>
            <a:off x="1092200" y="1993900"/>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a:t>
            </a:r>
            <a:endParaRPr lang="en-US" sz="1200" dirty="0"/>
          </a:p>
        </p:txBody>
      </p:sp>
      <p:sp>
        <p:nvSpPr>
          <p:cNvPr id="7" name="Text 5"/>
          <p:cNvSpPr/>
          <p:nvPr/>
        </p:nvSpPr>
        <p:spPr>
          <a:xfrm>
            <a:off x="2057400" y="1978664"/>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Applicativo / SQL</a:t>
            </a:r>
            <a:endParaRPr lang="en-US" sz="1600" dirty="0"/>
          </a:p>
        </p:txBody>
      </p:sp>
      <p:sp>
        <p:nvSpPr>
          <p:cNvPr id="8" name="Text 6"/>
          <p:cNvSpPr/>
          <p:nvPr/>
        </p:nvSpPr>
        <p:spPr>
          <a:xfrm>
            <a:off x="5181600" y="1993900"/>
            <a:ext cx="61480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Piani sub-ottimali, parsing eccessivo, cursori non chiusi</a:t>
            </a:r>
            <a:endParaRPr lang="en-US" sz="1200" dirty="0"/>
          </a:p>
        </p:txBody>
      </p:sp>
      <p:sp>
        <p:nvSpPr>
          <p:cNvPr id="9" name="Shape 7"/>
          <p:cNvSpPr/>
          <p:nvPr/>
        </p:nvSpPr>
        <p:spPr>
          <a:xfrm>
            <a:off x="812800" y="2400300"/>
            <a:ext cx="10566400" cy="599440"/>
          </a:xfrm>
          <a:prstGeom prst="rect">
            <a:avLst/>
          </a:prstGeom>
          <a:solidFill>
            <a:srgbClr val="FFFFFF"/>
          </a:solidFill>
          <a:ln/>
        </p:spPr>
        <p:txBody>
          <a:bodyPr/>
          <a:lstStyle/>
          <a:p>
            <a:endParaRPr lang="it-IT"/>
          </a:p>
        </p:txBody>
      </p:sp>
      <p:sp>
        <p:nvSpPr>
          <p:cNvPr id="10" name="Shape 8"/>
          <p:cNvSpPr/>
          <p:nvPr/>
        </p:nvSpPr>
        <p:spPr>
          <a:xfrm>
            <a:off x="838200" y="2400300"/>
            <a:ext cx="0" cy="599440"/>
          </a:xfrm>
          <a:prstGeom prst="line">
            <a:avLst/>
          </a:prstGeom>
          <a:noFill/>
          <a:ln w="50800">
            <a:solidFill>
              <a:srgbClr val="0F1B2D"/>
            </a:solidFill>
            <a:prstDash val="solid"/>
          </a:ln>
        </p:spPr>
        <p:txBody>
          <a:bodyPr/>
          <a:lstStyle/>
          <a:p>
            <a:endParaRPr lang="it-IT"/>
          </a:p>
        </p:txBody>
      </p:sp>
      <p:sp>
        <p:nvSpPr>
          <p:cNvPr id="11" name="Text 9"/>
          <p:cNvSpPr/>
          <p:nvPr/>
        </p:nvSpPr>
        <p:spPr>
          <a:xfrm>
            <a:off x="1092200" y="2593342"/>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02</a:t>
            </a:r>
            <a:endParaRPr lang="en-US" sz="1200" dirty="0"/>
          </a:p>
        </p:txBody>
      </p:sp>
      <p:sp>
        <p:nvSpPr>
          <p:cNvPr id="12" name="Text 10"/>
          <p:cNvSpPr/>
          <p:nvPr/>
        </p:nvSpPr>
        <p:spPr>
          <a:xfrm>
            <a:off x="2057400" y="2578100"/>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Istanza DB</a:t>
            </a:r>
            <a:endParaRPr lang="en-US" sz="1600" dirty="0"/>
          </a:p>
        </p:txBody>
      </p:sp>
      <p:sp>
        <p:nvSpPr>
          <p:cNvPr id="13" name="Text 11"/>
          <p:cNvSpPr/>
          <p:nvPr/>
        </p:nvSpPr>
        <p:spPr>
          <a:xfrm>
            <a:off x="5181600" y="2593342"/>
            <a:ext cx="61480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Wait events, lock, latch contention, dimensionamento SGA/PGA</a:t>
            </a:r>
            <a:endParaRPr lang="en-US" sz="1200" dirty="0"/>
          </a:p>
        </p:txBody>
      </p:sp>
      <p:sp>
        <p:nvSpPr>
          <p:cNvPr id="14" name="Shape 12"/>
          <p:cNvSpPr/>
          <p:nvPr/>
        </p:nvSpPr>
        <p:spPr>
          <a:xfrm>
            <a:off x="812800" y="2999742"/>
            <a:ext cx="10566400" cy="599440"/>
          </a:xfrm>
          <a:prstGeom prst="rect">
            <a:avLst/>
          </a:prstGeom>
          <a:solidFill>
            <a:srgbClr val="FFFFFF"/>
          </a:solidFill>
          <a:ln/>
        </p:spPr>
        <p:txBody>
          <a:bodyPr/>
          <a:lstStyle/>
          <a:p>
            <a:endParaRPr lang="it-IT"/>
          </a:p>
        </p:txBody>
      </p:sp>
      <p:sp>
        <p:nvSpPr>
          <p:cNvPr id="15" name="Shape 13"/>
          <p:cNvSpPr/>
          <p:nvPr/>
        </p:nvSpPr>
        <p:spPr>
          <a:xfrm>
            <a:off x="838200" y="2999742"/>
            <a:ext cx="0" cy="599440"/>
          </a:xfrm>
          <a:prstGeom prst="line">
            <a:avLst/>
          </a:prstGeom>
          <a:noFill/>
          <a:ln w="50800">
            <a:solidFill>
              <a:srgbClr val="94A3B8"/>
            </a:solidFill>
            <a:prstDash val="solid"/>
          </a:ln>
        </p:spPr>
        <p:txBody>
          <a:bodyPr/>
          <a:lstStyle/>
          <a:p>
            <a:endParaRPr lang="it-IT"/>
          </a:p>
        </p:txBody>
      </p:sp>
      <p:sp>
        <p:nvSpPr>
          <p:cNvPr id="16" name="Text 14"/>
          <p:cNvSpPr/>
          <p:nvPr/>
        </p:nvSpPr>
        <p:spPr>
          <a:xfrm>
            <a:off x="1092200" y="3192779"/>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01</a:t>
            </a:r>
            <a:endParaRPr lang="en-US" sz="1200" dirty="0"/>
          </a:p>
        </p:txBody>
      </p:sp>
      <p:sp>
        <p:nvSpPr>
          <p:cNvPr id="17" name="Text 15"/>
          <p:cNvSpPr/>
          <p:nvPr/>
        </p:nvSpPr>
        <p:spPr>
          <a:xfrm>
            <a:off x="2057400" y="3177542"/>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OS / Hardware</a:t>
            </a:r>
            <a:endParaRPr lang="en-US" sz="1600" dirty="0"/>
          </a:p>
        </p:txBody>
      </p:sp>
      <p:sp>
        <p:nvSpPr>
          <p:cNvPr id="18" name="Text 16"/>
          <p:cNvSpPr/>
          <p:nvPr/>
        </p:nvSpPr>
        <p:spPr>
          <a:xfrm>
            <a:off x="5181600" y="3192779"/>
            <a:ext cx="61480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CPU, I/O su disco, rete, memoria fisica</a:t>
            </a:r>
            <a:endParaRPr lang="en-US" sz="1200" dirty="0"/>
          </a:p>
        </p:txBody>
      </p:sp>
      <p:sp>
        <p:nvSpPr>
          <p:cNvPr id="19" name="Text 17"/>
          <p:cNvSpPr/>
          <p:nvPr/>
        </p:nvSpPr>
        <p:spPr>
          <a:xfrm>
            <a:off x="812800" y="3853179"/>
            <a:ext cx="10566400" cy="80010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3D4B5E"/>
                </a:solidFill>
                <a:latin typeface="Inter" pitchFamily="34" charset="0"/>
                <a:ea typeface="Inter" pitchFamily="34" charset="-122"/>
                <a:cs typeface="Inter" pitchFamily="34" charset="-120"/>
              </a:rPr>
              <a:t>Il sintomo emerge in basso (CPU al 100%, dischi saturi), la causa sta spesso in alto (una query). Si indaga incrociando i layer, non guardandone uno solo.</a:t>
            </a:r>
            <a:endParaRPr lang="en-US" sz="1300" dirty="0"/>
          </a:p>
        </p:txBody>
      </p:sp>
      <p:sp>
        <p:nvSpPr>
          <p:cNvPr id="20" name="Text 1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LAYER 1</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OS e </a:t>
            </a:r>
            <a:r>
              <a:rPr lang="en-US" sz="3000" b="1" i="0" kern="0" spc="-60" dirty="0">
                <a:solidFill>
                  <a:srgbClr val="2E6BD1"/>
                </a:solidFill>
                <a:latin typeface="Inter" pitchFamily="34" charset="0"/>
                <a:ea typeface="Inter" pitchFamily="34" charset="-122"/>
                <a:cs typeface="Inter" pitchFamily="34" charset="-120"/>
              </a:rPr>
              <a:t>hardware</a:t>
            </a:r>
            <a:endParaRPr lang="en-US" sz="3000" dirty="0"/>
          </a:p>
        </p:txBody>
      </p:sp>
      <p:sp>
        <p:nvSpPr>
          <p:cNvPr id="4" name="Shape 2"/>
          <p:cNvSpPr/>
          <p:nvPr/>
        </p:nvSpPr>
        <p:spPr>
          <a:xfrm>
            <a:off x="812800" y="1800864"/>
            <a:ext cx="2527300" cy="1399540"/>
          </a:xfrm>
          <a:prstGeom prst="rect">
            <a:avLst/>
          </a:prstGeom>
          <a:solidFill>
            <a:srgbClr val="FFFFFF"/>
          </a:solidFill>
          <a:ln/>
        </p:spPr>
        <p:txBody>
          <a:bodyPr/>
          <a:lstStyle/>
          <a:p>
            <a:endParaRPr lang="it-IT"/>
          </a:p>
        </p:txBody>
      </p:sp>
      <p:sp>
        <p:nvSpPr>
          <p:cNvPr id="5" name="Shape 3"/>
          <p:cNvSpPr/>
          <p:nvPr/>
        </p:nvSpPr>
        <p:spPr>
          <a:xfrm>
            <a:off x="812800" y="1813564"/>
            <a:ext cx="2527300" cy="0"/>
          </a:xfrm>
          <a:prstGeom prst="line">
            <a:avLst/>
          </a:prstGeom>
          <a:noFill/>
          <a:ln w="25400">
            <a:solidFill>
              <a:srgbClr val="2E6BD1"/>
            </a:solidFill>
            <a:prstDash val="solid"/>
          </a:ln>
        </p:spPr>
        <p:txBody>
          <a:bodyPr/>
          <a:lstStyle/>
          <a:p>
            <a:endParaRPr lang="it-IT"/>
          </a:p>
        </p:txBody>
      </p:sp>
      <p:sp>
        <p:nvSpPr>
          <p:cNvPr id="6" name="Text 4"/>
          <p:cNvSpPr/>
          <p:nvPr/>
        </p:nvSpPr>
        <p:spPr>
          <a:xfrm>
            <a:off x="1016000" y="2029464"/>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CPU</a:t>
            </a:r>
            <a:endParaRPr lang="en-US" sz="1500" dirty="0"/>
          </a:p>
        </p:txBody>
      </p:sp>
      <p:sp>
        <p:nvSpPr>
          <p:cNvPr id="7" name="Text 5"/>
          <p:cNvSpPr/>
          <p:nvPr/>
        </p:nvSpPr>
        <p:spPr>
          <a:xfrm>
            <a:off x="1016000" y="2334264"/>
            <a:ext cx="2184527"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Utilizzo %, run queue oltre il numero di core, tempo in attesa di CPU</a:t>
            </a:r>
            <a:endParaRPr lang="en-US" sz="1200" dirty="0"/>
          </a:p>
        </p:txBody>
      </p:sp>
      <p:sp>
        <p:nvSpPr>
          <p:cNvPr id="8" name="Shape 6"/>
          <p:cNvSpPr/>
          <p:nvPr/>
        </p:nvSpPr>
        <p:spPr>
          <a:xfrm>
            <a:off x="3492500" y="1800864"/>
            <a:ext cx="2527300" cy="1399540"/>
          </a:xfrm>
          <a:prstGeom prst="rect">
            <a:avLst/>
          </a:prstGeom>
          <a:solidFill>
            <a:srgbClr val="FFFFFF"/>
          </a:solidFill>
          <a:ln/>
        </p:spPr>
        <p:txBody>
          <a:bodyPr/>
          <a:lstStyle/>
          <a:p>
            <a:endParaRPr lang="it-IT"/>
          </a:p>
        </p:txBody>
      </p:sp>
      <p:sp>
        <p:nvSpPr>
          <p:cNvPr id="9" name="Shape 7"/>
          <p:cNvSpPr/>
          <p:nvPr/>
        </p:nvSpPr>
        <p:spPr>
          <a:xfrm>
            <a:off x="3492500" y="1813564"/>
            <a:ext cx="2527300" cy="0"/>
          </a:xfrm>
          <a:prstGeom prst="line">
            <a:avLst/>
          </a:prstGeom>
          <a:noFill/>
          <a:ln w="25400">
            <a:solidFill>
              <a:srgbClr val="2E6BD1"/>
            </a:solidFill>
            <a:prstDash val="solid"/>
          </a:ln>
        </p:spPr>
        <p:txBody>
          <a:bodyPr/>
          <a:lstStyle/>
          <a:p>
            <a:endParaRPr lang="it-IT"/>
          </a:p>
        </p:txBody>
      </p:sp>
      <p:sp>
        <p:nvSpPr>
          <p:cNvPr id="10" name="Text 8"/>
          <p:cNvSpPr/>
          <p:nvPr/>
        </p:nvSpPr>
        <p:spPr>
          <a:xfrm>
            <a:off x="3695700" y="2029464"/>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I/O disco</a:t>
            </a:r>
            <a:endParaRPr lang="en-US" sz="1500" dirty="0"/>
          </a:p>
        </p:txBody>
      </p:sp>
      <p:sp>
        <p:nvSpPr>
          <p:cNvPr id="11" name="Text 9"/>
          <p:cNvSpPr/>
          <p:nvPr/>
        </p:nvSpPr>
        <p:spPr>
          <a:xfrm>
            <a:off x="3695700" y="2334264"/>
            <a:ext cx="218452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Latenza in ms, IOPS, throughput, code sul device</a:t>
            </a:r>
            <a:endParaRPr lang="en-US" sz="1200" dirty="0"/>
          </a:p>
        </p:txBody>
      </p:sp>
      <p:sp>
        <p:nvSpPr>
          <p:cNvPr id="12" name="Shape 10"/>
          <p:cNvSpPr/>
          <p:nvPr/>
        </p:nvSpPr>
        <p:spPr>
          <a:xfrm>
            <a:off x="6172200" y="1800864"/>
            <a:ext cx="2527300" cy="1399540"/>
          </a:xfrm>
          <a:prstGeom prst="rect">
            <a:avLst/>
          </a:prstGeom>
          <a:solidFill>
            <a:srgbClr val="FFFFFF"/>
          </a:solidFill>
          <a:ln/>
        </p:spPr>
        <p:txBody>
          <a:bodyPr/>
          <a:lstStyle/>
          <a:p>
            <a:endParaRPr lang="it-IT"/>
          </a:p>
        </p:txBody>
      </p:sp>
      <p:sp>
        <p:nvSpPr>
          <p:cNvPr id="13" name="Shape 11"/>
          <p:cNvSpPr/>
          <p:nvPr/>
        </p:nvSpPr>
        <p:spPr>
          <a:xfrm>
            <a:off x="6172200" y="1813564"/>
            <a:ext cx="2527300" cy="0"/>
          </a:xfrm>
          <a:prstGeom prst="line">
            <a:avLst/>
          </a:prstGeom>
          <a:noFill/>
          <a:ln w="25400">
            <a:solidFill>
              <a:srgbClr val="2E6BD1"/>
            </a:solidFill>
            <a:prstDash val="solid"/>
          </a:ln>
        </p:spPr>
        <p:txBody>
          <a:bodyPr/>
          <a:lstStyle/>
          <a:p>
            <a:endParaRPr lang="it-IT"/>
          </a:p>
        </p:txBody>
      </p:sp>
      <p:sp>
        <p:nvSpPr>
          <p:cNvPr id="14" name="Text 12"/>
          <p:cNvSpPr/>
          <p:nvPr/>
        </p:nvSpPr>
        <p:spPr>
          <a:xfrm>
            <a:off x="6375400" y="2029464"/>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Rete</a:t>
            </a:r>
            <a:endParaRPr lang="en-US" sz="1500" dirty="0"/>
          </a:p>
        </p:txBody>
      </p:sp>
      <p:sp>
        <p:nvSpPr>
          <p:cNvPr id="15" name="Text 13"/>
          <p:cNvSpPr/>
          <p:nvPr/>
        </p:nvSpPr>
        <p:spPr>
          <a:xfrm>
            <a:off x="6375400" y="2334264"/>
            <a:ext cx="218452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Banda, latenza, round trip SQL*Net tra client e DB</a:t>
            </a:r>
            <a:endParaRPr lang="en-US" sz="1200" dirty="0"/>
          </a:p>
        </p:txBody>
      </p:sp>
      <p:sp>
        <p:nvSpPr>
          <p:cNvPr id="16" name="Shape 14"/>
          <p:cNvSpPr/>
          <p:nvPr/>
        </p:nvSpPr>
        <p:spPr>
          <a:xfrm>
            <a:off x="8851900" y="1800864"/>
            <a:ext cx="2527300" cy="1399540"/>
          </a:xfrm>
          <a:prstGeom prst="rect">
            <a:avLst/>
          </a:prstGeom>
          <a:solidFill>
            <a:srgbClr val="FFFFFF"/>
          </a:solidFill>
          <a:ln/>
        </p:spPr>
        <p:txBody>
          <a:bodyPr/>
          <a:lstStyle/>
          <a:p>
            <a:endParaRPr lang="it-IT"/>
          </a:p>
        </p:txBody>
      </p:sp>
      <p:sp>
        <p:nvSpPr>
          <p:cNvPr id="17" name="Shape 15"/>
          <p:cNvSpPr/>
          <p:nvPr/>
        </p:nvSpPr>
        <p:spPr>
          <a:xfrm>
            <a:off x="8851900" y="1813564"/>
            <a:ext cx="2527300" cy="0"/>
          </a:xfrm>
          <a:prstGeom prst="line">
            <a:avLst/>
          </a:prstGeom>
          <a:noFill/>
          <a:ln w="25400">
            <a:solidFill>
              <a:srgbClr val="2E6BD1"/>
            </a:solidFill>
            <a:prstDash val="solid"/>
          </a:ln>
        </p:spPr>
        <p:txBody>
          <a:bodyPr/>
          <a:lstStyle/>
          <a:p>
            <a:endParaRPr lang="it-IT"/>
          </a:p>
        </p:txBody>
      </p:sp>
      <p:sp>
        <p:nvSpPr>
          <p:cNvPr id="18" name="Text 16"/>
          <p:cNvSpPr/>
          <p:nvPr/>
        </p:nvSpPr>
        <p:spPr>
          <a:xfrm>
            <a:off x="9055100" y="2029464"/>
            <a:ext cx="21845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Memoria</a:t>
            </a:r>
            <a:endParaRPr lang="en-US" sz="1500" dirty="0"/>
          </a:p>
        </p:txBody>
      </p:sp>
      <p:sp>
        <p:nvSpPr>
          <p:cNvPr id="19" name="Text 17"/>
          <p:cNvSpPr/>
          <p:nvPr/>
        </p:nvSpPr>
        <p:spPr>
          <a:xfrm>
            <a:off x="9055100" y="2334264"/>
            <a:ext cx="218452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Paging e swapping, SGA non in HugePages</a:t>
            </a:r>
            <a:endParaRPr lang="en-US" sz="1200" dirty="0"/>
          </a:p>
        </p:txBody>
      </p:sp>
      <p:sp>
        <p:nvSpPr>
          <p:cNvPr id="20" name="Shape 18"/>
          <p:cNvSpPr/>
          <p:nvPr/>
        </p:nvSpPr>
        <p:spPr>
          <a:xfrm>
            <a:off x="812800" y="3454400"/>
            <a:ext cx="5207000" cy="833120"/>
          </a:xfrm>
          <a:prstGeom prst="rect">
            <a:avLst/>
          </a:prstGeom>
          <a:solidFill>
            <a:srgbClr val="0F1B2D"/>
          </a:solidFill>
          <a:ln/>
        </p:spPr>
        <p:txBody>
          <a:bodyPr/>
          <a:lstStyle/>
          <a:p>
            <a:endParaRPr lang="it-IT"/>
          </a:p>
        </p:txBody>
      </p:sp>
      <p:sp>
        <p:nvSpPr>
          <p:cNvPr id="21" name="Text 19"/>
          <p:cNvSpPr/>
          <p:nvPr/>
        </p:nvSpPr>
        <p:spPr>
          <a:xfrm>
            <a:off x="1016000" y="3632200"/>
            <a:ext cx="494461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DAL SISTEMA OPERATIVO</a:t>
            </a:r>
            <a:endParaRPr lang="en-US" sz="1200" dirty="0"/>
          </a:p>
        </p:txBody>
      </p:sp>
      <p:sp>
        <p:nvSpPr>
          <p:cNvPr id="22" name="Text 20"/>
          <p:cNvSpPr/>
          <p:nvPr/>
        </p:nvSpPr>
        <p:spPr>
          <a:xfrm>
            <a:off x="1016000" y="3896364"/>
            <a:ext cx="49446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vmstat · iostat -x · sar · top · OSWatcher</a:t>
            </a:r>
            <a:endParaRPr lang="en-US" sz="1200" dirty="0"/>
          </a:p>
        </p:txBody>
      </p:sp>
      <p:sp>
        <p:nvSpPr>
          <p:cNvPr id="23" name="Shape 21"/>
          <p:cNvSpPr/>
          <p:nvPr/>
        </p:nvSpPr>
        <p:spPr>
          <a:xfrm>
            <a:off x="6172200" y="3454400"/>
            <a:ext cx="5207000" cy="833120"/>
          </a:xfrm>
          <a:prstGeom prst="rect">
            <a:avLst/>
          </a:prstGeom>
          <a:solidFill>
            <a:srgbClr val="0F1B2D"/>
          </a:solidFill>
          <a:ln/>
        </p:spPr>
        <p:txBody>
          <a:bodyPr/>
          <a:lstStyle/>
          <a:p>
            <a:endParaRPr lang="it-IT"/>
          </a:p>
        </p:txBody>
      </p:sp>
      <p:sp>
        <p:nvSpPr>
          <p:cNvPr id="24" name="Text 22"/>
          <p:cNvSpPr/>
          <p:nvPr/>
        </p:nvSpPr>
        <p:spPr>
          <a:xfrm>
            <a:off x="6375400" y="3632200"/>
            <a:ext cx="494461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DA DENTRO ORACLE</a:t>
            </a:r>
            <a:endParaRPr lang="en-US" sz="1200" dirty="0"/>
          </a:p>
        </p:txBody>
      </p:sp>
      <p:sp>
        <p:nvSpPr>
          <p:cNvPr id="25" name="Text 23"/>
          <p:cNvSpPr/>
          <p:nvPr/>
        </p:nvSpPr>
        <p:spPr>
          <a:xfrm>
            <a:off x="6375400" y="3896364"/>
            <a:ext cx="49446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V$OSSTAT · V$SYSMETRIC · V$IOSTAT_FILE</a:t>
            </a:r>
            <a:endParaRPr lang="en-US" sz="1200" dirty="0"/>
          </a:p>
        </p:txBody>
      </p:sp>
      <p:sp>
        <p:nvSpPr>
          <p:cNvPr id="26" name="Text 2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LAYER 2</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Istanza </a:t>
            </a:r>
            <a:r>
              <a:rPr lang="en-US" sz="3000" b="1" i="0" kern="0" spc="-60" dirty="0">
                <a:solidFill>
                  <a:srgbClr val="2E6BD1"/>
                </a:solidFill>
                <a:latin typeface="Inter" pitchFamily="34" charset="0"/>
                <a:ea typeface="Inter" pitchFamily="34" charset="-122"/>
                <a:cs typeface="Inter" pitchFamily="34" charset="-120"/>
              </a:rPr>
              <a:t>DB</a:t>
            </a:r>
            <a:endParaRPr lang="en-US" sz="3000" dirty="0"/>
          </a:p>
        </p:txBody>
      </p:sp>
      <p:sp>
        <p:nvSpPr>
          <p:cNvPr id="4" name="Shape 2"/>
          <p:cNvSpPr/>
          <p:nvPr/>
        </p:nvSpPr>
        <p:spPr>
          <a:xfrm>
            <a:off x="812800" y="1800864"/>
            <a:ext cx="5207000" cy="1137920"/>
          </a:xfrm>
          <a:prstGeom prst="rect">
            <a:avLst/>
          </a:prstGeom>
          <a:solidFill>
            <a:srgbClr val="FFFFFF"/>
          </a:solidFill>
          <a:ln/>
        </p:spPr>
        <p:txBody>
          <a:bodyPr/>
          <a:lstStyle/>
          <a:p>
            <a:endParaRPr lang="it-IT"/>
          </a:p>
        </p:txBody>
      </p:sp>
      <p:sp>
        <p:nvSpPr>
          <p:cNvPr id="5" name="Shape 3"/>
          <p:cNvSpPr/>
          <p:nvPr/>
        </p:nvSpPr>
        <p:spPr>
          <a:xfrm>
            <a:off x="825500" y="1800864"/>
            <a:ext cx="0" cy="1137920"/>
          </a:xfrm>
          <a:prstGeom prst="line">
            <a:avLst/>
          </a:prstGeom>
          <a:noFill/>
          <a:ln w="25400">
            <a:solidFill>
              <a:srgbClr val="2E6BD1"/>
            </a:solidFill>
            <a:prstDash val="solid"/>
          </a:ln>
        </p:spPr>
        <p:txBody>
          <a:bodyPr/>
          <a:lstStyle/>
          <a:p>
            <a:endParaRPr lang="it-IT"/>
          </a:p>
        </p:txBody>
      </p:sp>
      <p:sp>
        <p:nvSpPr>
          <p:cNvPr id="6" name="Text 4"/>
          <p:cNvSpPr/>
          <p:nvPr/>
        </p:nvSpPr>
        <p:spPr>
          <a:xfrm>
            <a:off x="1041400" y="1978664"/>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Wait events</a:t>
            </a:r>
            <a:endParaRPr lang="en-US" sz="1500" dirty="0"/>
          </a:p>
        </p:txBody>
      </p:sp>
      <p:sp>
        <p:nvSpPr>
          <p:cNvPr id="7" name="Text 5"/>
          <p:cNvSpPr/>
          <p:nvPr/>
        </p:nvSpPr>
        <p:spPr>
          <a:xfrm>
            <a:off x="1041400" y="2270764"/>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Su cosa sta aspettando la sessione invece di lavorare</a:t>
            </a:r>
            <a:endParaRPr lang="en-US" sz="1200" dirty="0"/>
          </a:p>
        </p:txBody>
      </p:sp>
      <p:sp>
        <p:nvSpPr>
          <p:cNvPr id="8" name="Text 6"/>
          <p:cNvSpPr/>
          <p:nvPr/>
        </p:nvSpPr>
        <p:spPr>
          <a:xfrm>
            <a:off x="1041400" y="2547621"/>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V$SESSION · V$SYSTEM_EVENT</a:t>
            </a:r>
            <a:endParaRPr lang="en-US" sz="1200" dirty="0"/>
          </a:p>
        </p:txBody>
      </p:sp>
      <p:sp>
        <p:nvSpPr>
          <p:cNvPr id="9" name="Shape 7"/>
          <p:cNvSpPr/>
          <p:nvPr/>
        </p:nvSpPr>
        <p:spPr>
          <a:xfrm>
            <a:off x="6172200" y="1800864"/>
            <a:ext cx="5207000" cy="1137920"/>
          </a:xfrm>
          <a:prstGeom prst="rect">
            <a:avLst/>
          </a:prstGeom>
          <a:solidFill>
            <a:srgbClr val="FFFFFF"/>
          </a:solidFill>
          <a:ln/>
        </p:spPr>
        <p:txBody>
          <a:bodyPr/>
          <a:lstStyle/>
          <a:p>
            <a:endParaRPr lang="it-IT"/>
          </a:p>
        </p:txBody>
      </p:sp>
      <p:sp>
        <p:nvSpPr>
          <p:cNvPr id="10" name="Shape 8"/>
          <p:cNvSpPr/>
          <p:nvPr/>
        </p:nvSpPr>
        <p:spPr>
          <a:xfrm>
            <a:off x="6184900" y="1800864"/>
            <a:ext cx="0" cy="1137920"/>
          </a:xfrm>
          <a:prstGeom prst="line">
            <a:avLst/>
          </a:prstGeom>
          <a:noFill/>
          <a:ln w="25400">
            <a:solidFill>
              <a:srgbClr val="2E6BD1"/>
            </a:solidFill>
            <a:prstDash val="solid"/>
          </a:ln>
        </p:spPr>
        <p:txBody>
          <a:bodyPr/>
          <a:lstStyle/>
          <a:p>
            <a:endParaRPr lang="it-IT"/>
          </a:p>
        </p:txBody>
      </p:sp>
      <p:sp>
        <p:nvSpPr>
          <p:cNvPr id="11" name="Text 9"/>
          <p:cNvSpPr/>
          <p:nvPr/>
        </p:nvSpPr>
        <p:spPr>
          <a:xfrm>
            <a:off x="6400800" y="1978664"/>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Lock (enqueue)</a:t>
            </a:r>
            <a:endParaRPr lang="en-US" sz="1500" dirty="0"/>
          </a:p>
        </p:txBody>
      </p:sp>
      <p:sp>
        <p:nvSpPr>
          <p:cNvPr id="12" name="Text 10"/>
          <p:cNvSpPr/>
          <p:nvPr/>
        </p:nvSpPr>
        <p:spPr>
          <a:xfrm>
            <a:off x="6400800" y="2270764"/>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Blocchi logici sui dati: TX su riga, TM su tabella</a:t>
            </a:r>
            <a:endParaRPr lang="en-US" sz="1200" dirty="0"/>
          </a:p>
        </p:txBody>
      </p:sp>
      <p:sp>
        <p:nvSpPr>
          <p:cNvPr id="13" name="Text 11"/>
          <p:cNvSpPr/>
          <p:nvPr/>
        </p:nvSpPr>
        <p:spPr>
          <a:xfrm>
            <a:off x="6400800" y="2547621"/>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V$LOCK · BLOCKING_SESSION</a:t>
            </a:r>
            <a:endParaRPr lang="en-US" sz="1200" dirty="0"/>
          </a:p>
        </p:txBody>
      </p:sp>
      <p:sp>
        <p:nvSpPr>
          <p:cNvPr id="14" name="Shape 12"/>
          <p:cNvSpPr/>
          <p:nvPr/>
        </p:nvSpPr>
        <p:spPr>
          <a:xfrm>
            <a:off x="812800" y="3091179"/>
            <a:ext cx="5207000" cy="1137920"/>
          </a:xfrm>
          <a:prstGeom prst="rect">
            <a:avLst/>
          </a:prstGeom>
          <a:solidFill>
            <a:srgbClr val="FFFFFF"/>
          </a:solidFill>
          <a:ln/>
        </p:spPr>
        <p:txBody>
          <a:bodyPr/>
          <a:lstStyle/>
          <a:p>
            <a:endParaRPr lang="it-IT"/>
          </a:p>
        </p:txBody>
      </p:sp>
      <p:sp>
        <p:nvSpPr>
          <p:cNvPr id="15" name="Shape 13"/>
          <p:cNvSpPr/>
          <p:nvPr/>
        </p:nvSpPr>
        <p:spPr>
          <a:xfrm>
            <a:off x="825500" y="3091179"/>
            <a:ext cx="0" cy="1137920"/>
          </a:xfrm>
          <a:prstGeom prst="line">
            <a:avLst/>
          </a:prstGeom>
          <a:noFill/>
          <a:ln w="25400">
            <a:solidFill>
              <a:srgbClr val="2E6BD1"/>
            </a:solidFill>
            <a:prstDash val="solid"/>
          </a:ln>
        </p:spPr>
        <p:txBody>
          <a:bodyPr/>
          <a:lstStyle/>
          <a:p>
            <a:endParaRPr lang="it-IT"/>
          </a:p>
        </p:txBody>
      </p:sp>
      <p:sp>
        <p:nvSpPr>
          <p:cNvPr id="16" name="Text 14"/>
          <p:cNvSpPr/>
          <p:nvPr/>
        </p:nvSpPr>
        <p:spPr>
          <a:xfrm>
            <a:off x="1041400" y="3268979"/>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Latch e mutex</a:t>
            </a:r>
            <a:endParaRPr lang="en-US" sz="1500" dirty="0"/>
          </a:p>
        </p:txBody>
      </p:sp>
      <p:sp>
        <p:nvSpPr>
          <p:cNvPr id="17" name="Text 15"/>
          <p:cNvSpPr/>
          <p:nvPr/>
        </p:nvSpPr>
        <p:spPr>
          <a:xfrm>
            <a:off x="1041400" y="3561079"/>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Serializzazione su strutture di memoria condivisa</a:t>
            </a:r>
            <a:endParaRPr lang="en-US" sz="1200" dirty="0"/>
          </a:p>
        </p:txBody>
      </p:sp>
      <p:sp>
        <p:nvSpPr>
          <p:cNvPr id="18" name="Text 16"/>
          <p:cNvSpPr/>
          <p:nvPr/>
        </p:nvSpPr>
        <p:spPr>
          <a:xfrm>
            <a:off x="1041400" y="3837942"/>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V$LATCH · V$MUTEX_SLEEP</a:t>
            </a:r>
            <a:endParaRPr lang="en-US" sz="1200" dirty="0"/>
          </a:p>
        </p:txBody>
      </p:sp>
      <p:sp>
        <p:nvSpPr>
          <p:cNvPr id="19" name="Shape 17"/>
          <p:cNvSpPr/>
          <p:nvPr/>
        </p:nvSpPr>
        <p:spPr>
          <a:xfrm>
            <a:off x="6172200" y="3091179"/>
            <a:ext cx="5207000" cy="1137920"/>
          </a:xfrm>
          <a:prstGeom prst="rect">
            <a:avLst/>
          </a:prstGeom>
          <a:solidFill>
            <a:srgbClr val="FFFFFF"/>
          </a:solidFill>
          <a:ln/>
        </p:spPr>
        <p:txBody>
          <a:bodyPr/>
          <a:lstStyle/>
          <a:p>
            <a:endParaRPr lang="it-IT"/>
          </a:p>
        </p:txBody>
      </p:sp>
      <p:sp>
        <p:nvSpPr>
          <p:cNvPr id="20" name="Shape 18"/>
          <p:cNvSpPr/>
          <p:nvPr/>
        </p:nvSpPr>
        <p:spPr>
          <a:xfrm>
            <a:off x="6184900" y="3091179"/>
            <a:ext cx="0" cy="1137920"/>
          </a:xfrm>
          <a:prstGeom prst="line">
            <a:avLst/>
          </a:prstGeom>
          <a:noFill/>
          <a:ln w="25400">
            <a:solidFill>
              <a:srgbClr val="2E6BD1"/>
            </a:solidFill>
            <a:prstDash val="solid"/>
          </a:ln>
        </p:spPr>
        <p:txBody>
          <a:bodyPr/>
          <a:lstStyle/>
          <a:p>
            <a:endParaRPr lang="it-IT"/>
          </a:p>
        </p:txBody>
      </p:sp>
      <p:sp>
        <p:nvSpPr>
          <p:cNvPr id="21" name="Text 19"/>
          <p:cNvSpPr/>
          <p:nvPr/>
        </p:nvSpPr>
        <p:spPr>
          <a:xfrm>
            <a:off x="6400800" y="3268979"/>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Dimensionamento SGA/PGA</a:t>
            </a:r>
            <a:endParaRPr lang="en-US" sz="1500" dirty="0"/>
          </a:p>
        </p:txBody>
      </p:sp>
      <p:sp>
        <p:nvSpPr>
          <p:cNvPr id="22" name="Text 20"/>
          <p:cNvSpPr/>
          <p:nvPr/>
        </p:nvSpPr>
        <p:spPr>
          <a:xfrm>
            <a:off x="6400800" y="3561079"/>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Gli advisor stimano il beneficio di più memoria</a:t>
            </a:r>
            <a:endParaRPr lang="en-US" sz="1200" dirty="0"/>
          </a:p>
        </p:txBody>
      </p:sp>
      <p:sp>
        <p:nvSpPr>
          <p:cNvPr id="23" name="Text 21"/>
          <p:cNvSpPr/>
          <p:nvPr/>
        </p:nvSpPr>
        <p:spPr>
          <a:xfrm>
            <a:off x="6400800" y="3837942"/>
            <a:ext cx="491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V$SGA_TARGET_ADVICE · V$PGA_TARGET_ADVICE</a:t>
            </a:r>
            <a:endParaRPr lang="en-US" sz="1200" dirty="0"/>
          </a:p>
        </p:txBody>
      </p:sp>
      <p:sp>
        <p:nvSpPr>
          <p:cNvPr id="24" name="Text 22"/>
          <p:cNvSpPr/>
          <p:nvPr/>
        </p:nvSpPr>
        <p:spPr>
          <a:xfrm>
            <a:off x="812800" y="4483100"/>
            <a:ext cx="10566400" cy="80010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3D4B5E"/>
                </a:solidFill>
                <a:latin typeface="Inter" pitchFamily="34" charset="0"/>
                <a:ea typeface="Inter" pitchFamily="34" charset="-122"/>
                <a:cs typeface="Inter" pitchFamily="34" charset="-120"/>
              </a:rPr>
              <a:t>Lock = attesa </a:t>
            </a:r>
            <a:r>
              <a:rPr lang="en-US" sz="1300" b="1" dirty="0">
                <a:solidFill>
                  <a:srgbClr val="3D4B5E"/>
                </a:solidFill>
                <a:latin typeface="Inter" pitchFamily="34" charset="0"/>
                <a:ea typeface="Inter" pitchFamily="34" charset="-122"/>
                <a:cs typeface="Inter" pitchFamily="34" charset="-120"/>
              </a:rPr>
              <a:t>logica</a:t>
            </a:r>
            <a:r>
              <a:rPr lang="en-US" sz="1300" dirty="0">
                <a:solidFill>
                  <a:srgbClr val="3D4B5E"/>
                </a:solidFill>
                <a:latin typeface="Inter" pitchFamily="34" charset="0"/>
                <a:ea typeface="Inter" pitchFamily="34" charset="-122"/>
                <a:cs typeface="Inter" pitchFamily="34" charset="-120"/>
              </a:rPr>
              <a:t> (regole di business, transazioni aperte). Latch = attesa </a:t>
            </a:r>
            <a:r>
              <a:rPr lang="en-US" sz="1300" b="1" dirty="0">
                <a:solidFill>
                  <a:srgbClr val="3D4B5E"/>
                </a:solidFill>
                <a:latin typeface="Inter" pitchFamily="34" charset="0"/>
                <a:ea typeface="Inter" pitchFamily="34" charset="-122"/>
                <a:cs typeface="Inter" pitchFamily="34" charset="-120"/>
              </a:rPr>
              <a:t>fisica</a:t>
            </a:r>
            <a:r>
              <a:rPr lang="en-US" sz="1300" dirty="0">
                <a:solidFill>
                  <a:srgbClr val="3D4B5E"/>
                </a:solidFill>
                <a:latin typeface="Inter" pitchFamily="34" charset="0"/>
                <a:ea typeface="Inter" pitchFamily="34" charset="-122"/>
                <a:cs typeface="Inter" pitchFamily="34" charset="-120"/>
              </a:rPr>
              <a:t> su memoria (troppa concorrenza sulla stessa struttura).</a:t>
            </a:r>
            <a:endParaRPr lang="en-US" sz="1300" dirty="0"/>
          </a:p>
        </p:txBody>
      </p:sp>
      <p:sp>
        <p:nvSpPr>
          <p:cNvPr id="25" name="Text 2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LAYER 2</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DB Time = </a:t>
            </a:r>
            <a:r>
              <a:rPr lang="en-US" sz="3000" b="1" i="0" kern="0" spc="-60" dirty="0">
                <a:solidFill>
                  <a:srgbClr val="2E6BD1"/>
                </a:solidFill>
                <a:latin typeface="Inter" pitchFamily="34" charset="0"/>
                <a:ea typeface="Inter" pitchFamily="34" charset="-122"/>
                <a:cs typeface="Inter" pitchFamily="34" charset="-120"/>
              </a:rPr>
              <a:t>CPU + Wait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5624"/>
          <a:ext cx="5937488" cy="2311400"/>
        </p:xfrm>
        <a:graphic>
          <a:graphicData uri="http://schemas.openxmlformats.org/drawingml/2006/table">
            <a:tbl>
              <a:tblPr/>
              <a:tblGrid>
                <a:gridCol w="1781246">
                  <a:extLst>
                    <a:ext uri="{9D8B030D-6E8A-4147-A177-3AD203B41FA5}">
                      <a16:colId xmlns:a16="http://schemas.microsoft.com/office/drawing/2014/main" val="20000"/>
                    </a:ext>
                  </a:extLst>
                </a:gridCol>
                <a:gridCol w="4156242">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Wait class</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Esempi tipici</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User I/O</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db file sequential read, db file scattered read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Application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enq: TX - row lock contention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Concurrency</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latch: cache buffers chains, library cache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Commit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log file sync</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Configuration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log file switch, free buffer waits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Idle</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SQL*Net message from client (da ignorare)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7014449" y="1775464"/>
            <a:ext cx="4364752" cy="2321560"/>
          </a:xfrm>
          <a:prstGeom prst="rect">
            <a:avLst/>
          </a:prstGeom>
          <a:solidFill>
            <a:srgbClr val="0F1B2D"/>
          </a:solidFill>
          <a:ln/>
        </p:spPr>
        <p:txBody>
          <a:bodyPr/>
          <a:lstStyle/>
          <a:p>
            <a:endParaRPr lang="it-IT"/>
          </a:p>
        </p:txBody>
      </p:sp>
      <p:sp>
        <p:nvSpPr>
          <p:cNvPr id="6" name="Text 3"/>
          <p:cNvSpPr/>
          <p:nvPr/>
        </p:nvSpPr>
        <p:spPr>
          <a:xfrm>
            <a:off x="7217649" y="1978664"/>
            <a:ext cx="407710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LETTURA</a:t>
            </a:r>
            <a:endParaRPr lang="en-US" sz="1200" dirty="0"/>
          </a:p>
        </p:txBody>
      </p:sp>
      <p:sp>
        <p:nvSpPr>
          <p:cNvPr id="7" name="Text 4"/>
          <p:cNvSpPr/>
          <p:nvPr/>
        </p:nvSpPr>
        <p:spPr>
          <a:xfrm>
            <a:off x="7217649" y="2293621"/>
            <a:ext cx="4161552" cy="26479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6F8FB"/>
                </a:solidFill>
                <a:latin typeface="Inter" pitchFamily="34" charset="0"/>
                <a:ea typeface="Inter" pitchFamily="34" charset="-122"/>
                <a:cs typeface="Inter" pitchFamily="34" charset="-120"/>
              </a:rPr>
              <a:t>Una sessione è sempre </a:t>
            </a:r>
            <a:r>
              <a:rPr lang="en-US" sz="1300" b="1" dirty="0">
                <a:solidFill>
                  <a:srgbClr val="F6F8FB"/>
                </a:solidFill>
                <a:latin typeface="Inter" pitchFamily="34" charset="0"/>
                <a:ea typeface="Inter" pitchFamily="34" charset="-122"/>
                <a:cs typeface="Inter" pitchFamily="34" charset="-120"/>
              </a:rPr>
              <a:t>ON CPU</a:t>
            </a:r>
            <a:r>
              <a:rPr lang="en-US" sz="1300" dirty="0">
                <a:solidFill>
                  <a:srgbClr val="F6F8FB"/>
                </a:solidFill>
                <a:latin typeface="Inter" pitchFamily="34" charset="0"/>
                <a:ea typeface="Inter" pitchFamily="34" charset="-122"/>
                <a:cs typeface="Inter" pitchFamily="34" charset="-120"/>
              </a:rPr>
              <a:t> oppure </a:t>
            </a:r>
            <a:r>
              <a:rPr lang="en-US" sz="1300" b="1" dirty="0">
                <a:solidFill>
                  <a:srgbClr val="F6F8FB"/>
                </a:solidFill>
                <a:latin typeface="Inter" pitchFamily="34" charset="0"/>
                <a:ea typeface="Inter" pitchFamily="34" charset="-122"/>
                <a:cs typeface="Inter" pitchFamily="34" charset="-120"/>
              </a:rPr>
              <a:t>WAITING</a:t>
            </a:r>
            <a:r>
              <a:rPr lang="en-US" sz="1300" dirty="0">
                <a:solidFill>
                  <a:srgbClr val="F6F8FB"/>
                </a:solidFill>
                <a:latin typeface="Inter" pitchFamily="34" charset="0"/>
                <a:ea typeface="Inter" pitchFamily="34" charset="-122"/>
                <a:cs typeface="Inter" pitchFamily="34" charset="-120"/>
              </a:rPr>
              <a:t>.</a:t>
            </a:r>
            <a:endParaRPr lang="en-US" sz="1300" dirty="0"/>
          </a:p>
        </p:txBody>
      </p:sp>
      <p:sp>
        <p:nvSpPr>
          <p:cNvPr id="8" name="Text 5"/>
          <p:cNvSpPr/>
          <p:nvPr/>
        </p:nvSpPr>
        <p:spPr>
          <a:xfrm>
            <a:off x="7217649" y="2634617"/>
            <a:ext cx="4077102"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Il tuning riduce il DB Time: o si fa meno lavoro (CPU), o si aspetta meno (wait). Le attese Idle non sono un problema del DB</a:t>
            </a:r>
            <a:endParaRPr lang="en-US" sz="1200" dirty="0"/>
          </a:p>
        </p:txBody>
      </p:sp>
      <p:sp>
        <p:nvSpPr>
          <p:cNvPr id="9" name="Text 6"/>
          <p:cNvSpPr/>
          <p:nvPr/>
        </p:nvSpPr>
        <p:spPr>
          <a:xfrm>
            <a:off x="812800" y="4325621"/>
            <a:ext cx="10566400" cy="695960"/>
          </a:xfrm>
          <a:prstGeom prst="rect">
            <a:avLst/>
          </a:prstGeom>
          <a:solidFill>
            <a:srgbClr val="0F1B2D"/>
          </a:solidFill>
          <a:ln/>
        </p:spPr>
        <p:txBody>
          <a:bodyPr wrap="square" lIns="203200" tIns="127000" rIns="0"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wait_class, ROUND(SUM(time_waited_micro)/1e6) AS sec FROM v$system_event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wait_class != 'Idle' GROUP BY wait_class ORDER BY sec DESC;</a:t>
            </a:r>
            <a:endParaRPr lang="en-US" sz="1200" dirty="0"/>
          </a:p>
        </p:txBody>
      </p:sp>
      <p:sp>
        <p:nvSpPr>
          <p:cNvPr id="10"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LAYER 3</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Applicativo e </a:t>
            </a:r>
            <a:r>
              <a:rPr lang="en-US" sz="3000" b="1" i="0" kern="0" spc="-60" dirty="0">
                <a:solidFill>
                  <a:srgbClr val="2E6BD1"/>
                </a:solidFill>
                <a:latin typeface="Inter" pitchFamily="34" charset="0"/>
                <a:ea typeface="Inter" pitchFamily="34" charset="-122"/>
                <a:cs typeface="Inter" pitchFamily="34" charset="-120"/>
              </a:rPr>
              <a:t>SQL</a:t>
            </a:r>
            <a:endParaRPr lang="en-US" sz="3000" dirty="0"/>
          </a:p>
        </p:txBody>
      </p:sp>
      <p:sp>
        <p:nvSpPr>
          <p:cNvPr id="4" name="Shape 2"/>
          <p:cNvSpPr/>
          <p:nvPr/>
        </p:nvSpPr>
        <p:spPr>
          <a:xfrm>
            <a:off x="812800" y="1775464"/>
            <a:ext cx="3420507" cy="1468120"/>
          </a:xfrm>
          <a:prstGeom prst="rect">
            <a:avLst/>
          </a:prstGeom>
          <a:solidFill>
            <a:srgbClr val="FFFFFF"/>
          </a:solidFill>
          <a:ln/>
        </p:spPr>
        <p:txBody>
          <a:bodyPr/>
          <a:lstStyle/>
          <a:p>
            <a:endParaRPr lang="it-IT"/>
          </a:p>
        </p:txBody>
      </p:sp>
      <p:sp>
        <p:nvSpPr>
          <p:cNvPr id="5" name="Shape 3"/>
          <p:cNvSpPr/>
          <p:nvPr/>
        </p:nvSpPr>
        <p:spPr>
          <a:xfrm>
            <a:off x="812800" y="1788164"/>
            <a:ext cx="3420507" cy="0"/>
          </a:xfrm>
          <a:prstGeom prst="line">
            <a:avLst/>
          </a:prstGeom>
          <a:noFill/>
          <a:ln w="25400">
            <a:solidFill>
              <a:srgbClr val="2E6BD1"/>
            </a:solidFill>
            <a:prstDash val="solid"/>
          </a:ln>
        </p:spPr>
        <p:txBody>
          <a:bodyPr/>
          <a:lstStyle/>
          <a:p>
            <a:endParaRPr lang="it-IT"/>
          </a:p>
        </p:txBody>
      </p:sp>
      <p:sp>
        <p:nvSpPr>
          <p:cNvPr id="6" name="Text 4"/>
          <p:cNvSpPr/>
          <p:nvPr/>
        </p:nvSpPr>
        <p:spPr>
          <a:xfrm>
            <a:off x="1016000" y="2004064"/>
            <a:ext cx="310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Esecuzioni sub-ottimali</a:t>
            </a:r>
            <a:endParaRPr lang="en-US" sz="1500" dirty="0"/>
          </a:p>
        </p:txBody>
      </p:sp>
      <p:sp>
        <p:nvSpPr>
          <p:cNvPr id="7" name="Text 5"/>
          <p:cNvSpPr/>
          <p:nvPr/>
        </p:nvSpPr>
        <p:spPr>
          <a:xfrm>
            <a:off x="1016000" y="2308864"/>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Full scan inutili, join sbagliati, statistiche vecchie, logica riga per riga in loop</a:t>
            </a:r>
            <a:endParaRPr lang="en-US" sz="1200" dirty="0"/>
          </a:p>
        </p:txBody>
      </p:sp>
      <p:sp>
        <p:nvSpPr>
          <p:cNvPr id="8" name="Text 6"/>
          <p:cNvSpPr/>
          <p:nvPr/>
        </p:nvSpPr>
        <p:spPr>
          <a:xfrm>
            <a:off x="1016000" y="2827021"/>
            <a:ext cx="31045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V$SQL · buffer_gets</a:t>
            </a:r>
            <a:endParaRPr lang="en-US" sz="1200" dirty="0"/>
          </a:p>
        </p:txBody>
      </p:sp>
      <p:sp>
        <p:nvSpPr>
          <p:cNvPr id="9" name="Shape 7"/>
          <p:cNvSpPr/>
          <p:nvPr/>
        </p:nvSpPr>
        <p:spPr>
          <a:xfrm>
            <a:off x="4385707" y="1775464"/>
            <a:ext cx="3420586" cy="1468120"/>
          </a:xfrm>
          <a:prstGeom prst="rect">
            <a:avLst/>
          </a:prstGeom>
          <a:solidFill>
            <a:srgbClr val="FFFFFF"/>
          </a:solidFill>
          <a:ln/>
        </p:spPr>
        <p:txBody>
          <a:bodyPr/>
          <a:lstStyle/>
          <a:p>
            <a:endParaRPr lang="it-IT"/>
          </a:p>
        </p:txBody>
      </p:sp>
      <p:sp>
        <p:nvSpPr>
          <p:cNvPr id="10" name="Shape 8"/>
          <p:cNvSpPr/>
          <p:nvPr/>
        </p:nvSpPr>
        <p:spPr>
          <a:xfrm>
            <a:off x="4385707" y="1788164"/>
            <a:ext cx="3420586" cy="0"/>
          </a:xfrm>
          <a:prstGeom prst="line">
            <a:avLst/>
          </a:prstGeom>
          <a:noFill/>
          <a:ln w="25400">
            <a:solidFill>
              <a:srgbClr val="2E6BD1"/>
            </a:solidFill>
            <a:prstDash val="solid"/>
          </a:ln>
        </p:spPr>
        <p:txBody>
          <a:bodyPr/>
          <a:lstStyle/>
          <a:p>
            <a:endParaRPr lang="it-IT"/>
          </a:p>
        </p:txBody>
      </p:sp>
      <p:sp>
        <p:nvSpPr>
          <p:cNvPr id="11" name="Text 9"/>
          <p:cNvSpPr/>
          <p:nvPr/>
        </p:nvSpPr>
        <p:spPr>
          <a:xfrm>
            <a:off x="4588907" y="2004064"/>
            <a:ext cx="31046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Parsing eccessivo</a:t>
            </a:r>
            <a:endParaRPr lang="en-US" sz="1500" dirty="0"/>
          </a:p>
        </p:txBody>
      </p:sp>
      <p:sp>
        <p:nvSpPr>
          <p:cNvPr id="12" name="Text 10"/>
          <p:cNvSpPr/>
          <p:nvPr/>
        </p:nvSpPr>
        <p:spPr>
          <a:xfrm>
            <a:off x="4588907" y="2308864"/>
            <a:ext cx="310461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SQL con letterali invece di bind variable: ogni valore diverso è un hard parse</a:t>
            </a:r>
            <a:endParaRPr lang="en-US" sz="1200" dirty="0"/>
          </a:p>
        </p:txBody>
      </p:sp>
      <p:sp>
        <p:nvSpPr>
          <p:cNvPr id="13" name="Text 11"/>
          <p:cNvSpPr/>
          <p:nvPr/>
        </p:nvSpPr>
        <p:spPr>
          <a:xfrm>
            <a:off x="4588907" y="2827021"/>
            <a:ext cx="31046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parse count (hard)</a:t>
            </a:r>
            <a:endParaRPr lang="en-US" sz="1200" dirty="0"/>
          </a:p>
        </p:txBody>
      </p:sp>
      <p:sp>
        <p:nvSpPr>
          <p:cNvPr id="14" name="Shape 12"/>
          <p:cNvSpPr/>
          <p:nvPr/>
        </p:nvSpPr>
        <p:spPr>
          <a:xfrm>
            <a:off x="7958693" y="1775464"/>
            <a:ext cx="3420507" cy="1468120"/>
          </a:xfrm>
          <a:prstGeom prst="rect">
            <a:avLst/>
          </a:prstGeom>
          <a:solidFill>
            <a:srgbClr val="FFFFFF"/>
          </a:solidFill>
          <a:ln/>
        </p:spPr>
        <p:txBody>
          <a:bodyPr/>
          <a:lstStyle/>
          <a:p>
            <a:endParaRPr lang="it-IT"/>
          </a:p>
        </p:txBody>
      </p:sp>
      <p:sp>
        <p:nvSpPr>
          <p:cNvPr id="15" name="Shape 13"/>
          <p:cNvSpPr/>
          <p:nvPr/>
        </p:nvSpPr>
        <p:spPr>
          <a:xfrm>
            <a:off x="7958693" y="1788164"/>
            <a:ext cx="3420507" cy="0"/>
          </a:xfrm>
          <a:prstGeom prst="line">
            <a:avLst/>
          </a:prstGeom>
          <a:noFill/>
          <a:ln w="25400">
            <a:solidFill>
              <a:srgbClr val="2E6BD1"/>
            </a:solidFill>
            <a:prstDash val="solid"/>
          </a:ln>
        </p:spPr>
        <p:txBody>
          <a:bodyPr/>
          <a:lstStyle/>
          <a:p>
            <a:endParaRPr lang="it-IT"/>
          </a:p>
        </p:txBody>
      </p:sp>
      <p:sp>
        <p:nvSpPr>
          <p:cNvPr id="16" name="Text 14"/>
          <p:cNvSpPr/>
          <p:nvPr/>
        </p:nvSpPr>
        <p:spPr>
          <a:xfrm>
            <a:off x="8161893" y="2004064"/>
            <a:ext cx="310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Cursori non chiusi</a:t>
            </a:r>
            <a:endParaRPr lang="en-US" sz="1500" dirty="0"/>
          </a:p>
        </p:txBody>
      </p:sp>
      <p:sp>
        <p:nvSpPr>
          <p:cNvPr id="17" name="Text 15"/>
          <p:cNvSpPr/>
          <p:nvPr/>
        </p:nvSpPr>
        <p:spPr>
          <a:xfrm>
            <a:off x="8161893" y="2308864"/>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Leak applicativo: memoria che cresce fino a ORA-01000</a:t>
            </a:r>
            <a:endParaRPr lang="en-US" sz="1200" dirty="0"/>
          </a:p>
        </p:txBody>
      </p:sp>
      <p:sp>
        <p:nvSpPr>
          <p:cNvPr id="18" name="Text 16"/>
          <p:cNvSpPr/>
          <p:nvPr/>
        </p:nvSpPr>
        <p:spPr>
          <a:xfrm>
            <a:off x="8161893" y="2827021"/>
            <a:ext cx="31045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V$OPEN_CURSOR</a:t>
            </a:r>
            <a:endParaRPr lang="en-US" sz="1200" dirty="0"/>
          </a:p>
        </p:txBody>
      </p:sp>
      <p:sp>
        <p:nvSpPr>
          <p:cNvPr id="19" name="Text 17"/>
          <p:cNvSpPr/>
          <p:nvPr/>
        </p:nvSpPr>
        <p:spPr>
          <a:xfrm>
            <a:off x="812800" y="3472179"/>
            <a:ext cx="5207000" cy="1137920"/>
          </a:xfrm>
          <a:prstGeom prst="rect">
            <a:avLst/>
          </a:prstGeom>
          <a:solidFill>
            <a:srgbClr val="0F1B2D"/>
          </a:solidFill>
          <a:ln/>
        </p:spPr>
        <p:txBody>
          <a:bodyPr wrap="square" lIns="177800" tIns="127000" rIns="32258" bIns="1016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-- 3 hard parse, 3 cursori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WHERE cliente_id = 101</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WHERE cliente_id = 102</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WHERE cliente_id = 103</a:t>
            </a:r>
            <a:endParaRPr lang="en-US" sz="1200" dirty="0"/>
          </a:p>
        </p:txBody>
      </p:sp>
      <p:sp>
        <p:nvSpPr>
          <p:cNvPr id="20" name="Text 18"/>
          <p:cNvSpPr/>
          <p:nvPr/>
        </p:nvSpPr>
        <p:spPr>
          <a:xfrm>
            <a:off x="6172200" y="3472179"/>
            <a:ext cx="5207000" cy="1137920"/>
          </a:xfrm>
          <a:prstGeom prst="rect">
            <a:avLst/>
          </a:prstGeom>
          <a:solidFill>
            <a:srgbClr val="0F1B2D"/>
          </a:solidFill>
          <a:ln/>
        </p:spPr>
        <p:txBody>
          <a:bodyPr wrap="square" lIns="177800" tIns="127000" rIns="32258" bIns="1016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-- 1 hard parse, cursore riusato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WHERE cliente_id = :id</a:t>
            </a:r>
            <a:endParaRPr lang="en-US" sz="12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05081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03</a:t>
            </a:r>
            <a:endParaRPr lang="en-US" sz="1400" dirty="0"/>
          </a:p>
        </p:txBody>
      </p:sp>
      <p:sp>
        <p:nvSpPr>
          <p:cNvPr id="3" name="Text 1"/>
          <p:cNvSpPr/>
          <p:nvPr/>
        </p:nvSpPr>
        <p:spPr>
          <a:xfrm>
            <a:off x="812800" y="2502936"/>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MATTINA · TEORIA</a:t>
            </a:r>
            <a:endParaRPr lang="en-US" sz="1200" dirty="0"/>
          </a:p>
        </p:txBody>
      </p:sp>
      <p:sp>
        <p:nvSpPr>
          <p:cNvPr id="4" name="Text 2"/>
          <p:cNvSpPr>
            <a:spLocks noGrp="1"/>
          </p:cNvSpPr>
          <p:nvPr>
            <p:ph type="title"/>
          </p:nvPr>
        </p:nvSpPr>
        <p:spPr>
          <a:xfrm>
            <a:off x="812800" y="2919493"/>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Metodologie</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di monitoraggio</a:t>
            </a:r>
            <a:endParaRPr lang="en-US" sz="5200" dirty="0"/>
          </a:p>
        </p:txBody>
      </p:sp>
      <p:sp>
        <p:nvSpPr>
          <p:cNvPr id="5" name="Text 3"/>
          <p:cNvSpPr/>
          <p:nvPr/>
        </p:nvSpPr>
        <p:spPr>
          <a:xfrm>
            <a:off x="812800" y="4522707"/>
            <a:ext cx="78486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Navigare il Data Dictionary e le viste dinamiche di performance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METODOLOGIE</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Data Dictionary </a:t>
            </a:r>
            <a:r>
              <a:rPr lang="en-US" sz="3000" b="1" i="0" kern="0" spc="-60" dirty="0">
                <a:solidFill>
                  <a:srgbClr val="2E6BD1"/>
                </a:solidFill>
                <a:latin typeface="Inter" pitchFamily="34" charset="0"/>
                <a:ea typeface="Inter" pitchFamily="34" charset="-122"/>
                <a:cs typeface="Inter" pitchFamily="34" charset="-120"/>
              </a:rPr>
              <a:t>vs viste dinamiche</a:t>
            </a:r>
            <a:endParaRPr lang="en-US" sz="3000" dirty="0"/>
          </a:p>
        </p:txBody>
      </p:sp>
      <p:sp>
        <p:nvSpPr>
          <p:cNvPr id="4" name="Shape 2"/>
          <p:cNvSpPr/>
          <p:nvPr/>
        </p:nvSpPr>
        <p:spPr>
          <a:xfrm>
            <a:off x="812800" y="1800864"/>
            <a:ext cx="5130800" cy="1945640"/>
          </a:xfrm>
          <a:prstGeom prst="rect">
            <a:avLst/>
          </a:prstGeom>
          <a:solidFill>
            <a:srgbClr val="FFFFFF"/>
          </a:solidFill>
          <a:ln/>
        </p:spPr>
        <p:txBody>
          <a:bodyPr/>
          <a:lstStyle/>
          <a:p>
            <a:endParaRPr lang="it-IT"/>
          </a:p>
        </p:txBody>
      </p:sp>
      <p:sp>
        <p:nvSpPr>
          <p:cNvPr id="5" name="Shape 3"/>
          <p:cNvSpPr/>
          <p:nvPr/>
        </p:nvSpPr>
        <p:spPr>
          <a:xfrm>
            <a:off x="812800" y="1813564"/>
            <a:ext cx="5130800" cy="0"/>
          </a:xfrm>
          <a:prstGeom prst="line">
            <a:avLst/>
          </a:prstGeom>
          <a:noFill/>
          <a:ln w="25400">
            <a:solidFill>
              <a:srgbClr val="0F1B2D"/>
            </a:solidFill>
            <a:prstDash val="solid"/>
          </a:ln>
        </p:spPr>
        <p:txBody>
          <a:bodyPr/>
          <a:lstStyle/>
          <a:p>
            <a:endParaRPr lang="it-IT"/>
          </a:p>
        </p:txBody>
      </p:sp>
      <p:sp>
        <p:nvSpPr>
          <p:cNvPr id="6" name="Text 4"/>
          <p:cNvSpPr/>
          <p:nvPr/>
        </p:nvSpPr>
        <p:spPr>
          <a:xfrm>
            <a:off x="1066800" y="2080264"/>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STATICHE · DBA_ / ALL_ / USER_</a:t>
            </a:r>
            <a:endParaRPr lang="en-US" sz="1200" dirty="0"/>
          </a:p>
        </p:txBody>
      </p:sp>
      <p:sp>
        <p:nvSpPr>
          <p:cNvPr id="7" name="Text 5"/>
          <p:cNvSpPr/>
          <p:nvPr/>
        </p:nvSpPr>
        <p:spPr>
          <a:xfrm>
            <a:off x="1066800" y="2420621"/>
            <a:ext cx="476148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nter" pitchFamily="34" charset="0"/>
                <a:ea typeface="Inter" pitchFamily="34" charset="-122"/>
                <a:cs typeface="Inter" pitchFamily="34" charset="-120"/>
              </a:rPr>
              <a:t>Com’è fatto il database</a:t>
            </a:r>
            <a:endParaRPr lang="en-US" sz="1700" dirty="0"/>
          </a:p>
        </p:txBody>
      </p:sp>
      <p:sp>
        <p:nvSpPr>
          <p:cNvPr id="8" name="Text 6"/>
          <p:cNvSpPr/>
          <p:nvPr/>
        </p:nvSpPr>
        <p:spPr>
          <a:xfrm>
            <a:off x="1171956" y="2806700"/>
            <a:ext cx="4648708" cy="711200"/>
          </a:xfrm>
          <a:prstGeom prst="rect">
            <a:avLst/>
          </a:prstGeom>
          <a:noFill/>
          <a:ln/>
        </p:spPr>
        <p:txBody>
          <a:bodyPr wrap="square" lIns="0" tIns="0" rIns="0" bIns="0" rtlCol="0" anchor="t">
            <a:normAutofit/>
          </a:bodyPr>
          <a:lstStyle/>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Oggetti, utenti, tablespace, statistiche</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Persistenti, salvate nel database</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Es. DBA_TABLES, DBA_INDEXES, DBA_TAB_STATISTICS</a:t>
            </a:r>
            <a:endParaRPr lang="en-US" sz="1200" dirty="0"/>
          </a:p>
        </p:txBody>
      </p:sp>
      <p:sp>
        <p:nvSpPr>
          <p:cNvPr id="9" name="Shape 7"/>
          <p:cNvSpPr/>
          <p:nvPr/>
        </p:nvSpPr>
        <p:spPr>
          <a:xfrm>
            <a:off x="6248400" y="1800864"/>
            <a:ext cx="5130800" cy="1945640"/>
          </a:xfrm>
          <a:prstGeom prst="rect">
            <a:avLst/>
          </a:prstGeom>
          <a:solidFill>
            <a:srgbClr val="FFFFFF"/>
          </a:solidFill>
          <a:ln/>
        </p:spPr>
        <p:txBody>
          <a:bodyPr/>
          <a:lstStyle/>
          <a:p>
            <a:endParaRPr lang="it-IT"/>
          </a:p>
        </p:txBody>
      </p:sp>
      <p:sp>
        <p:nvSpPr>
          <p:cNvPr id="10" name="Shape 8"/>
          <p:cNvSpPr/>
          <p:nvPr/>
        </p:nvSpPr>
        <p:spPr>
          <a:xfrm>
            <a:off x="6248400" y="1813564"/>
            <a:ext cx="5130800" cy="0"/>
          </a:xfrm>
          <a:prstGeom prst="line">
            <a:avLst/>
          </a:prstGeom>
          <a:noFill/>
          <a:ln w="25400">
            <a:solidFill>
              <a:srgbClr val="2E6BD1"/>
            </a:solidFill>
            <a:prstDash val="solid"/>
          </a:ln>
        </p:spPr>
        <p:txBody>
          <a:bodyPr/>
          <a:lstStyle/>
          <a:p>
            <a:endParaRPr lang="it-IT"/>
          </a:p>
        </p:txBody>
      </p:sp>
      <p:sp>
        <p:nvSpPr>
          <p:cNvPr id="11" name="Text 9"/>
          <p:cNvSpPr/>
          <p:nvPr/>
        </p:nvSpPr>
        <p:spPr>
          <a:xfrm>
            <a:off x="6502400" y="2080264"/>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DINAMICHE · V$ / GV$</a:t>
            </a:r>
            <a:endParaRPr lang="en-US" sz="1200" dirty="0"/>
          </a:p>
        </p:txBody>
      </p:sp>
      <p:sp>
        <p:nvSpPr>
          <p:cNvPr id="12" name="Text 10"/>
          <p:cNvSpPr/>
          <p:nvPr/>
        </p:nvSpPr>
        <p:spPr>
          <a:xfrm>
            <a:off x="6502400" y="2420621"/>
            <a:ext cx="476148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nter" pitchFamily="34" charset="0"/>
                <a:ea typeface="Inter" pitchFamily="34" charset="-122"/>
                <a:cs typeface="Inter" pitchFamily="34" charset="-120"/>
              </a:rPr>
              <a:t>Cosa sta succedendo ora</a:t>
            </a:r>
            <a:endParaRPr lang="en-US" sz="1700" dirty="0"/>
          </a:p>
        </p:txBody>
      </p:sp>
      <p:sp>
        <p:nvSpPr>
          <p:cNvPr id="13" name="Text 11"/>
          <p:cNvSpPr/>
          <p:nvPr/>
        </p:nvSpPr>
        <p:spPr>
          <a:xfrm>
            <a:off x="6607556" y="2806700"/>
            <a:ext cx="4648708" cy="711200"/>
          </a:xfrm>
          <a:prstGeom prst="rect">
            <a:avLst/>
          </a:prstGeom>
          <a:noFill/>
          <a:ln/>
        </p:spPr>
        <p:txBody>
          <a:bodyPr wrap="square" lIns="0" tIns="0" rIns="0" bIns="0" rtlCol="0" anchor="t">
            <a:normAutofit/>
          </a:bodyPr>
          <a:lstStyle/>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Sessioni, attese, SQL in memoria, statistiche</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Lette dalla memoria dell’istanza</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Azzerate al riavvio · GV$ per RAC</a:t>
            </a:r>
            <a:endParaRPr lang="en-US" sz="1200" dirty="0"/>
          </a:p>
        </p:txBody>
      </p:sp>
      <p:sp>
        <p:nvSpPr>
          <p:cNvPr id="14" name="Text 12"/>
          <p:cNvSpPr/>
          <p:nvPr/>
        </p:nvSpPr>
        <p:spPr>
          <a:xfrm>
            <a:off x="812800" y="4000500"/>
            <a:ext cx="10566400" cy="695960"/>
          </a:xfrm>
          <a:prstGeom prst="rect">
            <a:avLst/>
          </a:prstGeom>
          <a:solidFill>
            <a:srgbClr val="0F1B2D"/>
          </a:solidFill>
          <a:ln/>
        </p:spPr>
        <p:txBody>
          <a:bodyPr wrap="square" lIns="203200" tIns="127000" rIns="0" bIns="1016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Il dizionario dei dizionari: trovare la vista giusta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table_name, comments FROM dictionary WHERE table_name LIKE 'V$SESS%';</a:t>
            </a:r>
            <a:endParaRPr lang="en-US" sz="12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METODOLOGIE</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Le viste </a:t>
            </a:r>
            <a:r>
              <a:rPr lang="en-US" sz="3000" b="1" i="0" kern="0" spc="-60" dirty="0">
                <a:solidFill>
                  <a:srgbClr val="2E6BD1"/>
                </a:solidFill>
                <a:latin typeface="Inter" pitchFamily="34" charset="0"/>
                <a:ea typeface="Inter" pitchFamily="34" charset="-122"/>
                <a:cs typeface="Inter" pitchFamily="34" charset="-120"/>
              </a:rPr>
              <a:t>che useremo oggi</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18"/>
          <a:ext cx="10556241" cy="2641600"/>
        </p:xfrm>
        <a:graphic>
          <a:graphicData uri="http://schemas.openxmlformats.org/drawingml/2006/table">
            <a:tbl>
              <a:tblPr/>
              <a:tblGrid>
                <a:gridCol w="3589122">
                  <a:extLst>
                    <a:ext uri="{9D8B030D-6E8A-4147-A177-3AD203B41FA5}">
                      <a16:colId xmlns:a16="http://schemas.microsoft.com/office/drawing/2014/main" val="20000"/>
                    </a:ext>
                  </a:extLst>
                </a:gridCol>
                <a:gridCol w="4644746">
                  <a:extLst>
                    <a:ext uri="{9D8B030D-6E8A-4147-A177-3AD203B41FA5}">
                      <a16:colId xmlns:a16="http://schemas.microsoft.com/office/drawing/2014/main" val="20001"/>
                    </a:ext>
                  </a:extLst>
                </a:gridCol>
                <a:gridCol w="2322373">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Vista</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Risponde a</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Layer</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V$SESSION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Chi è connesso, cosa fa, su cosa aspetta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Istanza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V$SESSTAT + V$STATNAME</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Quanta CPU, PGA, I/O consuma una sessione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Istanza / OS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V$SQL</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Quale SQL, quante esecuzioni, quanto costa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SQL</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V$SYSTEM_EVENT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Le attese cumulative dall’avvio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Istanza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V$ACTIVE_SESSION_HISTORY</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Cosa è successo negli ultimi minuti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Tutti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V$OSSTAT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CPU e carico visti dal sistema operativo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OS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V$SGAINFO · V$PGASTAT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Come è distribuita la memoria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Istanza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METODOLOGIE</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Dal sintomo </a:t>
            </a:r>
            <a:r>
              <a:rPr lang="en-US" sz="3000" b="1" i="0" kern="0" spc="-60" dirty="0">
                <a:solidFill>
                  <a:srgbClr val="2E6BD1"/>
                </a:solidFill>
                <a:latin typeface="Inter" pitchFamily="34" charset="0"/>
                <a:ea typeface="Inter" pitchFamily="34" charset="-122"/>
                <a:cs typeface="Inter" pitchFamily="34" charset="-120"/>
              </a:rPr>
              <a:t>alla riga di codice</a:t>
            </a:r>
            <a:endParaRPr lang="en-US" sz="3000" dirty="0"/>
          </a:p>
        </p:txBody>
      </p:sp>
      <p:sp>
        <p:nvSpPr>
          <p:cNvPr id="4" name="Shape 2"/>
          <p:cNvSpPr/>
          <p:nvPr/>
        </p:nvSpPr>
        <p:spPr>
          <a:xfrm>
            <a:off x="812800" y="1851658"/>
            <a:ext cx="2113280" cy="1666240"/>
          </a:xfrm>
          <a:prstGeom prst="rect">
            <a:avLst/>
          </a:prstGeom>
          <a:solidFill>
            <a:srgbClr val="FFFFFF"/>
          </a:solidFill>
          <a:ln/>
        </p:spPr>
        <p:txBody>
          <a:bodyPr/>
          <a:lstStyle/>
          <a:p>
            <a:endParaRPr lang="it-IT"/>
          </a:p>
        </p:txBody>
      </p:sp>
      <p:sp>
        <p:nvSpPr>
          <p:cNvPr id="5" name="Shape 3"/>
          <p:cNvSpPr/>
          <p:nvPr/>
        </p:nvSpPr>
        <p:spPr>
          <a:xfrm>
            <a:off x="812800" y="1864358"/>
            <a:ext cx="2113280" cy="0"/>
          </a:xfrm>
          <a:prstGeom prst="line">
            <a:avLst/>
          </a:prstGeom>
          <a:noFill/>
          <a:ln w="25400">
            <a:solidFill>
              <a:srgbClr val="2E6BD1"/>
            </a:solidFill>
            <a:prstDash val="solid"/>
          </a:ln>
        </p:spPr>
        <p:txBody>
          <a:bodyPr/>
          <a:lstStyle/>
          <a:p>
            <a:endParaRPr lang="it-IT"/>
          </a:p>
        </p:txBody>
      </p:sp>
      <p:sp>
        <p:nvSpPr>
          <p:cNvPr id="6" name="Text 4"/>
          <p:cNvSpPr/>
          <p:nvPr/>
        </p:nvSpPr>
        <p:spPr>
          <a:xfrm>
            <a:off x="101600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STEP 01</a:t>
            </a:r>
            <a:endParaRPr lang="en-US" sz="1200" dirty="0"/>
          </a:p>
        </p:txBody>
      </p:sp>
      <p:sp>
        <p:nvSpPr>
          <p:cNvPr id="7" name="Text 5"/>
          <p:cNvSpPr/>
          <p:nvPr/>
        </p:nvSpPr>
        <p:spPr>
          <a:xfrm>
            <a:off x="1016000" y="2369827"/>
            <a:ext cx="1758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Sintomo</a:t>
            </a:r>
            <a:endParaRPr lang="en-US" sz="1500" dirty="0"/>
          </a:p>
        </p:txBody>
      </p:sp>
      <p:sp>
        <p:nvSpPr>
          <p:cNvPr id="8" name="Text 6"/>
          <p:cNvSpPr/>
          <p:nvPr/>
        </p:nvSpPr>
        <p:spPr>
          <a:xfrm>
            <a:off x="1016000" y="2674627"/>
            <a:ext cx="175808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“Il sistema è lento”, CPU alta, utenti bloccati</a:t>
            </a:r>
            <a:endParaRPr lang="en-US" sz="1200" dirty="0"/>
          </a:p>
        </p:txBody>
      </p:sp>
      <p:sp>
        <p:nvSpPr>
          <p:cNvPr id="9" name="Shape 7"/>
          <p:cNvSpPr/>
          <p:nvPr/>
        </p:nvSpPr>
        <p:spPr>
          <a:xfrm>
            <a:off x="2926080" y="1851658"/>
            <a:ext cx="2113280" cy="1666240"/>
          </a:xfrm>
          <a:prstGeom prst="rect">
            <a:avLst/>
          </a:prstGeom>
          <a:solidFill>
            <a:srgbClr val="FFFFFF"/>
          </a:solidFill>
          <a:ln/>
        </p:spPr>
        <p:txBody>
          <a:bodyPr/>
          <a:lstStyle/>
          <a:p>
            <a:endParaRPr lang="it-IT"/>
          </a:p>
        </p:txBody>
      </p:sp>
      <p:sp>
        <p:nvSpPr>
          <p:cNvPr id="10" name="Shape 8"/>
          <p:cNvSpPr/>
          <p:nvPr/>
        </p:nvSpPr>
        <p:spPr>
          <a:xfrm>
            <a:off x="2926080" y="1864358"/>
            <a:ext cx="2113280" cy="0"/>
          </a:xfrm>
          <a:prstGeom prst="line">
            <a:avLst/>
          </a:prstGeom>
          <a:noFill/>
          <a:ln w="25400">
            <a:solidFill>
              <a:srgbClr val="2E6BD1"/>
            </a:solidFill>
            <a:prstDash val="solid"/>
          </a:ln>
        </p:spPr>
        <p:txBody>
          <a:bodyPr/>
          <a:lstStyle/>
          <a:p>
            <a:endParaRPr lang="it-IT"/>
          </a:p>
        </p:txBody>
      </p:sp>
      <p:sp>
        <p:nvSpPr>
          <p:cNvPr id="11" name="Text 9"/>
          <p:cNvSpPr/>
          <p:nvPr/>
        </p:nvSpPr>
        <p:spPr>
          <a:xfrm>
            <a:off x="312928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STEP 02</a:t>
            </a:r>
            <a:endParaRPr lang="en-US" sz="1200" dirty="0"/>
          </a:p>
        </p:txBody>
      </p:sp>
      <p:sp>
        <p:nvSpPr>
          <p:cNvPr id="12" name="Text 10"/>
          <p:cNvSpPr/>
          <p:nvPr/>
        </p:nvSpPr>
        <p:spPr>
          <a:xfrm>
            <a:off x="3129280" y="2369827"/>
            <a:ext cx="1758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Sessione</a:t>
            </a:r>
            <a:endParaRPr lang="en-US" sz="1500" dirty="0"/>
          </a:p>
        </p:txBody>
      </p:sp>
      <p:sp>
        <p:nvSpPr>
          <p:cNvPr id="13" name="Text 11"/>
          <p:cNvSpPr/>
          <p:nvPr/>
        </p:nvSpPr>
        <p:spPr>
          <a:xfrm>
            <a:off x="3129280" y="2674627"/>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Chi è attivo? SID, SERIAL#, SQL_ID</a:t>
            </a:r>
            <a:endParaRPr lang="en-US" sz="1200" dirty="0"/>
          </a:p>
        </p:txBody>
      </p:sp>
      <p:sp>
        <p:nvSpPr>
          <p:cNvPr id="14" name="Shape 12"/>
          <p:cNvSpPr/>
          <p:nvPr/>
        </p:nvSpPr>
        <p:spPr>
          <a:xfrm>
            <a:off x="5039360" y="1851658"/>
            <a:ext cx="2113280" cy="1666240"/>
          </a:xfrm>
          <a:prstGeom prst="rect">
            <a:avLst/>
          </a:prstGeom>
          <a:solidFill>
            <a:srgbClr val="FFFFFF"/>
          </a:solidFill>
          <a:ln/>
        </p:spPr>
        <p:txBody>
          <a:bodyPr/>
          <a:lstStyle/>
          <a:p>
            <a:endParaRPr lang="it-IT"/>
          </a:p>
        </p:txBody>
      </p:sp>
      <p:sp>
        <p:nvSpPr>
          <p:cNvPr id="15" name="Shape 13"/>
          <p:cNvSpPr/>
          <p:nvPr/>
        </p:nvSpPr>
        <p:spPr>
          <a:xfrm>
            <a:off x="5039360" y="1864358"/>
            <a:ext cx="2113280" cy="0"/>
          </a:xfrm>
          <a:prstGeom prst="line">
            <a:avLst/>
          </a:prstGeom>
          <a:noFill/>
          <a:ln w="25400">
            <a:solidFill>
              <a:srgbClr val="2E6BD1"/>
            </a:solidFill>
            <a:prstDash val="solid"/>
          </a:ln>
        </p:spPr>
        <p:txBody>
          <a:bodyPr/>
          <a:lstStyle/>
          <a:p>
            <a:endParaRPr lang="it-IT"/>
          </a:p>
        </p:txBody>
      </p:sp>
      <p:sp>
        <p:nvSpPr>
          <p:cNvPr id="16" name="Text 14"/>
          <p:cNvSpPr/>
          <p:nvPr/>
        </p:nvSpPr>
        <p:spPr>
          <a:xfrm>
            <a:off x="524256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STEP 03</a:t>
            </a:r>
            <a:endParaRPr lang="en-US" sz="1200" dirty="0"/>
          </a:p>
        </p:txBody>
      </p:sp>
      <p:sp>
        <p:nvSpPr>
          <p:cNvPr id="17" name="Text 15"/>
          <p:cNvSpPr/>
          <p:nvPr/>
        </p:nvSpPr>
        <p:spPr>
          <a:xfrm>
            <a:off x="5242560" y="2369827"/>
            <a:ext cx="1758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Tempo</a:t>
            </a:r>
            <a:endParaRPr lang="en-US" sz="1500" dirty="0"/>
          </a:p>
        </p:txBody>
      </p:sp>
      <p:sp>
        <p:nvSpPr>
          <p:cNvPr id="18" name="Text 16"/>
          <p:cNvSpPr/>
          <p:nvPr/>
        </p:nvSpPr>
        <p:spPr>
          <a:xfrm>
            <a:off x="5242560" y="2674627"/>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Lavora (CPU) o aspetta (wait)?</a:t>
            </a:r>
            <a:endParaRPr lang="en-US" sz="1200" dirty="0"/>
          </a:p>
        </p:txBody>
      </p:sp>
      <p:sp>
        <p:nvSpPr>
          <p:cNvPr id="19" name="Shape 17"/>
          <p:cNvSpPr/>
          <p:nvPr/>
        </p:nvSpPr>
        <p:spPr>
          <a:xfrm>
            <a:off x="7152640" y="1851658"/>
            <a:ext cx="2113280" cy="1666240"/>
          </a:xfrm>
          <a:prstGeom prst="rect">
            <a:avLst/>
          </a:prstGeom>
          <a:solidFill>
            <a:srgbClr val="FFFFFF"/>
          </a:solidFill>
          <a:ln/>
        </p:spPr>
        <p:txBody>
          <a:bodyPr/>
          <a:lstStyle/>
          <a:p>
            <a:endParaRPr lang="it-IT"/>
          </a:p>
        </p:txBody>
      </p:sp>
      <p:sp>
        <p:nvSpPr>
          <p:cNvPr id="20" name="Shape 18"/>
          <p:cNvSpPr/>
          <p:nvPr/>
        </p:nvSpPr>
        <p:spPr>
          <a:xfrm>
            <a:off x="7152640" y="1864358"/>
            <a:ext cx="2113280" cy="0"/>
          </a:xfrm>
          <a:prstGeom prst="line">
            <a:avLst/>
          </a:prstGeom>
          <a:noFill/>
          <a:ln w="25400">
            <a:solidFill>
              <a:srgbClr val="2E6BD1"/>
            </a:solidFill>
            <a:prstDash val="solid"/>
          </a:ln>
        </p:spPr>
        <p:txBody>
          <a:bodyPr/>
          <a:lstStyle/>
          <a:p>
            <a:endParaRPr lang="it-IT"/>
          </a:p>
        </p:txBody>
      </p:sp>
      <p:sp>
        <p:nvSpPr>
          <p:cNvPr id="21" name="Text 19"/>
          <p:cNvSpPr/>
          <p:nvPr/>
        </p:nvSpPr>
        <p:spPr>
          <a:xfrm>
            <a:off x="735584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STEP 04</a:t>
            </a:r>
            <a:endParaRPr lang="en-US" sz="1200" dirty="0"/>
          </a:p>
        </p:txBody>
      </p:sp>
      <p:sp>
        <p:nvSpPr>
          <p:cNvPr id="22" name="Text 20"/>
          <p:cNvSpPr/>
          <p:nvPr/>
        </p:nvSpPr>
        <p:spPr>
          <a:xfrm>
            <a:off x="7355840" y="2369827"/>
            <a:ext cx="1758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nter" pitchFamily="34" charset="0"/>
                <a:ea typeface="Inter" pitchFamily="34" charset="-122"/>
                <a:cs typeface="Inter" pitchFamily="34" charset="-120"/>
              </a:rPr>
              <a:t>SQL</a:t>
            </a:r>
            <a:endParaRPr lang="en-US" sz="1500" dirty="0"/>
          </a:p>
        </p:txBody>
      </p:sp>
      <p:sp>
        <p:nvSpPr>
          <p:cNvPr id="23" name="Text 21"/>
          <p:cNvSpPr/>
          <p:nvPr/>
        </p:nvSpPr>
        <p:spPr>
          <a:xfrm>
            <a:off x="7355840" y="2674627"/>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Testo, esecuzioni e piano</a:t>
            </a:r>
            <a:endParaRPr lang="en-US" sz="1200" dirty="0"/>
          </a:p>
        </p:txBody>
      </p:sp>
      <p:sp>
        <p:nvSpPr>
          <p:cNvPr id="24" name="Shape 22"/>
          <p:cNvSpPr/>
          <p:nvPr/>
        </p:nvSpPr>
        <p:spPr>
          <a:xfrm>
            <a:off x="9265920" y="1851658"/>
            <a:ext cx="2113280" cy="1666240"/>
          </a:xfrm>
          <a:prstGeom prst="rect">
            <a:avLst/>
          </a:prstGeom>
          <a:solidFill>
            <a:srgbClr val="0F1B2D"/>
          </a:solidFill>
          <a:ln/>
        </p:spPr>
        <p:txBody>
          <a:bodyPr/>
          <a:lstStyle/>
          <a:p>
            <a:endParaRPr lang="it-IT"/>
          </a:p>
        </p:txBody>
      </p:sp>
      <p:sp>
        <p:nvSpPr>
          <p:cNvPr id="25" name="Shape 23"/>
          <p:cNvSpPr/>
          <p:nvPr/>
        </p:nvSpPr>
        <p:spPr>
          <a:xfrm>
            <a:off x="9265920" y="1864358"/>
            <a:ext cx="2113280" cy="0"/>
          </a:xfrm>
          <a:prstGeom prst="line">
            <a:avLst/>
          </a:prstGeom>
          <a:noFill/>
          <a:ln w="25400">
            <a:solidFill>
              <a:srgbClr val="2E6BD1"/>
            </a:solidFill>
            <a:prstDash val="solid"/>
          </a:ln>
        </p:spPr>
        <p:txBody>
          <a:bodyPr/>
          <a:lstStyle/>
          <a:p>
            <a:endParaRPr lang="it-IT"/>
          </a:p>
        </p:txBody>
      </p:sp>
      <p:sp>
        <p:nvSpPr>
          <p:cNvPr id="26" name="Text 24"/>
          <p:cNvSpPr/>
          <p:nvPr/>
        </p:nvSpPr>
        <p:spPr>
          <a:xfrm>
            <a:off x="946912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STEP 05</a:t>
            </a:r>
            <a:endParaRPr lang="en-US" sz="1200" dirty="0"/>
          </a:p>
        </p:txBody>
      </p:sp>
      <p:sp>
        <p:nvSpPr>
          <p:cNvPr id="27" name="Text 25"/>
          <p:cNvSpPr/>
          <p:nvPr/>
        </p:nvSpPr>
        <p:spPr>
          <a:xfrm>
            <a:off x="9469120" y="2369827"/>
            <a:ext cx="17580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Azione</a:t>
            </a:r>
            <a:endParaRPr lang="en-US" sz="1500" dirty="0"/>
          </a:p>
        </p:txBody>
      </p:sp>
      <p:sp>
        <p:nvSpPr>
          <p:cNvPr id="28" name="Text 26"/>
          <p:cNvSpPr/>
          <p:nvPr/>
        </p:nvSpPr>
        <p:spPr>
          <a:xfrm>
            <a:off x="9469120" y="2674627"/>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8"/>
                </a:solidFill>
                <a:latin typeface="Inter" pitchFamily="34" charset="0"/>
                <a:ea typeface="Inter" pitchFamily="34" charset="-122"/>
                <a:cs typeface="Inter" pitchFamily="34" charset="-120"/>
              </a:rPr>
              <a:t>Kill, commit, fix del codice, indice</a:t>
            </a:r>
            <a:endParaRPr lang="en-US" sz="1200" dirty="0"/>
          </a:p>
        </p:txBody>
      </p:sp>
      <p:sp>
        <p:nvSpPr>
          <p:cNvPr id="29" name="Text 27"/>
          <p:cNvSpPr/>
          <p:nvPr/>
        </p:nvSpPr>
        <p:spPr>
          <a:xfrm>
            <a:off x="812800" y="3822700"/>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3D4B5E"/>
                </a:solidFill>
                <a:latin typeface="Inter" pitchFamily="34" charset="0"/>
                <a:ea typeface="Inter" pitchFamily="34" charset="-122"/>
                <a:cs typeface="Inter" pitchFamily="34" charset="-120"/>
              </a:rPr>
              <a:t>Ogni passo restringe il campo. Si misura prima di intervenire: niente tuning “a sensazione”.</a:t>
            </a:r>
            <a:endParaRPr lang="en-US" sz="1300" dirty="0"/>
          </a:p>
        </p:txBody>
      </p:sp>
      <p:sp>
        <p:nvSpPr>
          <p:cNvPr id="30" name="Text 2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CE5F2"/>
        </a:solidFill>
        <a:effectLst/>
      </p:bgPr>
    </p:bg>
    <p:spTree>
      <p:nvGrpSpPr>
        <p:cNvPr id="1" name=""/>
        <p:cNvGrpSpPr/>
        <p:nvPr/>
      </p:nvGrpSpPr>
      <p:grpSpPr>
        <a:xfrm>
          <a:off x="0" y="0"/>
          <a:ext cx="0" cy="0"/>
          <a:chOff x="0" y="0"/>
          <a:chExt cx="0" cy="0"/>
        </a:xfrm>
      </p:grpSpPr>
      <p:sp>
        <p:nvSpPr>
          <p:cNvPr id="2" name="Text 0"/>
          <p:cNvSpPr/>
          <p:nvPr/>
        </p:nvSpPr>
        <p:spPr>
          <a:xfrm>
            <a:off x="812800" y="19085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4C9C"/>
                </a:solidFill>
                <a:latin typeface="Inter" pitchFamily="34" charset="0"/>
                <a:ea typeface="Inter" pitchFamily="34" charset="-122"/>
                <a:cs typeface="Inter" pitchFamily="34" charset="-120"/>
              </a:rPr>
              <a:t>LAB</a:t>
            </a:r>
            <a:endParaRPr lang="en-US" sz="1400" dirty="0"/>
          </a:p>
        </p:txBody>
      </p:sp>
      <p:sp>
        <p:nvSpPr>
          <p:cNvPr id="3" name="Text 1"/>
          <p:cNvSpPr/>
          <p:nvPr/>
        </p:nvSpPr>
        <p:spPr>
          <a:xfrm>
            <a:off x="812800" y="236069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4B5A6E"/>
                </a:solidFill>
                <a:latin typeface="Inter" pitchFamily="34" charset="0"/>
                <a:ea typeface="Inter" pitchFamily="34" charset="-122"/>
                <a:cs typeface="Inter" pitchFamily="34" charset="-120"/>
              </a:rPr>
              <a:t>MATTINA · HANDS-ON · 1–2 H</a:t>
            </a:r>
            <a:endParaRPr lang="en-US" sz="1200" dirty="0"/>
          </a:p>
        </p:txBody>
      </p:sp>
      <p:sp>
        <p:nvSpPr>
          <p:cNvPr id="4" name="Text 2"/>
          <p:cNvSpPr>
            <a:spLocks noGrp="1"/>
          </p:cNvSpPr>
          <p:nvPr>
            <p:ph type="title"/>
          </p:nvPr>
        </p:nvSpPr>
        <p:spPr>
          <a:xfrm>
            <a:off x="812800" y="277725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1B4C9C"/>
                </a:solidFill>
                <a:latin typeface="Inter" pitchFamily="34" charset="0"/>
                <a:ea typeface="Inter" pitchFamily="34" charset="-122"/>
                <a:cs typeface="Inter" pitchFamily="34" charset="-120"/>
              </a:rPr>
              <a:t>Esplorazione guidata</a:t>
            </a:r>
            <a:endParaRPr lang="en-US" sz="5200" dirty="0"/>
          </a:p>
          <a:p>
            <a:pPr marL="0" indent="0" algn="l">
              <a:lnSpc>
                <a:spcPts val="5512"/>
              </a:lnSpc>
              <a:buNone/>
            </a:pPr>
            <a:r>
              <a:rPr lang="en-US" sz="5200" b="1" i="0" kern="0" spc="-105" dirty="0">
                <a:solidFill>
                  <a:srgbClr val="0F1B2D"/>
                </a:solidFill>
                <a:latin typeface="Inter" pitchFamily="34" charset="0"/>
                <a:ea typeface="Inter" pitchFamily="34" charset="-122"/>
                <a:cs typeface="Inter" pitchFamily="34" charset="-120"/>
              </a:rPr>
              <a:t>dell’architettura</a:t>
            </a:r>
            <a:endParaRPr lang="en-US" sz="5200" dirty="0"/>
          </a:p>
        </p:txBody>
      </p:sp>
      <p:sp>
        <p:nvSpPr>
          <p:cNvPr id="5" name="Text 3"/>
          <p:cNvSpPr/>
          <p:nvPr/>
        </p:nvSpPr>
        <p:spPr>
          <a:xfrm>
            <a:off x="812800" y="4380471"/>
            <a:ext cx="85026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B5E"/>
                </a:solidFill>
                <a:latin typeface="Inter" pitchFamily="34" charset="0"/>
                <a:ea typeface="Inter" pitchFamily="34" charset="-122"/>
                <a:cs typeface="Inter" pitchFamily="34" charset="-120"/>
              </a:rPr>
              <a:t>Setup · Lab 1: consumo di CPU e memoria delle sessioni attive · Lab 2: wait events e lock</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SETUP</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Oracle XE </a:t>
            </a:r>
            <a:r>
              <a:rPr lang="en-US" sz="3000" b="1" i="0" kern="0" spc="-60" dirty="0">
                <a:solidFill>
                  <a:srgbClr val="2E6BD1"/>
                </a:solidFill>
                <a:latin typeface="Inter" pitchFamily="34" charset="0"/>
                <a:ea typeface="Inter" pitchFamily="34" charset="-122"/>
                <a:cs typeface="Inter" pitchFamily="34" charset="-120"/>
              </a:rPr>
              <a:t>in Docker</a:t>
            </a:r>
            <a:endParaRPr lang="en-US" sz="3000" dirty="0"/>
          </a:p>
        </p:txBody>
      </p:sp>
      <p:sp>
        <p:nvSpPr>
          <p:cNvPr id="4" name="Text 2"/>
          <p:cNvSpPr/>
          <p:nvPr/>
        </p:nvSpPr>
        <p:spPr>
          <a:xfrm>
            <a:off x="812800" y="1811027"/>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01</a:t>
            </a:r>
            <a:endParaRPr lang="en-US" sz="1200" dirty="0"/>
          </a:p>
        </p:txBody>
      </p:sp>
      <p:sp>
        <p:nvSpPr>
          <p:cNvPr id="5" name="Text 3"/>
          <p:cNvSpPr/>
          <p:nvPr/>
        </p:nvSpPr>
        <p:spPr>
          <a:xfrm>
            <a:off x="1295400" y="1800858"/>
            <a:ext cx="562483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nter" pitchFamily="34" charset="0"/>
                <a:ea typeface="Inter" pitchFamily="34" charset="-122"/>
                <a:cs typeface="Inter" pitchFamily="34" charset="-120"/>
              </a:rPr>
              <a:t>Installa Docker Desktop (docker.com/products/docker-desktop)</a:t>
            </a:r>
            <a:endParaRPr lang="en-US" sz="1300" dirty="0"/>
          </a:p>
        </p:txBody>
      </p:sp>
      <p:sp>
        <p:nvSpPr>
          <p:cNvPr id="6" name="Text 4"/>
          <p:cNvSpPr/>
          <p:nvPr/>
        </p:nvSpPr>
        <p:spPr>
          <a:xfrm>
            <a:off x="812800" y="2169158"/>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02</a:t>
            </a:r>
            <a:endParaRPr lang="en-US" sz="1200" dirty="0"/>
          </a:p>
        </p:txBody>
      </p:sp>
      <p:sp>
        <p:nvSpPr>
          <p:cNvPr id="7" name="Text 5"/>
          <p:cNvSpPr/>
          <p:nvPr/>
        </p:nvSpPr>
        <p:spPr>
          <a:xfrm>
            <a:off x="1295400" y="2159000"/>
            <a:ext cx="562483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nter" pitchFamily="34" charset="0"/>
                <a:ea typeface="Inter" pitchFamily="34" charset="-122"/>
                <a:cs typeface="Inter" pitchFamily="34" charset="-120"/>
              </a:rPr>
              <a:t>Crea una cartella e copia il file docker-</a:t>
            </a:r>
            <a:r>
              <a:rPr lang="en-US" sz="1300" dirty="0" err="1">
                <a:solidFill>
                  <a:srgbClr val="0F1B2D"/>
                </a:solidFill>
                <a:latin typeface="Inter" pitchFamily="34" charset="0"/>
                <a:ea typeface="Inter" pitchFamily="34" charset="-122"/>
                <a:cs typeface="Inter" pitchFamily="34" charset="-120"/>
              </a:rPr>
              <a:t>compose.yaml</a:t>
            </a:r>
            <a:r>
              <a:rPr lang="en-US" sz="1300" dirty="0">
                <a:solidFill>
                  <a:srgbClr val="0F1B2D"/>
                </a:solidFill>
                <a:latin typeface="Inter" pitchFamily="34" charset="0"/>
                <a:ea typeface="Inter" pitchFamily="34" charset="-122"/>
                <a:cs typeface="Inter" pitchFamily="34" charset="-120"/>
              </a:rPr>
              <a:t> </a:t>
            </a:r>
            <a:r>
              <a:rPr lang="en-US" sz="1300" dirty="0" err="1">
                <a:solidFill>
                  <a:srgbClr val="0F1B2D"/>
                </a:solidFill>
                <a:latin typeface="Inter" pitchFamily="34" charset="0"/>
                <a:ea typeface="Inter" pitchFamily="34" charset="-122"/>
                <a:cs typeface="Inter" pitchFamily="34" charset="-120"/>
              </a:rPr>
              <a:t>condiviso</a:t>
            </a:r>
            <a:endParaRPr lang="en-US" sz="1300" dirty="0"/>
          </a:p>
        </p:txBody>
      </p:sp>
      <p:sp>
        <p:nvSpPr>
          <p:cNvPr id="8" name="Text 6"/>
          <p:cNvSpPr/>
          <p:nvPr/>
        </p:nvSpPr>
        <p:spPr>
          <a:xfrm>
            <a:off x="812800" y="2527300"/>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03</a:t>
            </a:r>
            <a:endParaRPr lang="en-US" sz="1200" dirty="0"/>
          </a:p>
        </p:txBody>
      </p:sp>
      <p:sp>
        <p:nvSpPr>
          <p:cNvPr id="9" name="Text 7"/>
          <p:cNvSpPr/>
          <p:nvPr/>
        </p:nvSpPr>
        <p:spPr>
          <a:xfrm>
            <a:off x="1295400" y="2517142"/>
            <a:ext cx="562483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D"/>
                </a:solidFill>
                <a:latin typeface="Inter" pitchFamily="34" charset="0"/>
                <a:ea typeface="Inter" pitchFamily="34" charset="-122"/>
                <a:cs typeface="Inter" pitchFamily="34" charset="-120"/>
              </a:rPr>
              <a:t>Avvia il container e </a:t>
            </a:r>
            <a:r>
              <a:rPr lang="en-US" sz="1300" dirty="0" err="1">
                <a:solidFill>
                  <a:srgbClr val="0F1B2D"/>
                </a:solidFill>
                <a:latin typeface="Inter" pitchFamily="34" charset="0"/>
                <a:ea typeface="Inter" pitchFamily="34" charset="-122"/>
                <a:cs typeface="Inter" pitchFamily="34" charset="-120"/>
              </a:rPr>
              <a:t>attendi</a:t>
            </a:r>
            <a:r>
              <a:rPr lang="en-US" sz="1300" dirty="0">
                <a:solidFill>
                  <a:srgbClr val="0F1B2D"/>
                </a:solidFill>
                <a:latin typeface="Inter" pitchFamily="34" charset="0"/>
                <a:ea typeface="Inter" pitchFamily="34" charset="-122"/>
                <a:cs typeface="Inter" pitchFamily="34" charset="-120"/>
              </a:rPr>
              <a:t> la fine </a:t>
            </a:r>
            <a:r>
              <a:rPr lang="en-US" sz="1300" dirty="0" err="1">
                <a:solidFill>
                  <a:srgbClr val="0F1B2D"/>
                </a:solidFill>
                <a:latin typeface="Inter" pitchFamily="34" charset="0"/>
                <a:ea typeface="Inter" pitchFamily="34" charset="-122"/>
                <a:cs typeface="Inter" pitchFamily="34" charset="-120"/>
              </a:rPr>
              <a:t>dell’installazione</a:t>
            </a:r>
            <a:endParaRPr lang="en-US" sz="1300" dirty="0"/>
          </a:p>
        </p:txBody>
      </p:sp>
      <p:sp>
        <p:nvSpPr>
          <p:cNvPr id="10" name="Text 8"/>
          <p:cNvSpPr/>
          <p:nvPr/>
        </p:nvSpPr>
        <p:spPr>
          <a:xfrm>
            <a:off x="812800" y="2875285"/>
            <a:ext cx="5943600" cy="990600"/>
          </a:xfrm>
          <a:prstGeom prst="rect">
            <a:avLst/>
          </a:prstGeom>
          <a:solidFill>
            <a:srgbClr val="0F1B2D"/>
          </a:solidFill>
          <a:ln/>
        </p:spPr>
        <p:txBody>
          <a:bodyPr wrap="square" lIns="203200" tIns="152400" rIns="37084" bIns="127000" rtlCol="0" anchor="t">
            <a:normAutofit/>
          </a:bodyPr>
          <a:lstStyle/>
          <a:p>
            <a:pPr marL="0" indent="0" algn="l">
              <a:lnSpc>
                <a:spcPct val="100000"/>
              </a:lnSpc>
              <a:buNone/>
            </a:pPr>
            <a:r>
              <a:rPr lang="en-US" sz="1200" dirty="0">
                <a:solidFill>
                  <a:srgbClr val="F6F8FB"/>
                </a:solidFill>
                <a:latin typeface="JetBrains Mono" pitchFamily="49" charset="0"/>
                <a:ea typeface="JetBrains Mono" pitchFamily="49" charset="-122"/>
                <a:cs typeface="JetBrains Mono" pitchFamily="49" charset="-120"/>
              </a:rPr>
              <a:t>docker-compose –f docker-</a:t>
            </a:r>
            <a:r>
              <a:rPr lang="en-US" sz="1200" dirty="0" err="1">
                <a:solidFill>
                  <a:srgbClr val="F6F8FB"/>
                </a:solidFill>
                <a:latin typeface="JetBrains Mono" pitchFamily="49" charset="0"/>
                <a:ea typeface="JetBrains Mono" pitchFamily="49" charset="-122"/>
                <a:cs typeface="JetBrains Mono" pitchFamily="49" charset="-120"/>
              </a:rPr>
              <a:t>compose_oracle.yaml</a:t>
            </a:r>
            <a:r>
              <a:rPr lang="en-US" sz="1200" dirty="0">
                <a:solidFill>
                  <a:srgbClr val="F6F8FB"/>
                </a:solidFill>
                <a:latin typeface="JetBrains Mono" pitchFamily="49" charset="0"/>
                <a:ea typeface="JetBrains Mono" pitchFamily="49" charset="-122"/>
                <a:cs typeface="JetBrains Mono" pitchFamily="49" charset="-120"/>
              </a:rPr>
              <a:t> up -d</a:t>
            </a:r>
            <a:endParaRPr lang="en-US" sz="1200" dirty="0"/>
          </a:p>
          <a:p>
            <a:r>
              <a:rPr lang="it-IT" sz="1200" dirty="0" err="1">
                <a:solidFill>
                  <a:srgbClr val="F6F8FB"/>
                </a:solidFill>
                <a:latin typeface="JetBrains Mono" pitchFamily="49" charset="0"/>
                <a:ea typeface="JetBrains Mono" pitchFamily="49" charset="-122"/>
              </a:rPr>
              <a:t>docker</a:t>
            </a:r>
            <a:r>
              <a:rPr lang="it-IT" sz="1200" dirty="0">
                <a:solidFill>
                  <a:srgbClr val="F6F8FB"/>
                </a:solidFill>
                <a:latin typeface="JetBrains Mono" pitchFamily="49" charset="0"/>
                <a:ea typeface="JetBrains Mono" pitchFamily="49" charset="-122"/>
              </a:rPr>
              <a:t>-compose -f </a:t>
            </a:r>
            <a:r>
              <a:rPr lang="it-IT" sz="1200" dirty="0" err="1">
                <a:solidFill>
                  <a:srgbClr val="F6F8FB"/>
                </a:solidFill>
                <a:latin typeface="JetBrains Mono" pitchFamily="49" charset="0"/>
                <a:ea typeface="JetBrains Mono" pitchFamily="49" charset="-122"/>
              </a:rPr>
              <a:t>docker-compose_oracle.yaml</a:t>
            </a:r>
            <a:r>
              <a:rPr lang="it-IT" sz="1200" dirty="0">
                <a:solidFill>
                  <a:srgbClr val="F6F8FB"/>
                </a:solidFill>
                <a:latin typeface="JetBrains Mono" pitchFamily="49" charset="0"/>
                <a:ea typeface="JetBrains Mono" pitchFamily="49" charset="-122"/>
              </a:rPr>
              <a:t> logs -f</a:t>
            </a:r>
            <a:endParaRPr lang="en-US" sz="1200" dirty="0">
              <a:solidFill>
                <a:srgbClr val="F6F8FB"/>
              </a:solidFill>
              <a:latin typeface="JetBrains Mono" pitchFamily="49" charset="0"/>
              <a:ea typeface="JetBrains Mono" pitchFamily="49" charset="-122"/>
            </a:endParaRPr>
          </a:p>
          <a:p>
            <a:pPr marL="0" indent="0" algn="l">
              <a:lnSpc>
                <a:spcPts val="1800"/>
              </a:lnSpc>
              <a:buNone/>
            </a:pPr>
            <a:r>
              <a:rPr lang="en-US" sz="1200" dirty="0">
                <a:solidFill>
                  <a:srgbClr val="8DB8FF"/>
                </a:solidFill>
                <a:latin typeface="JetBrains Mono" pitchFamily="49" charset="0"/>
                <a:ea typeface="JetBrains Mono" pitchFamily="49" charset="-122"/>
              </a:rPr>
              <a:t>D</a:t>
            </a:r>
            <a:r>
              <a:rPr lang="en-US" sz="1200" dirty="0">
                <a:solidFill>
                  <a:srgbClr val="8DB8FF"/>
                </a:solidFill>
                <a:latin typeface="JetBrains Mono" pitchFamily="49" charset="0"/>
                <a:ea typeface="JetBrains Mono" pitchFamily="49" charset="-122"/>
                <a:cs typeface="JetBrains Mono" pitchFamily="49" charset="-120"/>
              </a:rPr>
              <a:t>ATABASE IS READY TO USE!</a:t>
            </a:r>
            <a:endParaRPr lang="en-US" sz="1200" dirty="0"/>
          </a:p>
        </p:txBody>
      </p:sp>
      <p:sp>
        <p:nvSpPr>
          <p:cNvPr id="11" name="Shape 9"/>
          <p:cNvSpPr/>
          <p:nvPr/>
        </p:nvSpPr>
        <p:spPr>
          <a:xfrm>
            <a:off x="7010400" y="1800858"/>
            <a:ext cx="4368800" cy="3053080"/>
          </a:xfrm>
          <a:prstGeom prst="rect">
            <a:avLst/>
          </a:prstGeom>
          <a:solidFill>
            <a:srgbClr val="FFFFFF"/>
          </a:solidFill>
          <a:ln/>
        </p:spPr>
        <p:txBody>
          <a:bodyPr/>
          <a:lstStyle/>
          <a:p>
            <a:endParaRPr lang="it-IT"/>
          </a:p>
        </p:txBody>
      </p:sp>
      <p:sp>
        <p:nvSpPr>
          <p:cNvPr id="12" name="Shape 10"/>
          <p:cNvSpPr/>
          <p:nvPr/>
        </p:nvSpPr>
        <p:spPr>
          <a:xfrm>
            <a:off x="7010400" y="1813558"/>
            <a:ext cx="4368800" cy="0"/>
          </a:xfrm>
          <a:prstGeom prst="line">
            <a:avLst/>
          </a:prstGeom>
          <a:noFill/>
          <a:ln w="25400">
            <a:solidFill>
              <a:srgbClr val="2E6BD1"/>
            </a:solidFill>
            <a:prstDash val="solid"/>
          </a:ln>
        </p:spPr>
        <p:txBody>
          <a:bodyPr/>
          <a:lstStyle/>
          <a:p>
            <a:endParaRPr lang="it-IT"/>
          </a:p>
        </p:txBody>
      </p:sp>
      <p:sp>
        <p:nvSpPr>
          <p:cNvPr id="13" name="Text 11"/>
          <p:cNvSpPr/>
          <p:nvPr/>
        </p:nvSpPr>
        <p:spPr>
          <a:xfrm>
            <a:off x="7213600" y="2029458"/>
            <a:ext cx="408127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CONNESSIONE CLIENT</a:t>
            </a:r>
            <a:endParaRPr lang="en-US" sz="1200" dirty="0"/>
          </a:p>
        </p:txBody>
      </p:sp>
      <p:sp>
        <p:nvSpPr>
          <p:cNvPr id="14" name="Text 12"/>
          <p:cNvSpPr/>
          <p:nvPr/>
        </p:nvSpPr>
        <p:spPr>
          <a:xfrm>
            <a:off x="7213600" y="2344427"/>
            <a:ext cx="40812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SQL Developer, DBeaver o DataGrip</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223760" y="2669545"/>
          <a:ext cx="3952240" cy="1981200"/>
        </p:xfrm>
        <a:graphic>
          <a:graphicData uri="http://schemas.openxmlformats.org/drawingml/2006/table">
            <a:tbl>
              <a:tblPr/>
              <a:tblGrid>
                <a:gridCol w="1659941">
                  <a:extLst>
                    <a:ext uri="{9D8B030D-6E8A-4147-A177-3AD203B41FA5}">
                      <a16:colId xmlns:a16="http://schemas.microsoft.com/office/drawing/2014/main" val="20000"/>
                    </a:ext>
                  </a:extLst>
                </a:gridCol>
                <a:gridCol w="2292299">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Campo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Valore</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Host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localhost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Porta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1521</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Service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XEPDB1</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Utente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system</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Password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da docker-compose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SETUP</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Schema e </a:t>
            </a:r>
            <a:r>
              <a:rPr lang="en-US" sz="3000" b="1" i="0" kern="0" spc="-60" dirty="0">
                <a:solidFill>
                  <a:srgbClr val="2E6BD1"/>
                </a:solidFill>
                <a:latin typeface="Inter" pitchFamily="34" charset="0"/>
                <a:ea typeface="Inter" pitchFamily="34" charset="-122"/>
                <a:cs typeface="Inter" pitchFamily="34" charset="-120"/>
              </a:rPr>
              <a:t>500.000 ordini</a:t>
            </a:r>
            <a:r>
              <a:rPr lang="en-US" sz="3000" b="1" i="0" kern="0" spc="-60" dirty="0">
                <a:solidFill>
                  <a:srgbClr val="0F1B2D"/>
                </a:solidFill>
                <a:latin typeface="Inter" pitchFamily="34" charset="0"/>
                <a:ea typeface="Inter" pitchFamily="34" charset="-122"/>
                <a:cs typeface="Inter" pitchFamily="34" charset="-120"/>
              </a:rPr>
              <a:t> di test</a:t>
            </a:r>
            <a:endParaRPr lang="en-US" sz="3000" dirty="0"/>
          </a:p>
        </p:txBody>
      </p:sp>
      <p:sp>
        <p:nvSpPr>
          <p:cNvPr id="4" name="Text 2"/>
          <p:cNvSpPr/>
          <p:nvPr/>
        </p:nvSpPr>
        <p:spPr>
          <a:xfrm>
            <a:off x="812800" y="1800858"/>
            <a:ext cx="5181600" cy="339852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-- 1. Utente dedicato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USER tuning_user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IDENTIFIED BY tuning_pwd;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GRANT CONNECT, RESOURCE, DBA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TO tuning_user;</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-- 2. Tabella ordini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TABLE tuning_user.ordini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id_ordine NUMBER GENERATED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BY DEFAULT AS IDENTITY,</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data_ordine DATE,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cliente_id  NUMBER,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importo     NUMBER,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stato       VARCHAR2(20));</a:t>
            </a:r>
            <a:endParaRPr lang="en-US" sz="1200" dirty="0"/>
          </a:p>
        </p:txBody>
      </p:sp>
      <p:sp>
        <p:nvSpPr>
          <p:cNvPr id="5" name="Text 3"/>
          <p:cNvSpPr/>
          <p:nvPr/>
        </p:nvSpPr>
        <p:spPr>
          <a:xfrm>
            <a:off x="6197600" y="1800858"/>
            <a:ext cx="5181600" cy="339852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-- 3. Dati generati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INSERT INTO tuning_user.ordini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(data_ordine, cliente_id, importo, stato)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SYSDATE - MOD(ROWNUM, 365),</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MOD(ROWNUM, 10000),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ROUND(DBMS_RANDOM.VALUE(10,1000),2),</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CASE WHEN MOD(ROWNUM,10) = 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THEN 'IN_ATTESA' ELSE 'COMPLETATO' END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dual CONNECT BY LEVEL &lt;= 500000;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COMMIT;</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-- 4. Statistiche per il CBO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EXEC DBMS_STATS.GATHER_TABLE_STATS(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'TUNING_USER', 'ORDINI');</a:t>
            </a:r>
            <a:endParaRPr lang="en-US" sz="1200" dirty="0"/>
          </a:p>
        </p:txBody>
      </p:sp>
      <p:sp>
        <p:nvSpPr>
          <p:cNvPr id="6" name="Text 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1 · CPU E MEMORIA</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L’applicazione </a:t>
            </a:r>
            <a:r>
              <a:rPr lang="en-US" sz="3000" b="1" i="0" kern="0" spc="-60" dirty="0">
                <a:solidFill>
                  <a:srgbClr val="2E6BD1"/>
                </a:solidFill>
                <a:latin typeface="Inter" pitchFamily="34" charset="0"/>
                <a:ea typeface="Inter" pitchFamily="34" charset="-122"/>
                <a:cs typeface="Inter" pitchFamily="34" charset="-120"/>
              </a:rPr>
              <a:t>impazzita</a:t>
            </a:r>
            <a:endParaRPr lang="en-US" sz="3000" dirty="0"/>
          </a:p>
        </p:txBody>
      </p:sp>
      <p:sp>
        <p:nvSpPr>
          <p:cNvPr id="4" name="Shape 2"/>
          <p:cNvSpPr/>
          <p:nvPr/>
        </p:nvSpPr>
        <p:spPr>
          <a:xfrm>
            <a:off x="812800" y="1800858"/>
            <a:ext cx="5181600" cy="960755"/>
          </a:xfrm>
          <a:prstGeom prst="rect">
            <a:avLst/>
          </a:prstGeom>
          <a:solidFill>
            <a:srgbClr val="0F1B2D"/>
          </a:solidFill>
          <a:ln/>
        </p:spPr>
        <p:txBody>
          <a:bodyPr/>
          <a:lstStyle/>
          <a:p>
            <a:endParaRPr lang="it-IT"/>
          </a:p>
        </p:txBody>
      </p:sp>
      <p:sp>
        <p:nvSpPr>
          <p:cNvPr id="5" name="Text 3"/>
          <p:cNvSpPr/>
          <p:nvPr/>
        </p:nvSpPr>
        <p:spPr>
          <a:xfrm>
            <a:off x="1016000" y="2004058"/>
            <a:ext cx="4918456"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TERMINALE 1 · APPLICAZIONE</a:t>
            </a:r>
            <a:endParaRPr lang="en-US" sz="1200" dirty="0"/>
          </a:p>
        </p:txBody>
      </p:sp>
      <p:sp>
        <p:nvSpPr>
          <p:cNvPr id="6" name="Text 4"/>
          <p:cNvSpPr/>
          <p:nvPr/>
        </p:nvSpPr>
        <p:spPr>
          <a:xfrm>
            <a:off x="1016000" y="2293627"/>
            <a:ext cx="4918456" cy="26479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6F8FB"/>
                </a:solidFill>
                <a:latin typeface="Inter" pitchFamily="34" charset="0"/>
                <a:ea typeface="Inter" pitchFamily="34" charset="-122"/>
                <a:cs typeface="Inter" pitchFamily="34" charset="-120"/>
              </a:rPr>
              <a:t>Lancia un carico pesante e resta “appeso” in esecuzione</a:t>
            </a:r>
            <a:endParaRPr lang="en-US" sz="1300" dirty="0"/>
          </a:p>
        </p:txBody>
      </p:sp>
      <p:sp>
        <p:nvSpPr>
          <p:cNvPr id="7" name="Shape 5"/>
          <p:cNvSpPr/>
          <p:nvPr/>
        </p:nvSpPr>
        <p:spPr>
          <a:xfrm>
            <a:off x="6197600" y="1800858"/>
            <a:ext cx="5181600" cy="960755"/>
          </a:xfrm>
          <a:prstGeom prst="rect">
            <a:avLst/>
          </a:prstGeom>
          <a:solidFill>
            <a:srgbClr val="FFFFFF"/>
          </a:solidFill>
          <a:ln/>
        </p:spPr>
        <p:txBody>
          <a:bodyPr/>
          <a:lstStyle/>
          <a:p>
            <a:endParaRPr lang="it-IT"/>
          </a:p>
        </p:txBody>
      </p:sp>
      <p:sp>
        <p:nvSpPr>
          <p:cNvPr id="8" name="Shape 6"/>
          <p:cNvSpPr/>
          <p:nvPr/>
        </p:nvSpPr>
        <p:spPr>
          <a:xfrm>
            <a:off x="6197600" y="1813558"/>
            <a:ext cx="5181600" cy="0"/>
          </a:xfrm>
          <a:prstGeom prst="line">
            <a:avLst/>
          </a:prstGeom>
          <a:noFill/>
          <a:ln w="25400">
            <a:solidFill>
              <a:srgbClr val="2E6BD1"/>
            </a:solidFill>
            <a:prstDash val="solid"/>
          </a:ln>
        </p:spPr>
        <p:txBody>
          <a:bodyPr/>
          <a:lstStyle/>
          <a:p>
            <a:endParaRPr lang="it-IT"/>
          </a:p>
        </p:txBody>
      </p:sp>
      <p:sp>
        <p:nvSpPr>
          <p:cNvPr id="9" name="Text 7"/>
          <p:cNvSpPr/>
          <p:nvPr/>
        </p:nvSpPr>
        <p:spPr>
          <a:xfrm>
            <a:off x="6400800" y="2029458"/>
            <a:ext cx="4918456"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TERMINALE 2 · DBA</a:t>
            </a:r>
            <a:endParaRPr lang="en-US" sz="1200" dirty="0"/>
          </a:p>
        </p:txBody>
      </p:sp>
      <p:sp>
        <p:nvSpPr>
          <p:cNvPr id="10" name="Text 8"/>
          <p:cNvSpPr/>
          <p:nvPr/>
        </p:nvSpPr>
        <p:spPr>
          <a:xfrm>
            <a:off x="6400800" y="2319027"/>
            <a:ext cx="4918456" cy="26479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E"/>
                </a:solidFill>
                <a:latin typeface="Inter" pitchFamily="34" charset="0"/>
                <a:ea typeface="Inter" pitchFamily="34" charset="-122"/>
                <a:cs typeface="Inter" pitchFamily="34" charset="-120"/>
              </a:rPr>
              <a:t>Esegue le query diagnostiche e conduce l’indagine</a:t>
            </a:r>
            <a:endParaRPr lang="en-US" sz="1300" dirty="0"/>
          </a:p>
        </p:txBody>
      </p:sp>
      <p:sp>
        <p:nvSpPr>
          <p:cNvPr id="11" name="Shape 9"/>
          <p:cNvSpPr/>
          <p:nvPr/>
        </p:nvSpPr>
        <p:spPr>
          <a:xfrm>
            <a:off x="812800" y="3021967"/>
            <a:ext cx="2113280" cy="0"/>
          </a:xfrm>
          <a:prstGeom prst="line">
            <a:avLst/>
          </a:prstGeom>
          <a:noFill/>
          <a:ln w="12700">
            <a:solidFill>
              <a:srgbClr val="2E6BD1"/>
            </a:solidFill>
            <a:prstDash val="solid"/>
          </a:ln>
        </p:spPr>
        <p:txBody>
          <a:bodyPr/>
          <a:lstStyle/>
          <a:p>
            <a:endParaRPr lang="it-IT"/>
          </a:p>
        </p:txBody>
      </p:sp>
      <p:sp>
        <p:nvSpPr>
          <p:cNvPr id="12" name="Text 10"/>
          <p:cNvSpPr/>
          <p:nvPr/>
        </p:nvSpPr>
        <p:spPr>
          <a:xfrm>
            <a:off x="965200" y="3178175"/>
            <a:ext cx="18627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1</a:t>
            </a:r>
            <a:endParaRPr lang="en-US" sz="1200" dirty="0"/>
          </a:p>
        </p:txBody>
      </p:sp>
      <p:sp>
        <p:nvSpPr>
          <p:cNvPr id="13" name="Text 11"/>
          <p:cNvSpPr/>
          <p:nvPr/>
        </p:nvSpPr>
        <p:spPr>
          <a:xfrm>
            <a:off x="965200" y="3442333"/>
            <a:ext cx="18627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nter" pitchFamily="34" charset="0"/>
                <a:ea typeface="Inter" pitchFamily="34" charset="-122"/>
                <a:cs typeface="Inter" pitchFamily="34" charset="-120"/>
              </a:rPr>
              <a:t>Generare il carico</a:t>
            </a:r>
            <a:endParaRPr lang="en-US" sz="1200" dirty="0"/>
          </a:p>
        </p:txBody>
      </p:sp>
      <p:sp>
        <p:nvSpPr>
          <p:cNvPr id="14" name="Shape 12"/>
          <p:cNvSpPr/>
          <p:nvPr/>
        </p:nvSpPr>
        <p:spPr>
          <a:xfrm>
            <a:off x="2926080" y="3021967"/>
            <a:ext cx="2113280" cy="0"/>
          </a:xfrm>
          <a:prstGeom prst="line">
            <a:avLst/>
          </a:prstGeom>
          <a:noFill/>
          <a:ln w="12700">
            <a:solidFill>
              <a:srgbClr val="2E6BD1"/>
            </a:solidFill>
            <a:prstDash val="solid"/>
          </a:ln>
        </p:spPr>
        <p:txBody>
          <a:bodyPr/>
          <a:lstStyle/>
          <a:p>
            <a:endParaRPr lang="it-IT"/>
          </a:p>
        </p:txBody>
      </p:sp>
      <p:sp>
        <p:nvSpPr>
          <p:cNvPr id="15" name="Text 13"/>
          <p:cNvSpPr/>
          <p:nvPr/>
        </p:nvSpPr>
        <p:spPr>
          <a:xfrm>
            <a:off x="3078480" y="3178175"/>
            <a:ext cx="18627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2</a:t>
            </a:r>
            <a:endParaRPr lang="en-US" sz="1200" dirty="0"/>
          </a:p>
        </p:txBody>
      </p:sp>
      <p:sp>
        <p:nvSpPr>
          <p:cNvPr id="16" name="Text 14"/>
          <p:cNvSpPr/>
          <p:nvPr/>
        </p:nvSpPr>
        <p:spPr>
          <a:xfrm>
            <a:off x="3078480" y="3442333"/>
            <a:ext cx="19608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nter" pitchFamily="34" charset="0"/>
                <a:ea typeface="Inter" pitchFamily="34" charset="-122"/>
                <a:cs typeface="Inter" pitchFamily="34" charset="-120"/>
              </a:rPr>
              <a:t>Trovare le sessioni attive</a:t>
            </a:r>
            <a:endParaRPr lang="en-US" sz="1200" dirty="0"/>
          </a:p>
        </p:txBody>
      </p:sp>
      <p:sp>
        <p:nvSpPr>
          <p:cNvPr id="17" name="Shape 15"/>
          <p:cNvSpPr/>
          <p:nvPr/>
        </p:nvSpPr>
        <p:spPr>
          <a:xfrm>
            <a:off x="5039360" y="3021967"/>
            <a:ext cx="2113280" cy="0"/>
          </a:xfrm>
          <a:prstGeom prst="line">
            <a:avLst/>
          </a:prstGeom>
          <a:noFill/>
          <a:ln w="12700">
            <a:solidFill>
              <a:srgbClr val="2E6BD1"/>
            </a:solidFill>
            <a:prstDash val="solid"/>
          </a:ln>
        </p:spPr>
        <p:txBody>
          <a:bodyPr/>
          <a:lstStyle/>
          <a:p>
            <a:endParaRPr lang="it-IT"/>
          </a:p>
        </p:txBody>
      </p:sp>
      <p:sp>
        <p:nvSpPr>
          <p:cNvPr id="18" name="Text 16"/>
          <p:cNvSpPr/>
          <p:nvPr/>
        </p:nvSpPr>
        <p:spPr>
          <a:xfrm>
            <a:off x="5191760" y="3178175"/>
            <a:ext cx="18627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3</a:t>
            </a:r>
            <a:endParaRPr lang="en-US" sz="1200" dirty="0"/>
          </a:p>
        </p:txBody>
      </p:sp>
      <p:sp>
        <p:nvSpPr>
          <p:cNvPr id="19" name="Text 17"/>
          <p:cNvSpPr/>
          <p:nvPr/>
        </p:nvSpPr>
        <p:spPr>
          <a:xfrm>
            <a:off x="5191760" y="3442333"/>
            <a:ext cx="19608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nter" pitchFamily="34" charset="0"/>
                <a:ea typeface="Inter" pitchFamily="34" charset="-122"/>
                <a:cs typeface="Inter" pitchFamily="34" charset="-120"/>
              </a:rPr>
              <a:t>Misurare CPU e memoria</a:t>
            </a:r>
            <a:endParaRPr lang="en-US" sz="1200" dirty="0"/>
          </a:p>
        </p:txBody>
      </p:sp>
      <p:sp>
        <p:nvSpPr>
          <p:cNvPr id="20" name="Shape 18"/>
          <p:cNvSpPr/>
          <p:nvPr/>
        </p:nvSpPr>
        <p:spPr>
          <a:xfrm>
            <a:off x="7152640" y="3021967"/>
            <a:ext cx="2113280" cy="0"/>
          </a:xfrm>
          <a:prstGeom prst="line">
            <a:avLst/>
          </a:prstGeom>
          <a:noFill/>
          <a:ln w="12700">
            <a:solidFill>
              <a:srgbClr val="2E6BD1"/>
            </a:solidFill>
            <a:prstDash val="solid"/>
          </a:ln>
        </p:spPr>
        <p:txBody>
          <a:bodyPr/>
          <a:lstStyle/>
          <a:p>
            <a:endParaRPr lang="it-IT"/>
          </a:p>
        </p:txBody>
      </p:sp>
      <p:sp>
        <p:nvSpPr>
          <p:cNvPr id="21" name="Text 19"/>
          <p:cNvSpPr/>
          <p:nvPr/>
        </p:nvSpPr>
        <p:spPr>
          <a:xfrm>
            <a:off x="7305040" y="3178175"/>
            <a:ext cx="18627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4</a:t>
            </a:r>
            <a:endParaRPr lang="en-US" sz="1200" dirty="0"/>
          </a:p>
        </p:txBody>
      </p:sp>
      <p:sp>
        <p:nvSpPr>
          <p:cNvPr id="22" name="Text 20"/>
          <p:cNvSpPr/>
          <p:nvPr/>
        </p:nvSpPr>
        <p:spPr>
          <a:xfrm>
            <a:off x="7305040" y="3442333"/>
            <a:ext cx="186273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nter" pitchFamily="34" charset="0"/>
                <a:ea typeface="Inter" pitchFamily="34" charset="-122"/>
                <a:cs typeface="Inter" pitchFamily="34" charset="-120"/>
              </a:rPr>
              <a:t>Identificare il codice colpevole</a:t>
            </a:r>
            <a:endParaRPr lang="en-US" sz="1200" dirty="0"/>
          </a:p>
        </p:txBody>
      </p:sp>
      <p:sp>
        <p:nvSpPr>
          <p:cNvPr id="23" name="Shape 21"/>
          <p:cNvSpPr/>
          <p:nvPr/>
        </p:nvSpPr>
        <p:spPr>
          <a:xfrm>
            <a:off x="9265920" y="3021967"/>
            <a:ext cx="2113280" cy="0"/>
          </a:xfrm>
          <a:prstGeom prst="line">
            <a:avLst/>
          </a:prstGeom>
          <a:noFill/>
          <a:ln w="12700">
            <a:solidFill>
              <a:srgbClr val="0F1B2D"/>
            </a:solidFill>
            <a:prstDash val="solid"/>
          </a:ln>
        </p:spPr>
        <p:txBody>
          <a:bodyPr/>
          <a:lstStyle/>
          <a:p>
            <a:endParaRPr lang="it-IT"/>
          </a:p>
        </p:txBody>
      </p:sp>
      <p:sp>
        <p:nvSpPr>
          <p:cNvPr id="24" name="Text 22"/>
          <p:cNvSpPr/>
          <p:nvPr/>
        </p:nvSpPr>
        <p:spPr>
          <a:xfrm>
            <a:off x="9418320" y="3178175"/>
            <a:ext cx="18627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FASE 5</a:t>
            </a:r>
            <a:endParaRPr lang="en-US" sz="1200" dirty="0"/>
          </a:p>
        </p:txBody>
      </p:sp>
      <p:sp>
        <p:nvSpPr>
          <p:cNvPr id="25" name="Text 23"/>
          <p:cNvSpPr/>
          <p:nvPr/>
        </p:nvSpPr>
        <p:spPr>
          <a:xfrm>
            <a:off x="9418320" y="3442333"/>
            <a:ext cx="18627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nter" pitchFamily="34" charset="0"/>
                <a:ea typeface="Inter" pitchFamily="34" charset="-122"/>
                <a:cs typeface="Inter" pitchFamily="34" charset="-120"/>
              </a:rPr>
              <a:t>Terminare la sessione</a:t>
            </a:r>
            <a:endParaRPr lang="en-US" sz="1200" dirty="0"/>
          </a:p>
        </p:txBody>
      </p:sp>
      <p:sp>
        <p:nvSpPr>
          <p:cNvPr id="26" name="Text 2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1 · FASE 1 · TERMINALE 1</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Generare il carico: </a:t>
            </a:r>
            <a:r>
              <a:rPr lang="en-US" sz="3000" b="1" i="0" kern="0" spc="-60" dirty="0">
                <a:solidFill>
                  <a:srgbClr val="2E6BD1"/>
                </a:solidFill>
                <a:latin typeface="Inter" pitchFamily="34" charset="0"/>
                <a:ea typeface="Inter" pitchFamily="34" charset="-122"/>
                <a:cs typeface="Inter" pitchFamily="34" charset="-120"/>
              </a:rPr>
              <a:t>la killer query</a:t>
            </a:r>
            <a:endParaRPr lang="en-US" sz="3000" dirty="0"/>
          </a:p>
        </p:txBody>
      </p:sp>
      <p:sp>
        <p:nvSpPr>
          <p:cNvPr id="4" name="Text 2"/>
          <p:cNvSpPr/>
          <p:nvPr/>
        </p:nvSpPr>
        <p:spPr>
          <a:xfrm>
            <a:off x="812800" y="1800858"/>
            <a:ext cx="6106160" cy="322834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CONNECT tuning_user/tuning_pwd@localhost:1521/XEPDB1</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Sessione che consuma molta CPU e I/O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DECLARE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v_dummy NUMBER;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BEGIN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FOR i IN 1..100000 LOOP</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r>
              <a:rPr lang="en-US" sz="1200" dirty="0">
                <a:solidFill>
                  <a:srgbClr val="8DB8FF"/>
                </a:solidFill>
                <a:latin typeface="JetBrains Mono" pitchFamily="49" charset="0"/>
                <a:ea typeface="JetBrains Mono" pitchFamily="49" charset="-122"/>
                <a:cs typeface="JetBrains Mono" pitchFamily="49" charset="-120"/>
              </a:rPr>
              <a:t>-- Full table scan ripetuto inutilmente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SELECT COUNT(importo) INTO v_dummy</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FROM ordini WHERE stato = 'IN_ATTESA';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END LOOP;</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END;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7172960" y="1800858"/>
            <a:ext cx="4206240" cy="1856740"/>
          </a:xfrm>
          <a:prstGeom prst="rect">
            <a:avLst/>
          </a:prstGeom>
          <a:solidFill>
            <a:srgbClr val="FFFFFF"/>
          </a:solidFill>
          <a:ln/>
        </p:spPr>
        <p:txBody>
          <a:bodyPr/>
          <a:lstStyle/>
          <a:p>
            <a:endParaRPr lang="it-IT"/>
          </a:p>
        </p:txBody>
      </p:sp>
      <p:sp>
        <p:nvSpPr>
          <p:cNvPr id="6" name="Shape 4"/>
          <p:cNvSpPr/>
          <p:nvPr/>
        </p:nvSpPr>
        <p:spPr>
          <a:xfrm>
            <a:off x="7172960" y="1813558"/>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COSA SUCCEDE</a:t>
            </a:r>
            <a:endParaRPr lang="en-US" sz="1200" dirty="0"/>
          </a:p>
        </p:txBody>
      </p:sp>
      <p:sp>
        <p:nvSpPr>
          <p:cNvPr id="8" name="Text 6"/>
          <p:cNvSpPr/>
          <p:nvPr/>
        </p:nvSpPr>
        <p:spPr>
          <a:xfrm>
            <a:off x="7376160" y="2369827"/>
            <a:ext cx="3913835"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E"/>
                </a:solidFill>
                <a:latin typeface="Inter" pitchFamily="34" charset="0"/>
                <a:ea typeface="Inter" pitchFamily="34" charset="-122"/>
                <a:cs typeface="Inter" pitchFamily="34" charset="-120"/>
              </a:rPr>
              <a:t>Simula un’applicazione scritta male: un loop che rilegge 500.000 </a:t>
            </a:r>
            <a:r>
              <a:rPr lang="en-US" sz="1300" dirty="0" err="1">
                <a:solidFill>
                  <a:srgbClr val="3D4B5E"/>
                </a:solidFill>
                <a:latin typeface="Inter" pitchFamily="34" charset="0"/>
                <a:ea typeface="Inter" pitchFamily="34" charset="-122"/>
                <a:cs typeface="Inter" pitchFamily="34" charset="-120"/>
              </a:rPr>
              <a:t>righe</a:t>
            </a:r>
            <a:r>
              <a:rPr lang="en-US" sz="1300" dirty="0">
                <a:solidFill>
                  <a:srgbClr val="3D4B5E"/>
                </a:solidFill>
                <a:latin typeface="Inter" pitchFamily="34" charset="0"/>
                <a:ea typeface="Inter" pitchFamily="34" charset="-122"/>
                <a:cs typeface="Inter" pitchFamily="34" charset="-120"/>
              </a:rPr>
              <a:t> ad ogni giro.</a:t>
            </a:r>
            <a:endParaRPr lang="en-US" sz="1300" dirty="0"/>
          </a:p>
        </p:txBody>
      </p:sp>
      <p:sp>
        <p:nvSpPr>
          <p:cNvPr id="9" name="Text 7"/>
          <p:cNvSpPr/>
          <p:nvPr/>
        </p:nvSpPr>
        <p:spPr>
          <a:xfrm>
            <a:off x="7376160" y="2975608"/>
            <a:ext cx="3913835"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E"/>
                </a:solidFill>
                <a:latin typeface="Inter" pitchFamily="34" charset="0"/>
                <a:ea typeface="Inter" pitchFamily="34" charset="-122"/>
                <a:cs typeface="Inter" pitchFamily="34" charset="-120"/>
              </a:rPr>
              <a:t>Il terminale resta </a:t>
            </a:r>
            <a:r>
              <a:rPr lang="en-US" sz="1300" b="1" dirty="0">
                <a:solidFill>
                  <a:srgbClr val="3D4B5E"/>
                </a:solidFill>
                <a:latin typeface="Inter" pitchFamily="34" charset="0"/>
                <a:ea typeface="Inter" pitchFamily="34" charset="-122"/>
                <a:cs typeface="Inter" pitchFamily="34" charset="-120"/>
              </a:rPr>
              <a:t>appeso</a:t>
            </a:r>
            <a:r>
              <a:rPr lang="en-US" sz="1300" dirty="0">
                <a:solidFill>
                  <a:srgbClr val="3D4B5E"/>
                </a:solidFill>
                <a:latin typeface="Inter" pitchFamily="34" charset="0"/>
                <a:ea typeface="Inter" pitchFamily="34" charset="-122"/>
                <a:cs typeface="Inter" pitchFamily="34" charset="-120"/>
              </a:rPr>
              <a:t>: è esattamente quello che vogliamo.</a:t>
            </a:r>
            <a:endParaRPr lang="en-US" sz="13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1 · FASE 2 · TERMINALE 2</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Chi sta </a:t>
            </a:r>
            <a:r>
              <a:rPr lang="en-US" sz="3000" b="1" i="0" kern="0" spc="-60" dirty="0">
                <a:solidFill>
                  <a:srgbClr val="2E6BD1"/>
                </a:solidFill>
                <a:latin typeface="Inter" pitchFamily="34" charset="0"/>
                <a:ea typeface="Inter" pitchFamily="34" charset="-122"/>
                <a:cs typeface="Inter" pitchFamily="34" charset="-120"/>
              </a:rPr>
              <a:t>lavorando davvero?</a:t>
            </a:r>
            <a:endParaRPr lang="en-US" sz="3000" dirty="0"/>
          </a:p>
        </p:txBody>
      </p:sp>
      <p:sp>
        <p:nvSpPr>
          <p:cNvPr id="4" name="Text 2"/>
          <p:cNvSpPr/>
          <p:nvPr/>
        </p:nvSpPr>
        <p:spPr>
          <a:xfrm>
            <a:off x="812800" y="1800858"/>
            <a:ext cx="6106160" cy="168148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sid, serial#, username, status,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machine, program, sql_id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v$session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status = 'ACTIVE'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type != 'BACKGROUND'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username IS NOT NULL;</a:t>
            </a:r>
            <a:endParaRPr lang="en-US" sz="1200" dirty="0"/>
          </a:p>
        </p:txBody>
      </p:sp>
      <p:sp>
        <p:nvSpPr>
          <p:cNvPr id="5" name="Shape 3"/>
          <p:cNvSpPr/>
          <p:nvPr/>
        </p:nvSpPr>
        <p:spPr>
          <a:xfrm>
            <a:off x="7172960" y="1800858"/>
            <a:ext cx="4206240" cy="2096135"/>
          </a:xfrm>
          <a:prstGeom prst="rect">
            <a:avLst/>
          </a:prstGeom>
          <a:solidFill>
            <a:srgbClr val="FFFFFF"/>
          </a:solidFill>
          <a:ln/>
        </p:spPr>
        <p:txBody>
          <a:bodyPr/>
          <a:lstStyle/>
          <a:p>
            <a:endParaRPr lang="it-IT"/>
          </a:p>
        </p:txBody>
      </p:sp>
      <p:sp>
        <p:nvSpPr>
          <p:cNvPr id="6" name="Shape 4"/>
          <p:cNvSpPr/>
          <p:nvPr/>
        </p:nvSpPr>
        <p:spPr>
          <a:xfrm>
            <a:off x="7172960" y="1813558"/>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COSA NOTARE</a:t>
            </a:r>
            <a:endParaRPr lang="en-US" sz="1200" dirty="0"/>
          </a:p>
        </p:txBody>
      </p:sp>
      <p:sp>
        <p:nvSpPr>
          <p:cNvPr id="8" name="Text 6"/>
          <p:cNvSpPr/>
          <p:nvPr/>
        </p:nvSpPr>
        <p:spPr>
          <a:xfrm>
            <a:off x="7376160" y="2369827"/>
            <a:ext cx="3913835" cy="743585"/>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SID e SERIAL#</a:t>
            </a:r>
            <a:r>
              <a:rPr lang="en-US" sz="1300" dirty="0">
                <a:solidFill>
                  <a:srgbClr val="3D4B5E"/>
                </a:solidFill>
                <a:latin typeface="Inter" pitchFamily="34" charset="0"/>
                <a:ea typeface="Inter" pitchFamily="34" charset="-122"/>
                <a:cs typeface="Inter" pitchFamily="34" charset="-120"/>
              </a:rPr>
              <a:t>: le coordinate esatte della sessione, servono per le query successive e per il kill.</a:t>
            </a:r>
            <a:endParaRPr lang="en-US" sz="1300" dirty="0"/>
          </a:p>
        </p:txBody>
      </p:sp>
      <p:sp>
        <p:nvSpPr>
          <p:cNvPr id="9" name="Text 7"/>
          <p:cNvSpPr/>
          <p:nvPr/>
        </p:nvSpPr>
        <p:spPr>
          <a:xfrm>
            <a:off x="7376160" y="3215010"/>
            <a:ext cx="3913835" cy="50419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SQL_ID</a:t>
            </a:r>
            <a:r>
              <a:rPr lang="en-US" sz="1300" dirty="0">
                <a:solidFill>
                  <a:srgbClr val="3D4B5E"/>
                </a:solidFill>
                <a:latin typeface="Inter" pitchFamily="34" charset="0"/>
                <a:ea typeface="Inter" pitchFamily="34" charset="-122"/>
                <a:cs typeface="Inter" pitchFamily="34" charset="-120"/>
              </a:rPr>
              <a:t>: la “targa” dell’istruzione in esecuzione in questo istante. Annotatela.</a:t>
            </a:r>
            <a:endParaRPr lang="en-US" sz="13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1 · FASE 3 · TERMINALE 2</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Misurare </a:t>
            </a:r>
            <a:r>
              <a:rPr lang="en-US" sz="3000" b="1" i="0" kern="0" spc="-60" dirty="0">
                <a:solidFill>
                  <a:srgbClr val="2E6BD1"/>
                </a:solidFill>
                <a:latin typeface="Inter" pitchFamily="34" charset="0"/>
                <a:ea typeface="Inter" pitchFamily="34" charset="-122"/>
                <a:cs typeface="Inter" pitchFamily="34" charset="-120"/>
              </a:rPr>
              <a:t>CPU e memoria</a:t>
            </a:r>
            <a:endParaRPr lang="en-US" sz="3000" dirty="0"/>
          </a:p>
        </p:txBody>
      </p:sp>
      <p:sp>
        <p:nvSpPr>
          <p:cNvPr id="4" name="Text 2"/>
          <p:cNvSpPr/>
          <p:nvPr/>
        </p:nvSpPr>
        <p:spPr>
          <a:xfrm>
            <a:off x="812800" y="1800858"/>
            <a:ext cx="10566400" cy="1902460"/>
          </a:xfrm>
          <a:prstGeom prst="rect">
            <a:avLst/>
          </a:prstGeom>
          <a:solidFill>
            <a:srgbClr val="0F1B2D"/>
          </a:solidFill>
          <a:ln/>
        </p:spPr>
        <p:txBody>
          <a:bodyPr wrap="square" lIns="203200" tIns="177800" rIns="0"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s.sid, s.username, n.name AS metrica, st.value AS valore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v$session 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v$sesstat  st ON s.sid = st.sid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v$statname n  ON st.statistic# = n.statistic#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s.status = 'ACTIVE' AND s.type != 'BACKGROUND'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n.name IN ('CPU used by this session', 'session pga memory', 'physical reads')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ORDER BY s.sid, n.name;</a:t>
            </a:r>
            <a:endParaRPr lang="en-US" sz="1200" dirty="0"/>
          </a:p>
        </p:txBody>
      </p:sp>
      <p:sp>
        <p:nvSpPr>
          <p:cNvPr id="5" name="Shape 3"/>
          <p:cNvSpPr/>
          <p:nvPr/>
        </p:nvSpPr>
        <p:spPr>
          <a:xfrm>
            <a:off x="812800" y="3957327"/>
            <a:ext cx="3420507" cy="1084580"/>
          </a:xfrm>
          <a:prstGeom prst="rect">
            <a:avLst/>
          </a:prstGeom>
          <a:solidFill>
            <a:srgbClr val="FFFFFF"/>
          </a:solidFill>
          <a:ln/>
        </p:spPr>
        <p:txBody>
          <a:bodyPr/>
          <a:lstStyle/>
          <a:p>
            <a:endParaRPr lang="it-IT"/>
          </a:p>
        </p:txBody>
      </p:sp>
      <p:sp>
        <p:nvSpPr>
          <p:cNvPr id="6" name="Shape 4"/>
          <p:cNvSpPr/>
          <p:nvPr/>
        </p:nvSpPr>
        <p:spPr>
          <a:xfrm>
            <a:off x="812800" y="3970027"/>
            <a:ext cx="3420507" cy="0"/>
          </a:xfrm>
          <a:prstGeom prst="line">
            <a:avLst/>
          </a:prstGeom>
          <a:noFill/>
          <a:ln w="25400">
            <a:solidFill>
              <a:srgbClr val="2E6BD1"/>
            </a:solidFill>
            <a:prstDash val="solid"/>
          </a:ln>
        </p:spPr>
        <p:txBody>
          <a:bodyPr/>
          <a:lstStyle/>
          <a:p>
            <a:endParaRPr lang="it-IT"/>
          </a:p>
        </p:txBody>
      </p:sp>
      <p:sp>
        <p:nvSpPr>
          <p:cNvPr id="7" name="Text 5"/>
          <p:cNvSpPr/>
          <p:nvPr/>
        </p:nvSpPr>
        <p:spPr>
          <a:xfrm>
            <a:off x="990600" y="4160527"/>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CPU used by this session</a:t>
            </a:r>
            <a:endParaRPr lang="en-US" sz="1400" dirty="0"/>
          </a:p>
        </p:txBody>
      </p:sp>
      <p:sp>
        <p:nvSpPr>
          <p:cNvPr id="8" name="Text 6"/>
          <p:cNvSpPr/>
          <p:nvPr/>
        </p:nvSpPr>
        <p:spPr>
          <a:xfrm>
            <a:off x="990600" y="4437385"/>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In centesimi di secondo. Rieseguendo la query cresce rapidamente.</a:t>
            </a:r>
            <a:endParaRPr lang="en-US" sz="1200" dirty="0"/>
          </a:p>
        </p:txBody>
      </p:sp>
      <p:sp>
        <p:nvSpPr>
          <p:cNvPr id="9" name="Shape 7"/>
          <p:cNvSpPr/>
          <p:nvPr/>
        </p:nvSpPr>
        <p:spPr>
          <a:xfrm>
            <a:off x="4385707" y="3957327"/>
            <a:ext cx="3420586" cy="1084580"/>
          </a:xfrm>
          <a:prstGeom prst="rect">
            <a:avLst/>
          </a:prstGeom>
          <a:solidFill>
            <a:srgbClr val="FFFFFF"/>
          </a:solidFill>
          <a:ln/>
        </p:spPr>
        <p:txBody>
          <a:bodyPr/>
          <a:lstStyle/>
          <a:p>
            <a:endParaRPr lang="it-IT"/>
          </a:p>
        </p:txBody>
      </p:sp>
      <p:sp>
        <p:nvSpPr>
          <p:cNvPr id="10" name="Shape 8"/>
          <p:cNvSpPr/>
          <p:nvPr/>
        </p:nvSpPr>
        <p:spPr>
          <a:xfrm>
            <a:off x="4385707" y="3970027"/>
            <a:ext cx="3420586" cy="0"/>
          </a:xfrm>
          <a:prstGeom prst="line">
            <a:avLst/>
          </a:prstGeom>
          <a:noFill/>
          <a:ln w="25400">
            <a:solidFill>
              <a:srgbClr val="2E6BD1"/>
            </a:solidFill>
            <a:prstDash val="solid"/>
          </a:ln>
        </p:spPr>
        <p:txBody>
          <a:bodyPr/>
          <a:lstStyle/>
          <a:p>
            <a:endParaRPr lang="it-IT"/>
          </a:p>
        </p:txBody>
      </p:sp>
      <p:sp>
        <p:nvSpPr>
          <p:cNvPr id="11" name="Text 9"/>
          <p:cNvSpPr/>
          <p:nvPr/>
        </p:nvSpPr>
        <p:spPr>
          <a:xfrm>
            <a:off x="4563507" y="4160527"/>
            <a:ext cx="315693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session pga memory</a:t>
            </a:r>
            <a:endParaRPr lang="en-US" sz="1400" dirty="0"/>
          </a:p>
        </p:txBody>
      </p:sp>
      <p:sp>
        <p:nvSpPr>
          <p:cNvPr id="12" name="Text 10"/>
          <p:cNvSpPr/>
          <p:nvPr/>
        </p:nvSpPr>
        <p:spPr>
          <a:xfrm>
            <a:off x="4563507" y="4437385"/>
            <a:ext cx="315693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Memoria privata (PGA) allocata dalla sessione, in byte.</a:t>
            </a:r>
            <a:endParaRPr lang="en-US" sz="1200" dirty="0"/>
          </a:p>
        </p:txBody>
      </p:sp>
      <p:sp>
        <p:nvSpPr>
          <p:cNvPr id="13" name="Shape 11"/>
          <p:cNvSpPr/>
          <p:nvPr/>
        </p:nvSpPr>
        <p:spPr>
          <a:xfrm>
            <a:off x="7958693" y="3957327"/>
            <a:ext cx="3420507" cy="1084580"/>
          </a:xfrm>
          <a:prstGeom prst="rect">
            <a:avLst/>
          </a:prstGeom>
          <a:solidFill>
            <a:srgbClr val="FFFFFF"/>
          </a:solidFill>
          <a:ln/>
        </p:spPr>
        <p:txBody>
          <a:bodyPr/>
          <a:lstStyle/>
          <a:p>
            <a:endParaRPr lang="it-IT"/>
          </a:p>
        </p:txBody>
      </p:sp>
      <p:sp>
        <p:nvSpPr>
          <p:cNvPr id="14" name="Shape 12"/>
          <p:cNvSpPr/>
          <p:nvPr/>
        </p:nvSpPr>
        <p:spPr>
          <a:xfrm>
            <a:off x="7958693" y="3970027"/>
            <a:ext cx="3420507" cy="0"/>
          </a:xfrm>
          <a:prstGeom prst="line">
            <a:avLst/>
          </a:prstGeom>
          <a:noFill/>
          <a:ln w="25400">
            <a:solidFill>
              <a:srgbClr val="2E6BD1"/>
            </a:solidFill>
            <a:prstDash val="solid"/>
          </a:ln>
        </p:spPr>
        <p:txBody>
          <a:bodyPr/>
          <a:lstStyle/>
          <a:p>
            <a:endParaRPr lang="it-IT"/>
          </a:p>
        </p:txBody>
      </p:sp>
      <p:sp>
        <p:nvSpPr>
          <p:cNvPr id="15" name="Text 13"/>
          <p:cNvSpPr/>
          <p:nvPr/>
        </p:nvSpPr>
        <p:spPr>
          <a:xfrm>
            <a:off x="8136493" y="4160527"/>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physical reads</a:t>
            </a:r>
            <a:endParaRPr lang="en-US" sz="1400" dirty="0"/>
          </a:p>
        </p:txBody>
      </p:sp>
      <p:sp>
        <p:nvSpPr>
          <p:cNvPr id="16" name="Text 14"/>
          <p:cNvSpPr/>
          <p:nvPr/>
        </p:nvSpPr>
        <p:spPr>
          <a:xfrm>
            <a:off x="8136493" y="4437385"/>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Blocchi letti da disco: quanto la sessione stressa l’I/O.</a:t>
            </a:r>
            <a:endParaRPr lang="en-US" sz="12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1 · FASI 4 E 5 · TERMINALE 2</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Il codice colpevole </a:t>
            </a:r>
            <a:r>
              <a:rPr lang="en-US" sz="3000" b="1" i="0" kern="0" spc="-60" dirty="0">
                <a:solidFill>
                  <a:srgbClr val="2E6BD1"/>
                </a:solidFill>
                <a:latin typeface="Inter" pitchFamily="34" charset="0"/>
                <a:ea typeface="Inter" pitchFamily="34" charset="-122"/>
                <a:cs typeface="Inter" pitchFamily="34" charset="-120"/>
              </a:rPr>
              <a:t>e il kill</a:t>
            </a:r>
            <a:endParaRPr lang="en-US" sz="3000" dirty="0"/>
          </a:p>
        </p:txBody>
      </p:sp>
      <p:sp>
        <p:nvSpPr>
          <p:cNvPr id="4" name="Text 2"/>
          <p:cNvSpPr/>
          <p:nvPr/>
        </p:nvSpPr>
        <p:spPr>
          <a:xfrm>
            <a:off x="8128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FASE 4 · V$SQL</a:t>
            </a:r>
            <a:endParaRPr lang="en-US" sz="1200" dirty="0"/>
          </a:p>
        </p:txBody>
      </p:sp>
      <p:sp>
        <p:nvSpPr>
          <p:cNvPr id="5" name="Text 3"/>
          <p:cNvSpPr/>
          <p:nvPr/>
        </p:nvSpPr>
        <p:spPr>
          <a:xfrm>
            <a:off x="812800" y="2141227"/>
            <a:ext cx="5181600" cy="118872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sql_id, executions, cpu_time,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elapsed_time, sql_text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v$sql</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sql_id = '&amp;SQL_ID_TROVATO';</a:t>
            </a:r>
            <a:endParaRPr lang="en-US" sz="1200" dirty="0"/>
          </a:p>
        </p:txBody>
      </p:sp>
      <p:sp>
        <p:nvSpPr>
          <p:cNvPr id="6" name="Text 4"/>
          <p:cNvSpPr/>
          <p:nvPr/>
        </p:nvSpPr>
        <p:spPr>
          <a:xfrm>
            <a:off x="812800" y="3456942"/>
            <a:ext cx="5337048"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EXECUTIONS</a:t>
            </a:r>
            <a:r>
              <a:rPr lang="en-US" sz="1200" dirty="0">
                <a:solidFill>
                  <a:srgbClr val="3D4B5E"/>
                </a:solidFill>
                <a:latin typeface="Inter" pitchFamily="34" charset="0"/>
                <a:ea typeface="Inter" pitchFamily="34" charset="-122"/>
                <a:cs typeface="Inter" pitchFamily="34" charset="-120"/>
              </a:rPr>
              <a:t> altissimo spiega la CPU satura. </a:t>
            </a:r>
            <a:r>
              <a:rPr lang="en-US" sz="1200" b="1" dirty="0">
                <a:solidFill>
                  <a:srgbClr val="3D4B5E"/>
                </a:solidFill>
                <a:latin typeface="Inter" pitchFamily="34" charset="0"/>
                <a:ea typeface="Inter" pitchFamily="34" charset="-122"/>
                <a:cs typeface="Inter" pitchFamily="34" charset="-120"/>
              </a:rPr>
              <a:t>SQL_TEXT</a:t>
            </a:r>
            <a:r>
              <a:rPr lang="en-US" sz="1200" dirty="0">
                <a:solidFill>
                  <a:srgbClr val="3D4B5E"/>
                </a:solidFill>
                <a:latin typeface="Inter" pitchFamily="34" charset="0"/>
                <a:ea typeface="Inter" pitchFamily="34" charset="-122"/>
                <a:cs typeface="Inter" pitchFamily="34" charset="-120"/>
              </a:rPr>
              <a:t> rivela la SELECT COUNT(importo)…</a:t>
            </a:r>
            <a:endParaRPr lang="en-US" sz="1200" dirty="0"/>
          </a:p>
        </p:txBody>
      </p:sp>
      <p:sp>
        <p:nvSpPr>
          <p:cNvPr id="7" name="Text 5"/>
          <p:cNvSpPr/>
          <p:nvPr/>
        </p:nvSpPr>
        <p:spPr>
          <a:xfrm>
            <a:off x="61976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FASE 5 · KILL</a:t>
            </a:r>
            <a:endParaRPr lang="en-US" sz="1200" dirty="0"/>
          </a:p>
        </p:txBody>
      </p:sp>
      <p:sp>
        <p:nvSpPr>
          <p:cNvPr id="8" name="Text 6"/>
          <p:cNvSpPr/>
          <p:nvPr/>
        </p:nvSpPr>
        <p:spPr>
          <a:xfrm>
            <a:off x="6197600" y="2141227"/>
            <a:ext cx="5181600" cy="140970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ALTER SYSTEM KILL SESSION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'&amp;SID,&amp;SERIAL' IMMEDIATE;</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Terminale 1:</a:t>
            </a: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ORA-00028: your session has been killed</a:t>
            </a:r>
            <a:endParaRPr lang="en-US" sz="1200" dirty="0"/>
          </a:p>
        </p:txBody>
      </p:sp>
      <p:sp>
        <p:nvSpPr>
          <p:cNvPr id="9" name="Text 7"/>
          <p:cNvSpPr/>
          <p:nvPr/>
        </p:nvSpPr>
        <p:spPr>
          <a:xfrm>
            <a:off x="6197600" y="3677927"/>
            <a:ext cx="5337048"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Usa SID e SERIAL# trovati nella Fase 2.</a:t>
            </a:r>
            <a:endParaRPr lang="en-US" sz="1200" dirty="0"/>
          </a:p>
        </p:txBody>
      </p:sp>
      <p:sp>
        <p:nvSpPr>
          <p:cNvPr id="10" name="Text 8"/>
          <p:cNvSpPr/>
          <p:nvPr/>
        </p:nvSpPr>
        <p:spPr>
          <a:xfrm>
            <a:off x="812800" y="4152900"/>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Dal sintomo (server lento) alla riga di codice esatta, usando solo le viste V$.</a:t>
            </a:r>
            <a:endParaRPr lang="en-US" sz="13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2 · WAIT EVENTS · FASI 1 E 2</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Il database si “congela”: </a:t>
            </a:r>
            <a:r>
              <a:rPr lang="en-US" sz="3000" b="1" i="0" kern="0" spc="-60" dirty="0">
                <a:solidFill>
                  <a:srgbClr val="2E6BD1"/>
                </a:solidFill>
                <a:latin typeface="Inter" pitchFamily="34" charset="0"/>
                <a:ea typeface="Inter" pitchFamily="34" charset="-122"/>
                <a:cs typeface="Inter" pitchFamily="34" charset="-120"/>
              </a:rPr>
              <a:t>row lock contention</a:t>
            </a:r>
            <a:endParaRPr lang="en-US" sz="3000" dirty="0"/>
          </a:p>
        </p:txBody>
      </p:sp>
      <p:sp>
        <p:nvSpPr>
          <p:cNvPr id="4" name="Text 2"/>
          <p:cNvSpPr/>
          <p:nvPr/>
        </p:nvSpPr>
        <p:spPr>
          <a:xfrm>
            <a:off x="8128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CONNESSIONE 1 · ACQUISISCE IL LOCK</a:t>
            </a:r>
            <a:endParaRPr lang="en-US" sz="1200" dirty="0"/>
          </a:p>
        </p:txBody>
      </p:sp>
      <p:sp>
        <p:nvSpPr>
          <p:cNvPr id="5" name="Text 3"/>
          <p:cNvSpPr/>
          <p:nvPr/>
        </p:nvSpPr>
        <p:spPr>
          <a:xfrm>
            <a:off x="812800" y="2115827"/>
            <a:ext cx="5181600" cy="118872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Nessun COMMIT, volutamente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UPDATE tuning_user.ordini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SET   importo = 9999</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id_ordine = 1;</a:t>
            </a:r>
            <a:endParaRPr lang="en-US" sz="1200" dirty="0"/>
          </a:p>
        </p:txBody>
      </p:sp>
      <p:sp>
        <p:nvSpPr>
          <p:cNvPr id="6" name="Text 4"/>
          <p:cNvSpPr/>
          <p:nvPr/>
        </p:nvSpPr>
        <p:spPr>
          <a:xfrm>
            <a:off x="812800" y="3406142"/>
            <a:ext cx="5337048"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La transazione tiene un lock esclusivo </a:t>
            </a:r>
            <a:r>
              <a:rPr lang="en-US" sz="1200" b="1" dirty="0">
                <a:solidFill>
                  <a:srgbClr val="3D4B5E"/>
                </a:solidFill>
                <a:latin typeface="Inter" pitchFamily="34" charset="0"/>
                <a:ea typeface="Inter" pitchFamily="34" charset="-122"/>
                <a:cs typeface="Inter" pitchFamily="34" charset="-120"/>
              </a:rPr>
              <a:t>TX</a:t>
            </a:r>
            <a:r>
              <a:rPr lang="en-US" sz="1200" dirty="0">
                <a:solidFill>
                  <a:srgbClr val="3D4B5E"/>
                </a:solidFill>
                <a:latin typeface="Inter" pitchFamily="34" charset="0"/>
                <a:ea typeface="Inter" pitchFamily="34" charset="-122"/>
                <a:cs typeface="Inter" pitchFamily="34" charset="-120"/>
              </a:rPr>
              <a:t> sulla riga.</a:t>
            </a:r>
            <a:endParaRPr lang="en-US" sz="1200" dirty="0"/>
          </a:p>
        </p:txBody>
      </p:sp>
      <p:sp>
        <p:nvSpPr>
          <p:cNvPr id="7" name="Text 5"/>
          <p:cNvSpPr/>
          <p:nvPr/>
        </p:nvSpPr>
        <p:spPr>
          <a:xfrm>
            <a:off x="61976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CONNESSIONE 2 · RESTA IN ATTESA</a:t>
            </a:r>
            <a:endParaRPr lang="en-US" sz="1200" dirty="0"/>
          </a:p>
        </p:txBody>
      </p:sp>
      <p:sp>
        <p:nvSpPr>
          <p:cNvPr id="8" name="Text 6"/>
          <p:cNvSpPr/>
          <p:nvPr/>
        </p:nvSpPr>
        <p:spPr>
          <a:xfrm>
            <a:off x="6197600" y="2115827"/>
            <a:ext cx="5181600" cy="118872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Stessa riga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UPDATE tuning_user.ordini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SET   importo = 500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id_ordine = 1;</a:t>
            </a:r>
            <a:endParaRPr lang="en-US" sz="1200" dirty="0"/>
          </a:p>
        </p:txBody>
      </p:sp>
      <p:sp>
        <p:nvSpPr>
          <p:cNvPr id="9" name="Text 7"/>
          <p:cNvSpPr/>
          <p:nvPr/>
        </p:nvSpPr>
        <p:spPr>
          <a:xfrm>
            <a:off x="6197600" y="3406142"/>
            <a:ext cx="5337048"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Il terminale si blocca: il wait event è generato.</a:t>
            </a:r>
            <a:endParaRPr lang="en-US" sz="1200" dirty="0"/>
          </a:p>
        </p:txBody>
      </p:sp>
      <p:sp>
        <p:nvSpPr>
          <p:cNvPr id="10" name="Text 8"/>
          <p:cNvSpPr/>
          <p:nvPr/>
        </p:nvSpPr>
        <p:spPr>
          <a:xfrm>
            <a:off x="812800" y="3881127"/>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Serve una </a:t>
            </a:r>
            <a:r>
              <a:rPr lang="en-US" sz="1300" b="1" dirty="0">
                <a:solidFill>
                  <a:srgbClr val="0F1B2D"/>
                </a:solidFill>
                <a:latin typeface="Inter" pitchFamily="34" charset="0"/>
                <a:ea typeface="Inter" pitchFamily="34" charset="-122"/>
                <a:cs typeface="Inter" pitchFamily="34" charset="-120"/>
              </a:rPr>
              <a:t>terza connessione</a:t>
            </a:r>
            <a:r>
              <a:rPr lang="en-US" sz="1300" dirty="0">
                <a:solidFill>
                  <a:srgbClr val="0F1B2D"/>
                </a:solidFill>
                <a:latin typeface="Inter" pitchFamily="34" charset="0"/>
                <a:ea typeface="Inter" pitchFamily="34" charset="-122"/>
                <a:cs typeface="Inter" pitchFamily="34" charset="-120"/>
              </a:rPr>
              <a:t> per il DBA. Il rallentamento qui è logico, non hardware.</a:t>
            </a:r>
            <a:endParaRPr lang="en-US" sz="13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2 · FASE 3 · CONNESSIONE 3 (DBA)</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Chi sta </a:t>
            </a:r>
            <a:r>
              <a:rPr lang="en-US" sz="3000" b="1" i="0" kern="0" spc="-60" dirty="0">
                <a:solidFill>
                  <a:srgbClr val="2E6BD1"/>
                </a:solidFill>
                <a:latin typeface="Inter" pitchFamily="34" charset="0"/>
                <a:ea typeface="Inter" pitchFamily="34" charset="-122"/>
                <a:cs typeface="Inter" pitchFamily="34" charset="-120"/>
              </a:rPr>
              <a:t>aspettando</a:t>
            </a:r>
            <a:r>
              <a:rPr lang="en-US" sz="3000" b="1" i="0" kern="0" spc="-60" dirty="0">
                <a:solidFill>
                  <a:srgbClr val="0F1B2D"/>
                </a:solidFill>
                <a:latin typeface="Inter" pitchFamily="34" charset="0"/>
                <a:ea typeface="Inter" pitchFamily="34" charset="-122"/>
                <a:cs typeface="Inter" pitchFamily="34" charset="-120"/>
              </a:rPr>
              <a:t>, e cosa?</a:t>
            </a:r>
            <a:endParaRPr lang="en-US" sz="3000" dirty="0"/>
          </a:p>
        </p:txBody>
      </p:sp>
      <p:sp>
        <p:nvSpPr>
          <p:cNvPr id="4" name="Text 2"/>
          <p:cNvSpPr/>
          <p:nvPr/>
        </p:nvSpPr>
        <p:spPr>
          <a:xfrm>
            <a:off x="812800" y="1800858"/>
            <a:ext cx="6106160" cy="190246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sid, username, sql_id,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event, state,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wait_time_micro / 1000000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AS secondi_attesa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v$session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status = 'ACTIVE'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type != 'BACKGROUND';</a:t>
            </a:r>
            <a:endParaRPr lang="en-US" sz="1200" dirty="0"/>
          </a:p>
        </p:txBody>
      </p:sp>
      <p:sp>
        <p:nvSpPr>
          <p:cNvPr id="5" name="Shape 3"/>
          <p:cNvSpPr/>
          <p:nvPr/>
        </p:nvSpPr>
        <p:spPr>
          <a:xfrm>
            <a:off x="7172960" y="1800858"/>
            <a:ext cx="4206240" cy="2092960"/>
          </a:xfrm>
          <a:prstGeom prst="rect">
            <a:avLst/>
          </a:prstGeom>
          <a:solidFill>
            <a:srgbClr val="FFFFFF"/>
          </a:solidFill>
          <a:ln/>
        </p:spPr>
        <p:txBody>
          <a:bodyPr/>
          <a:lstStyle/>
          <a:p>
            <a:endParaRPr lang="it-IT"/>
          </a:p>
        </p:txBody>
      </p:sp>
      <p:sp>
        <p:nvSpPr>
          <p:cNvPr id="6" name="Shape 4"/>
          <p:cNvSpPr/>
          <p:nvPr/>
        </p:nvSpPr>
        <p:spPr>
          <a:xfrm>
            <a:off x="7172960" y="1813558"/>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COSA NOTARE</a:t>
            </a:r>
            <a:endParaRPr lang="en-US" sz="1200" dirty="0"/>
          </a:p>
        </p:txBody>
      </p:sp>
      <p:sp>
        <p:nvSpPr>
          <p:cNvPr id="8" name="Text 6"/>
          <p:cNvSpPr/>
          <p:nvPr/>
        </p:nvSpPr>
        <p:spPr>
          <a:xfrm>
            <a:off x="7376160" y="2357127"/>
            <a:ext cx="3913835"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EVENT</a:t>
            </a:r>
            <a:r>
              <a:rPr lang="en-US" sz="1200" dirty="0">
                <a:solidFill>
                  <a:srgbClr val="3D4B5E"/>
                </a:solidFill>
                <a:latin typeface="Inter" pitchFamily="34" charset="0"/>
                <a:ea typeface="Inter" pitchFamily="34" charset="-122"/>
                <a:cs typeface="Inter" pitchFamily="34" charset="-120"/>
              </a:rPr>
              <a:t> = enq: TX - row lock contention: la prova che non manca CPU o RAM.</a:t>
            </a:r>
            <a:endParaRPr lang="en-US" sz="1200" dirty="0"/>
          </a:p>
        </p:txBody>
      </p:sp>
      <p:sp>
        <p:nvSpPr>
          <p:cNvPr id="9" name="Text 7"/>
          <p:cNvSpPr/>
          <p:nvPr/>
        </p:nvSpPr>
        <p:spPr>
          <a:xfrm>
            <a:off x="7376160" y="2913385"/>
            <a:ext cx="3913835" cy="24638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STATE</a:t>
            </a:r>
            <a:r>
              <a:rPr lang="en-US" sz="1200" dirty="0">
                <a:solidFill>
                  <a:srgbClr val="3D4B5E"/>
                </a:solidFill>
                <a:latin typeface="Inter" pitchFamily="34" charset="0"/>
                <a:ea typeface="Inter" pitchFamily="34" charset="-122"/>
                <a:cs typeface="Inter" pitchFamily="34" charset="-120"/>
              </a:rPr>
              <a:t> = WAITING</a:t>
            </a:r>
            <a:endParaRPr lang="en-US" sz="1200" dirty="0"/>
          </a:p>
        </p:txBody>
      </p:sp>
      <p:sp>
        <p:nvSpPr>
          <p:cNvPr id="10" name="Text 8"/>
          <p:cNvSpPr/>
          <p:nvPr/>
        </p:nvSpPr>
        <p:spPr>
          <a:xfrm>
            <a:off x="7376160" y="3248658"/>
            <a:ext cx="3913835"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secondi_attesa</a:t>
            </a:r>
            <a:r>
              <a:rPr lang="en-US" sz="1200" dirty="0">
                <a:solidFill>
                  <a:srgbClr val="3D4B5E"/>
                </a:solidFill>
                <a:latin typeface="Inter" pitchFamily="34" charset="0"/>
                <a:ea typeface="Inter" pitchFamily="34" charset="-122"/>
                <a:cs typeface="Inter" pitchFamily="34" charset="-120"/>
              </a:rPr>
              <a:t> continua a crescere a ogni riesecuzione.</a:t>
            </a:r>
            <a:endParaRPr lang="en-US" sz="12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2 · FASE 4 · CONNESSIONE 3 (DBA)</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vittima </a:t>
            </a:r>
            <a:r>
              <a:rPr lang="en-US" sz="3000" b="1" i="0" kern="0" spc="-60" dirty="0">
                <a:solidFill>
                  <a:srgbClr val="2E6BD1"/>
                </a:solidFill>
                <a:latin typeface="Inter" pitchFamily="34" charset="0"/>
                <a:ea typeface="Inter" pitchFamily="34" charset="-122"/>
                <a:cs typeface="Inter" pitchFamily="34" charset="-120"/>
              </a:rPr>
              <a:t>e il carnefice</a:t>
            </a:r>
            <a:endParaRPr lang="en-US" sz="3000" dirty="0"/>
          </a:p>
        </p:txBody>
      </p:sp>
      <p:sp>
        <p:nvSpPr>
          <p:cNvPr id="4" name="Text 2"/>
          <p:cNvSpPr/>
          <p:nvPr/>
        </p:nvSpPr>
        <p:spPr>
          <a:xfrm>
            <a:off x="812800" y="1800858"/>
            <a:ext cx="6106160" cy="234442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s1.sid                AS sessione_bloccata,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s1.event            AS motivo_attesa,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s1.blocking_session AS colpevole_sid,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s2.username        AS colpevole_user,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s2.status          AS colpevole_stato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v$session s1</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v$session s2</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ON s1.blocking_session = s2.sid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s1.blocking_session IS NOT NULL;</a:t>
            </a:r>
            <a:endParaRPr lang="en-US" sz="1200" dirty="0"/>
          </a:p>
        </p:txBody>
      </p:sp>
      <p:sp>
        <p:nvSpPr>
          <p:cNvPr id="5" name="Shape 3"/>
          <p:cNvSpPr/>
          <p:nvPr/>
        </p:nvSpPr>
        <p:spPr>
          <a:xfrm>
            <a:off x="7172960" y="1800858"/>
            <a:ext cx="4206240" cy="1990090"/>
          </a:xfrm>
          <a:prstGeom prst="rect">
            <a:avLst/>
          </a:prstGeom>
          <a:solidFill>
            <a:srgbClr val="0F1B2D"/>
          </a:solidFill>
          <a:ln/>
        </p:spPr>
        <p:txBody>
          <a:bodyPr/>
          <a:lstStyle/>
          <a:p>
            <a:endParaRPr lang="it-IT"/>
          </a:p>
        </p:txBody>
      </p:sp>
      <p:sp>
        <p:nvSpPr>
          <p:cNvPr id="6" name="Text 4"/>
          <p:cNvSpPr/>
          <p:nvPr/>
        </p:nvSpPr>
        <p:spPr>
          <a:xfrm>
            <a:off x="7376160" y="20040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IL MOMENTO “AHA”</a:t>
            </a:r>
            <a:endParaRPr lang="en-US" sz="1200" dirty="0"/>
          </a:p>
        </p:txBody>
      </p:sp>
      <p:sp>
        <p:nvSpPr>
          <p:cNvPr id="7" name="Text 5"/>
          <p:cNvSpPr/>
          <p:nvPr/>
        </p:nvSpPr>
        <p:spPr>
          <a:xfrm>
            <a:off x="7376160" y="2331727"/>
            <a:ext cx="3913835"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6F8FB"/>
                </a:solidFill>
                <a:latin typeface="Inter" pitchFamily="34" charset="0"/>
                <a:ea typeface="Inter" pitchFamily="34" charset="-122"/>
                <a:cs typeface="Inter" pitchFamily="34" charset="-120"/>
              </a:rPr>
              <a:t>Il SID della Connessione 1 paralizza la Connessione 2.</a:t>
            </a:r>
            <a:endParaRPr lang="en-US" sz="1300" dirty="0"/>
          </a:p>
        </p:txBody>
      </p:sp>
      <p:sp>
        <p:nvSpPr>
          <p:cNvPr id="8" name="Text 6"/>
          <p:cNvSpPr/>
          <p:nvPr/>
        </p:nvSpPr>
        <p:spPr>
          <a:xfrm>
            <a:off x="7376160" y="2924808"/>
            <a:ext cx="3913835"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Spesso il colpevole è </a:t>
            </a:r>
            <a:r>
              <a:rPr lang="en-US" sz="1200" b="1" dirty="0">
                <a:solidFill>
                  <a:srgbClr val="C9D6E8"/>
                </a:solidFill>
                <a:latin typeface="Inter" pitchFamily="34" charset="0"/>
                <a:ea typeface="Inter" pitchFamily="34" charset="-122"/>
                <a:cs typeface="Inter" pitchFamily="34" charset="-120"/>
              </a:rPr>
              <a:t>INACTIVE</a:t>
            </a:r>
            <a:r>
              <a:rPr lang="en-US" sz="1200" dirty="0">
                <a:solidFill>
                  <a:srgbClr val="C9D6E8"/>
                </a:solidFill>
                <a:latin typeface="Inter" pitchFamily="34" charset="0"/>
                <a:ea typeface="Inter" pitchFamily="34" charset="-122"/>
                <a:cs typeface="Inter" pitchFamily="34" charset="-120"/>
              </a:rPr>
              <a:t>: ha eseguito l’UPDATE e si è “dimenticato” di chiudere la transazione con COMMIT o ROLLBACK.</a:t>
            </a:r>
            <a:endParaRPr lang="en-US" sz="12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2 · FASE 5 · CONNESSIONE 3 (DBA)</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Analisi storica con </a:t>
            </a:r>
            <a:r>
              <a:rPr lang="en-US" sz="3000" b="1" i="0" kern="0" spc="-60" dirty="0">
                <a:solidFill>
                  <a:srgbClr val="2E6BD1"/>
                </a:solidFill>
                <a:latin typeface="Inter" pitchFamily="34" charset="0"/>
                <a:ea typeface="Inter" pitchFamily="34" charset="-122"/>
                <a:cs typeface="Inter" pitchFamily="34" charset="-120"/>
              </a:rPr>
              <a:t>ASH</a:t>
            </a:r>
            <a:endParaRPr lang="en-US" sz="3000" dirty="0"/>
          </a:p>
        </p:txBody>
      </p:sp>
      <p:sp>
        <p:nvSpPr>
          <p:cNvPr id="4" name="Text 2"/>
          <p:cNvSpPr/>
          <p:nvPr/>
        </p:nvSpPr>
        <p:spPr>
          <a:xfrm>
            <a:off x="812800" y="1800858"/>
            <a:ext cx="2419033" cy="365760"/>
          </a:xfrm>
          <a:prstGeom prst="rect">
            <a:avLst/>
          </a:prstGeom>
          <a:solidFill>
            <a:srgbClr val="0F1B2D"/>
          </a:solidFill>
          <a:ln/>
        </p:spPr>
        <p:txBody>
          <a:bodyPr wrap="none" lIns="0" tIns="0" rIns="0" bIns="0" rtlCol="0" anchor="ctr">
            <a:normAutofit/>
          </a:bodyPr>
          <a:lstStyle/>
          <a:p>
            <a:pPr marL="0" indent="0" algn="ctr">
              <a:lnSpc>
                <a:spcPts val="1680"/>
              </a:lnSpc>
              <a:buNone/>
            </a:pPr>
            <a:r>
              <a:rPr lang="en-US" sz="1200" b="1" dirty="0">
                <a:solidFill>
                  <a:srgbClr val="F6F8FB"/>
                </a:solidFill>
                <a:latin typeface="Inter" pitchFamily="34" charset="0"/>
                <a:ea typeface="Inter" pitchFamily="34" charset="-122"/>
                <a:cs typeface="Inter" pitchFamily="34" charset="-120"/>
              </a:rPr>
              <a:t>1 · COMMIT su Connessione 1</a:t>
            </a:r>
            <a:endParaRPr lang="en-US" sz="1200" dirty="0"/>
          </a:p>
        </p:txBody>
      </p:sp>
      <p:pic>
        <p:nvPicPr>
          <p:cNvPr id="5" name="Image 0" descr="Play"/>
          <p:cNvPicPr>
            <a:picLocks noChangeAspect="1"/>
          </p:cNvPicPr>
          <p:nvPr/>
        </p:nvPicPr>
        <p:blipFill>
          <a:blip r:embed="rId3"/>
          <a:srcRect/>
          <a:stretch/>
        </p:blipFill>
        <p:spPr>
          <a:xfrm>
            <a:off x="3358833" y="1882142"/>
            <a:ext cx="203200" cy="203200"/>
          </a:xfrm>
          <a:prstGeom prst="rect">
            <a:avLst/>
          </a:prstGeom>
        </p:spPr>
      </p:pic>
      <p:sp>
        <p:nvSpPr>
          <p:cNvPr id="6" name="Text 3"/>
          <p:cNvSpPr/>
          <p:nvPr/>
        </p:nvSpPr>
        <p:spPr>
          <a:xfrm>
            <a:off x="3689033" y="1800858"/>
            <a:ext cx="2351326" cy="365760"/>
          </a:xfrm>
          <a:prstGeom prst="rect">
            <a:avLst/>
          </a:prstGeom>
          <a:solidFill>
            <a:srgbClr val="0F1B2D"/>
          </a:solidFill>
          <a:ln/>
        </p:spPr>
        <p:txBody>
          <a:bodyPr wrap="none" lIns="0" tIns="0" rIns="0" bIns="0" rtlCol="0" anchor="ctr">
            <a:normAutofit/>
          </a:bodyPr>
          <a:lstStyle/>
          <a:p>
            <a:pPr marL="0" indent="0" algn="ctr">
              <a:lnSpc>
                <a:spcPts val="1680"/>
              </a:lnSpc>
              <a:buNone/>
            </a:pPr>
            <a:r>
              <a:rPr lang="en-US" sz="1200" b="1" dirty="0">
                <a:solidFill>
                  <a:srgbClr val="F6F8FB"/>
                </a:solidFill>
                <a:latin typeface="Inter" pitchFamily="34" charset="0"/>
                <a:ea typeface="Inter" pitchFamily="34" charset="-122"/>
                <a:cs typeface="Inter" pitchFamily="34" charset="-120"/>
              </a:rPr>
              <a:t>2 · Connessione 2 si sblocca</a:t>
            </a:r>
            <a:endParaRPr lang="en-US" sz="1200" dirty="0"/>
          </a:p>
        </p:txBody>
      </p:sp>
      <p:pic>
        <p:nvPicPr>
          <p:cNvPr id="7" name="Image 1" descr="Play"/>
          <p:cNvPicPr>
            <a:picLocks noChangeAspect="1"/>
          </p:cNvPicPr>
          <p:nvPr/>
        </p:nvPicPr>
        <p:blipFill>
          <a:blip r:embed="rId3"/>
          <a:srcRect/>
          <a:stretch/>
        </p:blipFill>
        <p:spPr>
          <a:xfrm>
            <a:off x="6167358" y="1882142"/>
            <a:ext cx="203200" cy="203200"/>
          </a:xfrm>
          <a:prstGeom prst="rect">
            <a:avLst/>
          </a:prstGeom>
        </p:spPr>
      </p:pic>
      <p:sp>
        <p:nvSpPr>
          <p:cNvPr id="8" name="Text 4"/>
          <p:cNvSpPr/>
          <p:nvPr/>
        </p:nvSpPr>
        <p:spPr>
          <a:xfrm>
            <a:off x="6497558" y="1800858"/>
            <a:ext cx="1928177" cy="365760"/>
          </a:xfrm>
          <a:prstGeom prst="rect">
            <a:avLst/>
          </a:prstGeom>
          <a:solidFill>
            <a:srgbClr val="DCE5F2"/>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Inter" pitchFamily="34" charset="0"/>
                <a:ea typeface="Inter" pitchFamily="34" charset="-122"/>
                <a:cs typeface="Inter" pitchFamily="34" charset="-120"/>
              </a:rPr>
              <a:t>3 · V$SESSION è pulita</a:t>
            </a:r>
            <a:endParaRPr lang="en-US" sz="1200" dirty="0"/>
          </a:p>
        </p:txBody>
      </p:sp>
      <p:sp>
        <p:nvSpPr>
          <p:cNvPr id="9" name="Text 5"/>
          <p:cNvSpPr/>
          <p:nvPr/>
        </p:nvSpPr>
        <p:spPr>
          <a:xfrm>
            <a:off x="812800" y="2420627"/>
            <a:ext cx="6106160" cy="168148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sample_time, session_id,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blocking_session, event, sql_id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v$active_session_history</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event = 'enq: TX - row lock contention'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ORDER BY sample_time DESC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FETCH FIRST 5 ROWS ONLY;</a:t>
            </a:r>
            <a:endParaRPr lang="en-US" sz="1200" dirty="0"/>
          </a:p>
        </p:txBody>
      </p:sp>
      <p:sp>
        <p:nvSpPr>
          <p:cNvPr id="10" name="Shape 6"/>
          <p:cNvSpPr/>
          <p:nvPr/>
        </p:nvSpPr>
        <p:spPr>
          <a:xfrm>
            <a:off x="7172960" y="2420627"/>
            <a:ext cx="4206240" cy="1732280"/>
          </a:xfrm>
          <a:prstGeom prst="rect">
            <a:avLst/>
          </a:prstGeom>
          <a:solidFill>
            <a:srgbClr val="FFFFFF"/>
          </a:solidFill>
          <a:ln/>
        </p:spPr>
        <p:txBody>
          <a:bodyPr/>
          <a:lstStyle/>
          <a:p>
            <a:endParaRPr lang="it-IT"/>
          </a:p>
        </p:txBody>
      </p:sp>
      <p:sp>
        <p:nvSpPr>
          <p:cNvPr id="11" name="Shape 7"/>
          <p:cNvSpPr/>
          <p:nvPr/>
        </p:nvSpPr>
        <p:spPr>
          <a:xfrm>
            <a:off x="7172960" y="2433327"/>
            <a:ext cx="4206240" cy="0"/>
          </a:xfrm>
          <a:prstGeom prst="line">
            <a:avLst/>
          </a:prstGeom>
          <a:noFill/>
          <a:ln w="25400">
            <a:solidFill>
              <a:srgbClr val="2E6BD1"/>
            </a:solidFill>
            <a:prstDash val="solid"/>
          </a:ln>
        </p:spPr>
        <p:txBody>
          <a:bodyPr/>
          <a:lstStyle/>
          <a:p>
            <a:endParaRPr lang="it-IT"/>
          </a:p>
        </p:txBody>
      </p:sp>
      <p:sp>
        <p:nvSpPr>
          <p:cNvPr id="12" name="Text 8"/>
          <p:cNvSpPr/>
          <p:nvPr/>
        </p:nvSpPr>
        <p:spPr>
          <a:xfrm>
            <a:off x="7376160" y="2649227"/>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 SCATOLA NERA</a:t>
            </a:r>
            <a:endParaRPr lang="en-US" sz="1200" dirty="0"/>
          </a:p>
        </p:txBody>
      </p:sp>
      <p:sp>
        <p:nvSpPr>
          <p:cNvPr id="13" name="Text 9"/>
          <p:cNvSpPr/>
          <p:nvPr/>
        </p:nvSpPr>
        <p:spPr>
          <a:xfrm>
            <a:off x="7376160" y="2964185"/>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ASH campiona ogni secondo le sessioni attive e le storicizza.</a:t>
            </a:r>
            <a:endParaRPr lang="en-US" sz="1200" dirty="0"/>
          </a:p>
        </p:txBody>
      </p:sp>
      <p:sp>
        <p:nvSpPr>
          <p:cNvPr id="14" name="Text 10"/>
          <p:cNvSpPr/>
          <p:nvPr/>
        </p:nvSpPr>
        <p:spPr>
          <a:xfrm>
            <a:off x="7376160" y="3507742"/>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Anche a incidente risolto restituisce SQL_ID, ora esatta e chi bloccava: analisi post-mortem.</a:t>
            </a:r>
            <a:endParaRPr lang="en-US" sz="1200" dirty="0"/>
          </a:p>
        </p:txBody>
      </p:sp>
      <p:sp>
        <p:nvSpPr>
          <p:cNvPr id="15" name="Text 1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19085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04</a:t>
            </a:r>
            <a:endParaRPr lang="en-US" sz="1400" dirty="0"/>
          </a:p>
        </p:txBody>
      </p:sp>
      <p:sp>
        <p:nvSpPr>
          <p:cNvPr id="3" name="Text 1"/>
          <p:cNvSpPr/>
          <p:nvPr/>
        </p:nvSpPr>
        <p:spPr>
          <a:xfrm>
            <a:off x="812800" y="236069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POMERIGGIO · TEORIA</a:t>
            </a:r>
            <a:endParaRPr lang="en-US" sz="1200" dirty="0"/>
          </a:p>
        </p:txBody>
      </p:sp>
      <p:sp>
        <p:nvSpPr>
          <p:cNvPr id="4" name="Text 2"/>
          <p:cNvSpPr>
            <a:spLocks noGrp="1"/>
          </p:cNvSpPr>
          <p:nvPr>
            <p:ph type="title"/>
          </p:nvPr>
        </p:nvSpPr>
        <p:spPr>
          <a:xfrm>
            <a:off x="812800" y="277725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err="1">
                <a:solidFill>
                  <a:srgbClr val="5B9BFF"/>
                </a:solidFill>
                <a:latin typeface="Inter" pitchFamily="34" charset="0"/>
                <a:ea typeface="Inter" pitchFamily="34" charset="-122"/>
                <a:cs typeface="Inter" pitchFamily="34" charset="-120"/>
              </a:rPr>
              <a:t>L’ottimizzatore</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e i tool di access plan</a:t>
            </a:r>
            <a:endParaRPr lang="en-US" sz="5200" dirty="0"/>
          </a:p>
        </p:txBody>
      </p:sp>
      <p:sp>
        <p:nvSpPr>
          <p:cNvPr id="5" name="Text 3"/>
          <p:cNvSpPr/>
          <p:nvPr/>
        </p:nvSpPr>
        <p:spPr>
          <a:xfrm>
            <a:off x="812800" y="4380471"/>
            <a:ext cx="784860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Come il Cost-Based Optimizer sceglie un piano, e come leggerlo con EXPLAIN PLAN, AUTOTRACE e DBMS_XPLAN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COST-BASED OPTIMIZER</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Dal testo SQL </a:t>
            </a:r>
            <a:r>
              <a:rPr lang="en-US" sz="3000" b="1" i="0" kern="0" spc="-60" dirty="0">
                <a:solidFill>
                  <a:srgbClr val="2E6BD1"/>
                </a:solidFill>
                <a:latin typeface="Inter" pitchFamily="34" charset="0"/>
                <a:ea typeface="Inter" pitchFamily="34" charset="-122"/>
                <a:cs typeface="Inter" pitchFamily="34" charset="-120"/>
              </a:rPr>
              <a:t>al piano più economico</a:t>
            </a:r>
            <a:endParaRPr lang="en-US" sz="3000" dirty="0"/>
          </a:p>
        </p:txBody>
      </p:sp>
      <p:sp>
        <p:nvSpPr>
          <p:cNvPr id="4" name="Shape 2"/>
          <p:cNvSpPr/>
          <p:nvPr/>
        </p:nvSpPr>
        <p:spPr>
          <a:xfrm>
            <a:off x="812800" y="1800858"/>
            <a:ext cx="2113280" cy="1574800"/>
          </a:xfrm>
          <a:prstGeom prst="rect">
            <a:avLst/>
          </a:prstGeom>
          <a:solidFill>
            <a:srgbClr val="FFFFFF"/>
          </a:solidFill>
          <a:ln/>
        </p:spPr>
        <p:txBody>
          <a:bodyPr/>
          <a:lstStyle/>
          <a:p>
            <a:endParaRPr lang="it-IT"/>
          </a:p>
        </p:txBody>
      </p:sp>
      <p:sp>
        <p:nvSpPr>
          <p:cNvPr id="5" name="Shape 3"/>
          <p:cNvSpPr/>
          <p:nvPr/>
        </p:nvSpPr>
        <p:spPr>
          <a:xfrm>
            <a:off x="812800" y="1813558"/>
            <a:ext cx="2113280" cy="0"/>
          </a:xfrm>
          <a:prstGeom prst="line">
            <a:avLst/>
          </a:prstGeom>
          <a:noFill/>
          <a:ln w="25400">
            <a:solidFill>
              <a:srgbClr val="94A3B8"/>
            </a:solidFill>
            <a:prstDash val="solid"/>
          </a:ln>
        </p:spPr>
        <p:txBody>
          <a:bodyPr/>
          <a:lstStyle/>
          <a:p>
            <a:endParaRPr lang="it-IT"/>
          </a:p>
        </p:txBody>
      </p:sp>
      <p:sp>
        <p:nvSpPr>
          <p:cNvPr id="6" name="Text 4"/>
          <p:cNvSpPr/>
          <p:nvPr/>
        </p:nvSpPr>
        <p:spPr>
          <a:xfrm>
            <a:off x="990600" y="2004058"/>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80"/>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990600" y="2280927"/>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Parse</a:t>
            </a:r>
            <a:endParaRPr lang="en-US" sz="1400" dirty="0"/>
          </a:p>
        </p:txBody>
      </p:sp>
      <p:sp>
        <p:nvSpPr>
          <p:cNvPr id="8" name="Text 6"/>
          <p:cNvSpPr/>
          <p:nvPr/>
        </p:nvSpPr>
        <p:spPr>
          <a:xfrm>
            <a:off x="990600" y="25577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Sintassi, semantica, privilegi</a:t>
            </a:r>
            <a:endParaRPr lang="en-US" sz="1200" dirty="0"/>
          </a:p>
        </p:txBody>
      </p:sp>
      <p:sp>
        <p:nvSpPr>
          <p:cNvPr id="9" name="Shape 7"/>
          <p:cNvSpPr/>
          <p:nvPr/>
        </p:nvSpPr>
        <p:spPr>
          <a:xfrm>
            <a:off x="2926080" y="1800858"/>
            <a:ext cx="2113280" cy="1574800"/>
          </a:xfrm>
          <a:prstGeom prst="rect">
            <a:avLst/>
          </a:prstGeom>
          <a:solidFill>
            <a:srgbClr val="FFFFFF"/>
          </a:solidFill>
          <a:ln/>
        </p:spPr>
        <p:txBody>
          <a:bodyPr/>
          <a:lstStyle/>
          <a:p>
            <a:endParaRPr lang="it-IT"/>
          </a:p>
        </p:txBody>
      </p:sp>
      <p:sp>
        <p:nvSpPr>
          <p:cNvPr id="10" name="Shape 8"/>
          <p:cNvSpPr/>
          <p:nvPr/>
        </p:nvSpPr>
        <p:spPr>
          <a:xfrm>
            <a:off x="2926080" y="1813558"/>
            <a:ext cx="2113280" cy="0"/>
          </a:xfrm>
          <a:prstGeom prst="line">
            <a:avLst/>
          </a:prstGeom>
          <a:noFill/>
          <a:ln w="25400">
            <a:solidFill>
              <a:srgbClr val="2E6BD1"/>
            </a:solidFill>
            <a:prstDash val="solid"/>
          </a:ln>
        </p:spPr>
        <p:txBody>
          <a:bodyPr/>
          <a:lstStyle/>
          <a:p>
            <a:endParaRPr lang="it-IT"/>
          </a:p>
        </p:txBody>
      </p:sp>
      <p:sp>
        <p:nvSpPr>
          <p:cNvPr id="11" name="Text 9"/>
          <p:cNvSpPr/>
          <p:nvPr/>
        </p:nvSpPr>
        <p:spPr>
          <a:xfrm>
            <a:off x="3103880" y="2004058"/>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02</a:t>
            </a:r>
            <a:endParaRPr lang="en-US" sz="1200" dirty="0"/>
          </a:p>
        </p:txBody>
      </p:sp>
      <p:sp>
        <p:nvSpPr>
          <p:cNvPr id="12" name="Text 10"/>
          <p:cNvSpPr/>
          <p:nvPr/>
        </p:nvSpPr>
        <p:spPr>
          <a:xfrm>
            <a:off x="3103880" y="2280927"/>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Transformer</a:t>
            </a:r>
            <a:endParaRPr lang="en-US" sz="1400" dirty="0"/>
          </a:p>
        </p:txBody>
      </p:sp>
      <p:sp>
        <p:nvSpPr>
          <p:cNvPr id="13" name="Text 11"/>
          <p:cNvSpPr/>
          <p:nvPr/>
        </p:nvSpPr>
        <p:spPr>
          <a:xfrm>
            <a:off x="3103880" y="2557785"/>
            <a:ext cx="181041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Riscrive la query: view merging, subquery unnesting</a:t>
            </a:r>
            <a:endParaRPr lang="en-US" sz="1200" dirty="0"/>
          </a:p>
        </p:txBody>
      </p:sp>
      <p:sp>
        <p:nvSpPr>
          <p:cNvPr id="14" name="Shape 12"/>
          <p:cNvSpPr/>
          <p:nvPr/>
        </p:nvSpPr>
        <p:spPr>
          <a:xfrm>
            <a:off x="5039360" y="1800858"/>
            <a:ext cx="2113280" cy="1574800"/>
          </a:xfrm>
          <a:prstGeom prst="rect">
            <a:avLst/>
          </a:prstGeom>
          <a:solidFill>
            <a:srgbClr val="FFFFFF"/>
          </a:solidFill>
          <a:ln/>
        </p:spPr>
        <p:txBody>
          <a:bodyPr/>
          <a:lstStyle/>
          <a:p>
            <a:endParaRPr lang="it-IT"/>
          </a:p>
        </p:txBody>
      </p:sp>
      <p:sp>
        <p:nvSpPr>
          <p:cNvPr id="15" name="Shape 13"/>
          <p:cNvSpPr/>
          <p:nvPr/>
        </p:nvSpPr>
        <p:spPr>
          <a:xfrm>
            <a:off x="5039360" y="1813558"/>
            <a:ext cx="2113280" cy="0"/>
          </a:xfrm>
          <a:prstGeom prst="line">
            <a:avLst/>
          </a:prstGeom>
          <a:noFill/>
          <a:ln w="25400">
            <a:solidFill>
              <a:srgbClr val="2E6BD1"/>
            </a:solidFill>
            <a:prstDash val="solid"/>
          </a:ln>
        </p:spPr>
        <p:txBody>
          <a:bodyPr/>
          <a:lstStyle/>
          <a:p>
            <a:endParaRPr lang="it-IT"/>
          </a:p>
        </p:txBody>
      </p:sp>
      <p:sp>
        <p:nvSpPr>
          <p:cNvPr id="16" name="Text 14"/>
          <p:cNvSpPr/>
          <p:nvPr/>
        </p:nvSpPr>
        <p:spPr>
          <a:xfrm>
            <a:off x="5217160" y="2004058"/>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03</a:t>
            </a:r>
            <a:endParaRPr lang="en-US" sz="1200" dirty="0"/>
          </a:p>
        </p:txBody>
      </p:sp>
      <p:sp>
        <p:nvSpPr>
          <p:cNvPr id="17" name="Text 15"/>
          <p:cNvSpPr/>
          <p:nvPr/>
        </p:nvSpPr>
        <p:spPr>
          <a:xfrm>
            <a:off x="5217160" y="2280927"/>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Estimator</a:t>
            </a:r>
            <a:endParaRPr lang="en-US" sz="1400" dirty="0"/>
          </a:p>
        </p:txBody>
      </p:sp>
      <p:sp>
        <p:nvSpPr>
          <p:cNvPr id="18" name="Text 16"/>
          <p:cNvSpPr/>
          <p:nvPr/>
        </p:nvSpPr>
        <p:spPr>
          <a:xfrm>
            <a:off x="5217160" y="25577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Selettività, cardinalità, costo</a:t>
            </a:r>
            <a:endParaRPr lang="en-US" sz="1200" dirty="0"/>
          </a:p>
        </p:txBody>
      </p:sp>
      <p:sp>
        <p:nvSpPr>
          <p:cNvPr id="19" name="Shape 17"/>
          <p:cNvSpPr/>
          <p:nvPr/>
        </p:nvSpPr>
        <p:spPr>
          <a:xfrm>
            <a:off x="7152640" y="1800858"/>
            <a:ext cx="2113280" cy="1574800"/>
          </a:xfrm>
          <a:prstGeom prst="rect">
            <a:avLst/>
          </a:prstGeom>
          <a:solidFill>
            <a:srgbClr val="FFFFFF"/>
          </a:solidFill>
          <a:ln/>
        </p:spPr>
        <p:txBody>
          <a:bodyPr/>
          <a:lstStyle/>
          <a:p>
            <a:endParaRPr lang="it-IT"/>
          </a:p>
        </p:txBody>
      </p:sp>
      <p:sp>
        <p:nvSpPr>
          <p:cNvPr id="20" name="Shape 18"/>
          <p:cNvSpPr/>
          <p:nvPr/>
        </p:nvSpPr>
        <p:spPr>
          <a:xfrm>
            <a:off x="7152640" y="1813558"/>
            <a:ext cx="2113280" cy="0"/>
          </a:xfrm>
          <a:prstGeom prst="line">
            <a:avLst/>
          </a:prstGeom>
          <a:noFill/>
          <a:ln w="25400">
            <a:solidFill>
              <a:srgbClr val="2E6BD1"/>
            </a:solidFill>
            <a:prstDash val="solid"/>
          </a:ln>
        </p:spPr>
        <p:txBody>
          <a:bodyPr/>
          <a:lstStyle/>
          <a:p>
            <a:endParaRPr lang="it-IT"/>
          </a:p>
        </p:txBody>
      </p:sp>
      <p:sp>
        <p:nvSpPr>
          <p:cNvPr id="21" name="Text 19"/>
          <p:cNvSpPr/>
          <p:nvPr/>
        </p:nvSpPr>
        <p:spPr>
          <a:xfrm>
            <a:off x="7330440" y="2004058"/>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04</a:t>
            </a:r>
            <a:endParaRPr lang="en-US" sz="1200" dirty="0"/>
          </a:p>
        </p:txBody>
      </p:sp>
      <p:sp>
        <p:nvSpPr>
          <p:cNvPr id="22" name="Text 20"/>
          <p:cNvSpPr/>
          <p:nvPr/>
        </p:nvSpPr>
        <p:spPr>
          <a:xfrm>
            <a:off x="7330440" y="2280927"/>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Plan generator</a:t>
            </a:r>
            <a:endParaRPr lang="en-US" sz="1400" dirty="0"/>
          </a:p>
        </p:txBody>
      </p:sp>
      <p:sp>
        <p:nvSpPr>
          <p:cNvPr id="23" name="Text 21"/>
          <p:cNvSpPr/>
          <p:nvPr/>
        </p:nvSpPr>
        <p:spPr>
          <a:xfrm>
            <a:off x="7330440" y="25577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Confronta alternative, sceglie il costo minore</a:t>
            </a:r>
            <a:endParaRPr lang="en-US" sz="1200" dirty="0"/>
          </a:p>
        </p:txBody>
      </p:sp>
      <p:sp>
        <p:nvSpPr>
          <p:cNvPr id="24" name="Shape 22"/>
          <p:cNvSpPr/>
          <p:nvPr/>
        </p:nvSpPr>
        <p:spPr>
          <a:xfrm>
            <a:off x="9265920" y="1800858"/>
            <a:ext cx="2113280" cy="1574800"/>
          </a:xfrm>
          <a:prstGeom prst="rect">
            <a:avLst/>
          </a:prstGeom>
          <a:solidFill>
            <a:srgbClr val="0F1B2D"/>
          </a:solidFill>
          <a:ln/>
        </p:spPr>
        <p:txBody>
          <a:bodyPr/>
          <a:lstStyle/>
          <a:p>
            <a:endParaRPr lang="it-IT"/>
          </a:p>
        </p:txBody>
      </p:sp>
      <p:sp>
        <p:nvSpPr>
          <p:cNvPr id="25" name="Shape 23"/>
          <p:cNvSpPr/>
          <p:nvPr/>
        </p:nvSpPr>
        <p:spPr>
          <a:xfrm>
            <a:off x="9265920" y="1813558"/>
            <a:ext cx="2113280" cy="0"/>
          </a:xfrm>
          <a:prstGeom prst="line">
            <a:avLst/>
          </a:prstGeom>
          <a:noFill/>
          <a:ln w="25400">
            <a:solidFill>
              <a:srgbClr val="2E6BD1"/>
            </a:solidFill>
            <a:prstDash val="solid"/>
          </a:ln>
        </p:spPr>
        <p:txBody>
          <a:bodyPr/>
          <a:lstStyle/>
          <a:p>
            <a:endParaRPr lang="it-IT"/>
          </a:p>
        </p:txBody>
      </p:sp>
      <p:sp>
        <p:nvSpPr>
          <p:cNvPr id="26" name="Text 24"/>
          <p:cNvSpPr/>
          <p:nvPr/>
        </p:nvSpPr>
        <p:spPr>
          <a:xfrm>
            <a:off x="9443720" y="2004058"/>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05</a:t>
            </a:r>
            <a:endParaRPr lang="en-US" sz="1200" dirty="0"/>
          </a:p>
        </p:txBody>
      </p:sp>
      <p:sp>
        <p:nvSpPr>
          <p:cNvPr id="27" name="Text 25"/>
          <p:cNvSpPr/>
          <p:nvPr/>
        </p:nvSpPr>
        <p:spPr>
          <a:xfrm>
            <a:off x="9443720" y="2280927"/>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8FB"/>
                </a:solidFill>
                <a:latin typeface="Inter" pitchFamily="34" charset="0"/>
                <a:ea typeface="Inter" pitchFamily="34" charset="-122"/>
                <a:cs typeface="Inter" pitchFamily="34" charset="-120"/>
              </a:rPr>
              <a:t>Esecuzione</a:t>
            </a:r>
            <a:endParaRPr lang="en-US" sz="1400" dirty="0"/>
          </a:p>
        </p:txBody>
      </p:sp>
      <p:sp>
        <p:nvSpPr>
          <p:cNvPr id="28" name="Text 26"/>
          <p:cNvSpPr/>
          <p:nvPr/>
        </p:nvSpPr>
        <p:spPr>
          <a:xfrm>
            <a:off x="9443720" y="25577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8"/>
                </a:solidFill>
                <a:latin typeface="Inter" pitchFamily="34" charset="0"/>
                <a:ea typeface="Inter" pitchFamily="34" charset="-122"/>
                <a:cs typeface="Inter" pitchFamily="34" charset="-120"/>
              </a:rPr>
              <a:t>Il piano va in Shared Pool e viene riusato</a:t>
            </a:r>
            <a:endParaRPr lang="en-US" sz="1200" dirty="0"/>
          </a:p>
        </p:txBody>
      </p:sp>
      <p:sp>
        <p:nvSpPr>
          <p:cNvPr id="29" name="Shape 27"/>
          <p:cNvSpPr/>
          <p:nvPr/>
        </p:nvSpPr>
        <p:spPr>
          <a:xfrm>
            <a:off x="812800" y="3629670"/>
            <a:ext cx="5207000" cy="1010920"/>
          </a:xfrm>
          <a:prstGeom prst="rect">
            <a:avLst/>
          </a:prstGeom>
          <a:solidFill>
            <a:srgbClr val="DCE5F2"/>
          </a:solidFill>
          <a:ln/>
        </p:spPr>
        <p:txBody>
          <a:bodyPr/>
          <a:lstStyle/>
          <a:p>
            <a:endParaRPr lang="it-IT"/>
          </a:p>
        </p:txBody>
      </p:sp>
      <p:sp>
        <p:nvSpPr>
          <p:cNvPr id="30" name="Text 28"/>
          <p:cNvSpPr/>
          <p:nvPr/>
        </p:nvSpPr>
        <p:spPr>
          <a:xfrm>
            <a:off x="1016000" y="3782070"/>
            <a:ext cx="494461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1B4C9C"/>
                </a:solidFill>
                <a:latin typeface="Inter" pitchFamily="34" charset="0"/>
                <a:ea typeface="Inter" pitchFamily="34" charset="-122"/>
                <a:cs typeface="Inter" pitchFamily="34" charset="-120"/>
              </a:rPr>
              <a:t>GLI INPUT</a:t>
            </a:r>
            <a:endParaRPr lang="en-US" sz="1200" dirty="0"/>
          </a:p>
        </p:txBody>
      </p:sp>
      <p:sp>
        <p:nvSpPr>
          <p:cNvPr id="31" name="Text 29"/>
          <p:cNvSpPr/>
          <p:nvPr/>
        </p:nvSpPr>
        <p:spPr>
          <a:xfrm>
            <a:off x="1016000" y="4046215"/>
            <a:ext cx="494461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Statistiche di oggetti e colonne (DBMS_STATS), system statistics, parametri (OPTIMIZER_MODE), hint</a:t>
            </a:r>
            <a:endParaRPr lang="en-US" sz="1200" dirty="0"/>
          </a:p>
        </p:txBody>
      </p:sp>
      <p:sp>
        <p:nvSpPr>
          <p:cNvPr id="32" name="Shape 30"/>
          <p:cNvSpPr/>
          <p:nvPr/>
        </p:nvSpPr>
        <p:spPr>
          <a:xfrm>
            <a:off x="6172200" y="3629670"/>
            <a:ext cx="5207000" cy="1010920"/>
          </a:xfrm>
          <a:prstGeom prst="rect">
            <a:avLst/>
          </a:prstGeom>
          <a:solidFill>
            <a:srgbClr val="DCE5F2"/>
          </a:solidFill>
          <a:ln/>
        </p:spPr>
        <p:txBody>
          <a:bodyPr/>
          <a:lstStyle/>
          <a:p>
            <a:endParaRPr lang="it-IT"/>
          </a:p>
        </p:txBody>
      </p:sp>
      <p:sp>
        <p:nvSpPr>
          <p:cNvPr id="33" name="Text 31"/>
          <p:cNvSpPr/>
          <p:nvPr/>
        </p:nvSpPr>
        <p:spPr>
          <a:xfrm>
            <a:off x="6375400" y="3782070"/>
            <a:ext cx="494461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1B4C9C"/>
                </a:solidFill>
                <a:latin typeface="Inter" pitchFamily="34" charset="0"/>
                <a:ea typeface="Inter" pitchFamily="34" charset="-122"/>
                <a:cs typeface="Inter" pitchFamily="34" charset="-120"/>
              </a:rPr>
              <a:t>IL COSTO</a:t>
            </a:r>
            <a:endParaRPr lang="en-US" sz="1200" dirty="0"/>
          </a:p>
        </p:txBody>
      </p:sp>
      <p:sp>
        <p:nvSpPr>
          <p:cNvPr id="34" name="Text 32"/>
          <p:cNvSpPr/>
          <p:nvPr/>
        </p:nvSpPr>
        <p:spPr>
          <a:xfrm>
            <a:off x="6375400" y="4046215"/>
            <a:ext cx="494461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Stima di I/O + CPU + rete, in unità di letture a singolo blocco. Non sono secondi.</a:t>
            </a:r>
            <a:endParaRPr lang="en-US" sz="1200" dirty="0"/>
          </a:p>
        </p:txBody>
      </p:sp>
      <p:sp>
        <p:nvSpPr>
          <p:cNvPr id="35" name="Text 33"/>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COST-BASED OPTIMIZER</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Tutto parte </a:t>
            </a:r>
            <a:r>
              <a:rPr lang="en-US" sz="3000" b="1" i="0" kern="0" spc="-60" dirty="0">
                <a:solidFill>
                  <a:srgbClr val="2E6BD1"/>
                </a:solidFill>
                <a:latin typeface="Inter" pitchFamily="34" charset="0"/>
                <a:ea typeface="Inter" pitchFamily="34" charset="-122"/>
                <a:cs typeface="Inter" pitchFamily="34" charset="-120"/>
              </a:rPr>
              <a:t>dalla cardinalità</a:t>
            </a:r>
            <a:endParaRPr lang="en-US" sz="3000" dirty="0"/>
          </a:p>
        </p:txBody>
      </p:sp>
      <p:sp>
        <p:nvSpPr>
          <p:cNvPr id="4" name="Text 2"/>
          <p:cNvSpPr/>
          <p:nvPr/>
        </p:nvSpPr>
        <p:spPr>
          <a:xfrm>
            <a:off x="812800" y="1800870"/>
            <a:ext cx="5049266"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3D4B5E"/>
                </a:solidFill>
                <a:latin typeface="Inter" pitchFamily="34" charset="0"/>
                <a:ea typeface="Inter" pitchFamily="34" charset="-122"/>
                <a:cs typeface="Inter" pitchFamily="34" charset="-120"/>
              </a:rPr>
              <a:t>Selettività</a:t>
            </a:r>
            <a:r>
              <a:rPr lang="en-US" sz="1300" dirty="0">
                <a:solidFill>
                  <a:srgbClr val="3D4B5E"/>
                </a:solidFill>
                <a:latin typeface="Inter" pitchFamily="34" charset="0"/>
                <a:ea typeface="Inter" pitchFamily="34" charset="-122"/>
                <a:cs typeface="Inter" pitchFamily="34" charset="-120"/>
              </a:rPr>
              <a:t> = frazione di righe che soddisfa un predicato</a:t>
            </a:r>
            <a:endParaRPr lang="en-US" sz="1300" dirty="0"/>
          </a:p>
        </p:txBody>
      </p:sp>
      <p:sp>
        <p:nvSpPr>
          <p:cNvPr id="5" name="Text 3"/>
          <p:cNvSpPr/>
          <p:nvPr/>
        </p:nvSpPr>
        <p:spPr>
          <a:xfrm>
            <a:off x="812800" y="2200920"/>
            <a:ext cx="5049266"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3D4B5E"/>
                </a:solidFill>
                <a:latin typeface="Inter" pitchFamily="34" charset="0"/>
                <a:ea typeface="Inter" pitchFamily="34" charset="-122"/>
                <a:cs typeface="Inter" pitchFamily="34" charset="-120"/>
              </a:rPr>
              <a:t>Cardinalità</a:t>
            </a:r>
            <a:r>
              <a:rPr lang="en-US" sz="1300" dirty="0">
                <a:solidFill>
                  <a:srgbClr val="3D4B5E"/>
                </a:solidFill>
                <a:latin typeface="Inter" pitchFamily="34" charset="0"/>
                <a:ea typeface="Inter" pitchFamily="34" charset="-122"/>
                <a:cs typeface="Inter" pitchFamily="34" charset="-120"/>
              </a:rPr>
              <a:t> = righe totali × selettività</a:t>
            </a:r>
            <a:endParaRPr lang="en-US" sz="1300" dirty="0"/>
          </a:p>
        </p:txBody>
      </p:sp>
      <p:sp>
        <p:nvSpPr>
          <p:cNvPr id="6" name="Text 4"/>
          <p:cNvSpPr/>
          <p:nvPr/>
        </p:nvSpPr>
        <p:spPr>
          <a:xfrm>
            <a:off x="812800" y="2600970"/>
            <a:ext cx="4902200" cy="1188720"/>
          </a:xfrm>
          <a:prstGeom prst="rect">
            <a:avLst/>
          </a:prstGeom>
          <a:solidFill>
            <a:srgbClr val="0F1B2D"/>
          </a:solidFill>
          <a:ln/>
        </p:spPr>
        <p:txBody>
          <a:bodyPr wrap="square" lIns="177800" tIns="152400" rIns="41402"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stato = 'IN_ATTESA'</a:t>
            </a: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-- 2 valori distinti → 1/2 = 50%</a:t>
            </a: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senza istogramma: stima 250.000</a:t>
            </a: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con istogramma: stima ≈ 50.000</a:t>
            </a:r>
            <a:endParaRPr lang="en-US" sz="1200" dirty="0"/>
          </a:p>
        </p:txBody>
      </p:sp>
      <p:sp>
        <p:nvSpPr>
          <p:cNvPr id="7" name="Shape 5"/>
          <p:cNvSpPr/>
          <p:nvPr/>
        </p:nvSpPr>
        <p:spPr>
          <a:xfrm>
            <a:off x="5969000" y="1800870"/>
            <a:ext cx="5410200" cy="1988820"/>
          </a:xfrm>
          <a:prstGeom prst="rect">
            <a:avLst/>
          </a:prstGeom>
          <a:solidFill>
            <a:srgbClr val="0F1B2D"/>
          </a:solidFill>
          <a:ln/>
        </p:spPr>
        <p:txBody>
          <a:bodyPr/>
          <a:lstStyle/>
          <a:p>
            <a:endParaRPr lang="it-IT"/>
          </a:p>
        </p:txBody>
      </p:sp>
      <p:sp>
        <p:nvSpPr>
          <p:cNvPr id="8" name="Text 6"/>
          <p:cNvSpPr/>
          <p:nvPr/>
        </p:nvSpPr>
        <p:spPr>
          <a:xfrm>
            <a:off x="6223000" y="2077715"/>
            <a:ext cx="5049266" cy="787400"/>
          </a:xfrm>
          <a:prstGeom prst="rect">
            <a:avLst/>
          </a:prstGeom>
          <a:noFill/>
          <a:ln/>
        </p:spPr>
        <p:txBody>
          <a:bodyPr wrap="square" lIns="0" tIns="0" rIns="0" bIns="0" rtlCol="0" anchor="t">
            <a:normAutofit/>
          </a:bodyPr>
          <a:lstStyle/>
          <a:p>
            <a:pPr marL="0" indent="0" algn="l">
              <a:lnSpc>
                <a:spcPts val="6000"/>
              </a:lnSpc>
              <a:buNone/>
            </a:pPr>
            <a:r>
              <a:rPr lang="en-US" sz="6000" b="1" kern="0" spc="-120" dirty="0">
                <a:solidFill>
                  <a:srgbClr val="2E6BD1"/>
                </a:solidFill>
                <a:latin typeface="Inter" pitchFamily="34" charset="0"/>
                <a:ea typeface="Inter" pitchFamily="34" charset="-122"/>
                <a:cs typeface="Inter" pitchFamily="34" charset="-120"/>
              </a:rPr>
              <a:t>10%</a:t>
            </a:r>
            <a:endParaRPr lang="en-US" sz="6000" dirty="0"/>
          </a:p>
        </p:txBody>
      </p:sp>
      <p:sp>
        <p:nvSpPr>
          <p:cNvPr id="9" name="Text 7"/>
          <p:cNvSpPr/>
          <p:nvPr/>
        </p:nvSpPr>
        <p:spPr>
          <a:xfrm>
            <a:off x="6223000" y="2941315"/>
            <a:ext cx="504926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8FB"/>
                </a:solidFill>
                <a:latin typeface="Inter" pitchFamily="34" charset="0"/>
                <a:ea typeface="Inter" pitchFamily="34" charset="-122"/>
                <a:cs typeface="Inter" pitchFamily="34" charset="-120"/>
              </a:rPr>
              <a:t>degli ordini di test è IN_ATTESA: 50.000 su 500.000</a:t>
            </a:r>
            <a:endParaRPr lang="en-US" sz="1400" dirty="0"/>
          </a:p>
        </p:txBody>
      </p:sp>
      <p:sp>
        <p:nvSpPr>
          <p:cNvPr id="10" name="Text 8"/>
          <p:cNvSpPr/>
          <p:nvPr/>
        </p:nvSpPr>
        <p:spPr>
          <a:xfrm>
            <a:off x="6223000" y="3291855"/>
            <a:ext cx="5049266"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Stima sbagliata → metodo di accesso e di join sbagliati</a:t>
            </a:r>
            <a:endParaRPr lang="en-US" sz="1200" dirty="0"/>
          </a:p>
        </p:txBody>
      </p:sp>
      <p:sp>
        <p:nvSpPr>
          <p:cNvPr id="11" name="Text 9"/>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COST-BASED OPTIMIZER</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 percorsi di accesso </a:t>
            </a:r>
            <a:r>
              <a:rPr lang="en-US" sz="3000" b="1" i="0" kern="0" spc="-60" dirty="0">
                <a:solidFill>
                  <a:srgbClr val="2E6BD1"/>
                </a:solidFill>
                <a:latin typeface="Inter" pitchFamily="34" charset="0"/>
                <a:ea typeface="Inter" pitchFamily="34" charset="-122"/>
                <a:cs typeface="Inter" pitchFamily="34" charset="-120"/>
              </a:rPr>
              <a:t>ai dati</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30"/>
          <a:ext cx="10556240" cy="2194560"/>
        </p:xfrm>
        <a:graphic>
          <a:graphicData uri="http://schemas.openxmlformats.org/drawingml/2006/table">
            <a:tbl>
              <a:tblPr/>
              <a:tblGrid>
                <a:gridCol w="2955747">
                  <a:extLst>
                    <a:ext uri="{9D8B030D-6E8A-4147-A177-3AD203B41FA5}">
                      <a16:colId xmlns:a16="http://schemas.microsoft.com/office/drawing/2014/main" val="20000"/>
                    </a:ext>
                  </a:extLst>
                </a:gridCol>
                <a:gridCol w="4222496">
                  <a:extLst>
                    <a:ext uri="{9D8B030D-6E8A-4147-A177-3AD203B41FA5}">
                      <a16:colId xmlns:a16="http://schemas.microsoft.com/office/drawing/2014/main" val="20001"/>
                    </a:ext>
                  </a:extLst>
                </a:gridCol>
                <a:gridCol w="3377997">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Operazione nel piano</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Cosa fa</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Conviene quando</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TABLE ACCESS FULL</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Legge tutti i blocchi fino all’high water mark, a letture multiblocco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Si legge una quota alta delle righe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INDEX UNIQUE SCAN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Un valore in un indice univoco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Ricerca per chiave primaria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INDEX RANGE SCAN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Un intervallo di valori nell’indice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Predicati selettivi, poche righe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TABLE ACCESS BY INDEX ROWID</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Va in tabella usando il ROWID dall’indice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Dopo un index scan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INDEX FAST FULL SCAN</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Legge tutto l’indice come se fosse una tabella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Le colonne richieste stanno nell’indice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259585"/>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Un Full Table Scan non è sempre un errore: lo è quando la query restituisce poche righe su molte.</a:t>
            </a:r>
            <a:endParaRPr lang="en-US" sz="1300" dirty="0"/>
          </a:p>
        </p:txBody>
      </p:sp>
      <p:sp>
        <p:nvSpPr>
          <p:cNvPr id="6" name="Text 3"/>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COST-BASED OPTIMIZER</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Metodi e </a:t>
            </a:r>
            <a:r>
              <a:rPr lang="en-US" sz="3000" b="1" i="0" kern="0" spc="-60" dirty="0">
                <a:solidFill>
                  <a:srgbClr val="2E6BD1"/>
                </a:solidFill>
                <a:latin typeface="Inter" pitchFamily="34" charset="0"/>
                <a:ea typeface="Inter" pitchFamily="34" charset="-122"/>
                <a:cs typeface="Inter" pitchFamily="34" charset="-120"/>
              </a:rPr>
              <a:t>ordine di join</a:t>
            </a:r>
            <a:endParaRPr lang="en-US" sz="3000" dirty="0"/>
          </a:p>
        </p:txBody>
      </p:sp>
      <p:sp>
        <p:nvSpPr>
          <p:cNvPr id="4" name="Shape 2"/>
          <p:cNvSpPr/>
          <p:nvPr/>
        </p:nvSpPr>
        <p:spPr>
          <a:xfrm>
            <a:off x="812800" y="1800870"/>
            <a:ext cx="3420507" cy="1737360"/>
          </a:xfrm>
          <a:prstGeom prst="rect">
            <a:avLst/>
          </a:prstGeom>
          <a:solidFill>
            <a:srgbClr val="FFFFFF"/>
          </a:solidFill>
          <a:ln/>
        </p:spPr>
        <p:txBody>
          <a:bodyPr/>
          <a:lstStyle/>
          <a:p>
            <a:endParaRPr lang="it-IT"/>
          </a:p>
        </p:txBody>
      </p:sp>
      <p:sp>
        <p:nvSpPr>
          <p:cNvPr id="5" name="Shape 3"/>
          <p:cNvSpPr/>
          <p:nvPr/>
        </p:nvSpPr>
        <p:spPr>
          <a:xfrm>
            <a:off x="812800" y="1813570"/>
            <a:ext cx="3420507" cy="0"/>
          </a:xfrm>
          <a:prstGeom prst="line">
            <a:avLst/>
          </a:prstGeom>
          <a:noFill/>
          <a:ln w="25400">
            <a:solidFill>
              <a:srgbClr val="2E6BD1"/>
            </a:solidFill>
            <a:prstDash val="solid"/>
          </a:ln>
        </p:spPr>
        <p:txBody>
          <a:bodyPr/>
          <a:lstStyle/>
          <a:p>
            <a:endParaRPr lang="it-IT"/>
          </a:p>
        </p:txBody>
      </p:sp>
      <p:sp>
        <p:nvSpPr>
          <p:cNvPr id="6" name="Text 4"/>
          <p:cNvSpPr/>
          <p:nvPr/>
        </p:nvSpPr>
        <p:spPr>
          <a:xfrm>
            <a:off x="1016000" y="2029470"/>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Nested Loops</a:t>
            </a:r>
            <a:endParaRPr lang="en-US" sz="1600" dirty="0"/>
          </a:p>
        </p:txBody>
      </p:sp>
      <p:sp>
        <p:nvSpPr>
          <p:cNvPr id="7" name="Text 5"/>
          <p:cNvSpPr/>
          <p:nvPr/>
        </p:nvSpPr>
        <p:spPr>
          <a:xfrm>
            <a:off x="1016000" y="2362200"/>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Per ogni riga della tabella esterna cerca le corrispondenze nella interna.</a:t>
            </a:r>
            <a:endParaRPr lang="en-US" sz="1200" dirty="0"/>
          </a:p>
        </p:txBody>
      </p:sp>
      <p:sp>
        <p:nvSpPr>
          <p:cNvPr id="8" name="Text 6"/>
          <p:cNvSpPr/>
          <p:nvPr/>
        </p:nvSpPr>
        <p:spPr>
          <a:xfrm>
            <a:off x="1016000" y="2893070"/>
            <a:ext cx="3104530"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0F1B2D"/>
                </a:solidFill>
                <a:latin typeface="Inter" pitchFamily="34" charset="0"/>
                <a:ea typeface="Inter" pitchFamily="34" charset="-122"/>
                <a:cs typeface="Inter" pitchFamily="34" charset="-120"/>
              </a:rPr>
              <a:t>Ideale:</a:t>
            </a:r>
            <a:r>
              <a:rPr lang="en-US" sz="1200" dirty="0">
                <a:solidFill>
                  <a:srgbClr val="0F1B2D"/>
                </a:solidFill>
                <a:latin typeface="Inter" pitchFamily="34" charset="0"/>
                <a:ea typeface="Inter" pitchFamily="34" charset="-122"/>
                <a:cs typeface="Inter" pitchFamily="34" charset="-120"/>
              </a:rPr>
              <a:t> poche righe esterne e indice sulla colonna di join della interna.</a:t>
            </a:r>
            <a:endParaRPr lang="en-US" sz="1200" dirty="0"/>
          </a:p>
        </p:txBody>
      </p:sp>
      <p:sp>
        <p:nvSpPr>
          <p:cNvPr id="9" name="Shape 7"/>
          <p:cNvSpPr/>
          <p:nvPr/>
        </p:nvSpPr>
        <p:spPr>
          <a:xfrm>
            <a:off x="4385707" y="1800870"/>
            <a:ext cx="3420586" cy="1737360"/>
          </a:xfrm>
          <a:prstGeom prst="rect">
            <a:avLst/>
          </a:prstGeom>
          <a:solidFill>
            <a:srgbClr val="FFFFFF"/>
          </a:solidFill>
          <a:ln/>
        </p:spPr>
        <p:txBody>
          <a:bodyPr/>
          <a:lstStyle/>
          <a:p>
            <a:endParaRPr lang="it-IT"/>
          </a:p>
        </p:txBody>
      </p:sp>
      <p:sp>
        <p:nvSpPr>
          <p:cNvPr id="10" name="Shape 8"/>
          <p:cNvSpPr/>
          <p:nvPr/>
        </p:nvSpPr>
        <p:spPr>
          <a:xfrm>
            <a:off x="4385707" y="1813570"/>
            <a:ext cx="3420586" cy="0"/>
          </a:xfrm>
          <a:prstGeom prst="line">
            <a:avLst/>
          </a:prstGeom>
          <a:noFill/>
          <a:ln w="25400">
            <a:solidFill>
              <a:srgbClr val="2E6BD1"/>
            </a:solidFill>
            <a:prstDash val="solid"/>
          </a:ln>
        </p:spPr>
        <p:txBody>
          <a:bodyPr/>
          <a:lstStyle/>
          <a:p>
            <a:endParaRPr lang="it-IT"/>
          </a:p>
        </p:txBody>
      </p:sp>
      <p:sp>
        <p:nvSpPr>
          <p:cNvPr id="11" name="Text 9"/>
          <p:cNvSpPr/>
          <p:nvPr/>
        </p:nvSpPr>
        <p:spPr>
          <a:xfrm>
            <a:off x="4588907" y="2029470"/>
            <a:ext cx="31046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Hash Join</a:t>
            </a:r>
            <a:endParaRPr lang="en-US" sz="1600" dirty="0"/>
          </a:p>
        </p:txBody>
      </p:sp>
      <p:sp>
        <p:nvSpPr>
          <p:cNvPr id="12" name="Text 10"/>
          <p:cNvSpPr/>
          <p:nvPr/>
        </p:nvSpPr>
        <p:spPr>
          <a:xfrm>
            <a:off x="4588907" y="2362200"/>
            <a:ext cx="310461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Costruisce in PGA una hash table sulla tabella più piccola, poi scansiona l’altra.</a:t>
            </a:r>
            <a:endParaRPr lang="en-US" sz="1200" dirty="0"/>
          </a:p>
        </p:txBody>
      </p:sp>
      <p:sp>
        <p:nvSpPr>
          <p:cNvPr id="13" name="Text 11"/>
          <p:cNvSpPr/>
          <p:nvPr/>
        </p:nvSpPr>
        <p:spPr>
          <a:xfrm>
            <a:off x="4588907" y="2893070"/>
            <a:ext cx="3104612"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0F1B2D"/>
                </a:solidFill>
                <a:latin typeface="Inter" pitchFamily="34" charset="0"/>
                <a:ea typeface="Inter" pitchFamily="34" charset="-122"/>
                <a:cs typeface="Inter" pitchFamily="34" charset="-120"/>
              </a:rPr>
              <a:t>Ideale:</a:t>
            </a:r>
            <a:r>
              <a:rPr lang="en-US" sz="1200" dirty="0">
                <a:solidFill>
                  <a:srgbClr val="0F1B2D"/>
                </a:solidFill>
                <a:latin typeface="Inter" pitchFamily="34" charset="0"/>
                <a:ea typeface="Inter" pitchFamily="34" charset="-122"/>
                <a:cs typeface="Inter" pitchFamily="34" charset="-120"/>
              </a:rPr>
              <a:t> grandi volumi, join di uguaglianza, nessun indice utile.</a:t>
            </a:r>
            <a:endParaRPr lang="en-US" sz="1200" dirty="0"/>
          </a:p>
        </p:txBody>
      </p:sp>
      <p:sp>
        <p:nvSpPr>
          <p:cNvPr id="14" name="Shape 12"/>
          <p:cNvSpPr/>
          <p:nvPr/>
        </p:nvSpPr>
        <p:spPr>
          <a:xfrm>
            <a:off x="7958693" y="1800870"/>
            <a:ext cx="3420507" cy="1737360"/>
          </a:xfrm>
          <a:prstGeom prst="rect">
            <a:avLst/>
          </a:prstGeom>
          <a:solidFill>
            <a:srgbClr val="FFFFFF"/>
          </a:solidFill>
          <a:ln/>
        </p:spPr>
        <p:txBody>
          <a:bodyPr/>
          <a:lstStyle/>
          <a:p>
            <a:endParaRPr lang="it-IT"/>
          </a:p>
        </p:txBody>
      </p:sp>
      <p:sp>
        <p:nvSpPr>
          <p:cNvPr id="15" name="Shape 13"/>
          <p:cNvSpPr/>
          <p:nvPr/>
        </p:nvSpPr>
        <p:spPr>
          <a:xfrm>
            <a:off x="7958693" y="1813570"/>
            <a:ext cx="3420507" cy="0"/>
          </a:xfrm>
          <a:prstGeom prst="line">
            <a:avLst/>
          </a:prstGeom>
          <a:noFill/>
          <a:ln w="25400">
            <a:solidFill>
              <a:srgbClr val="94A3B8"/>
            </a:solidFill>
            <a:prstDash val="solid"/>
          </a:ln>
        </p:spPr>
        <p:txBody>
          <a:bodyPr/>
          <a:lstStyle/>
          <a:p>
            <a:endParaRPr lang="it-IT"/>
          </a:p>
        </p:txBody>
      </p:sp>
      <p:sp>
        <p:nvSpPr>
          <p:cNvPr id="16" name="Text 14"/>
          <p:cNvSpPr/>
          <p:nvPr/>
        </p:nvSpPr>
        <p:spPr>
          <a:xfrm>
            <a:off x="8161893" y="2029470"/>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Sort Merge Join</a:t>
            </a:r>
            <a:endParaRPr lang="en-US" sz="1600" dirty="0"/>
          </a:p>
        </p:txBody>
      </p:sp>
      <p:sp>
        <p:nvSpPr>
          <p:cNvPr id="17" name="Text 15"/>
          <p:cNvSpPr/>
          <p:nvPr/>
        </p:nvSpPr>
        <p:spPr>
          <a:xfrm>
            <a:off x="8161893" y="2362200"/>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Ordina entrambi gli input sulla chiave e li fonde.</a:t>
            </a:r>
            <a:endParaRPr lang="en-US" sz="1200" dirty="0"/>
          </a:p>
        </p:txBody>
      </p:sp>
      <p:sp>
        <p:nvSpPr>
          <p:cNvPr id="18" name="Text 16"/>
          <p:cNvSpPr/>
          <p:nvPr/>
        </p:nvSpPr>
        <p:spPr>
          <a:xfrm>
            <a:off x="8161893" y="2893070"/>
            <a:ext cx="3104530"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0F1B2D"/>
                </a:solidFill>
                <a:latin typeface="Inter" pitchFamily="34" charset="0"/>
                <a:ea typeface="Inter" pitchFamily="34" charset="-122"/>
                <a:cs typeface="Inter" pitchFamily="34" charset="-120"/>
              </a:rPr>
              <a:t>Ideale:</a:t>
            </a:r>
            <a:r>
              <a:rPr lang="en-US" sz="1200" dirty="0">
                <a:solidFill>
                  <a:srgbClr val="0F1B2D"/>
                </a:solidFill>
                <a:latin typeface="Inter" pitchFamily="34" charset="0"/>
                <a:ea typeface="Inter" pitchFamily="34" charset="-122"/>
                <a:cs typeface="Inter" pitchFamily="34" charset="-120"/>
              </a:rPr>
              <a:t> join di disuguaglianza o input già ordinati.</a:t>
            </a:r>
            <a:endParaRPr lang="en-US" sz="1200" dirty="0"/>
          </a:p>
        </p:txBody>
      </p:sp>
      <p:sp>
        <p:nvSpPr>
          <p:cNvPr id="19" name="Text 17"/>
          <p:cNvSpPr/>
          <p:nvPr/>
        </p:nvSpPr>
        <p:spPr>
          <a:xfrm>
            <a:off x="812800" y="3792215"/>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L’ordine conta: il CBO sceglie quale tabella guida (driving table) in base alle cardinalità stimate dopo i filtri.</a:t>
            </a:r>
            <a:endParaRPr lang="en-US" sz="1300" dirty="0"/>
          </a:p>
        </p:txBody>
      </p:sp>
      <p:sp>
        <p:nvSpPr>
          <p:cNvPr id="20" name="Text 18"/>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TOOL DI ACCESS PLAN</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Tre strumenti, </a:t>
            </a:r>
            <a:r>
              <a:rPr lang="en-US" sz="3000" b="1" i="0" kern="0" spc="-60" dirty="0">
                <a:solidFill>
                  <a:srgbClr val="2E6BD1"/>
                </a:solidFill>
                <a:latin typeface="Inter" pitchFamily="34" charset="0"/>
                <a:ea typeface="Inter" pitchFamily="34" charset="-122"/>
                <a:cs typeface="Inter" pitchFamily="34" charset="-120"/>
              </a:rPr>
              <a:t>tre domande diverse</a:t>
            </a:r>
            <a:endParaRPr lang="en-US" sz="3000" dirty="0"/>
          </a:p>
        </p:txBody>
      </p:sp>
      <p:sp>
        <p:nvSpPr>
          <p:cNvPr id="4" name="Shape 2"/>
          <p:cNvSpPr/>
          <p:nvPr/>
        </p:nvSpPr>
        <p:spPr>
          <a:xfrm>
            <a:off x="812800" y="1800870"/>
            <a:ext cx="3420507" cy="2039620"/>
          </a:xfrm>
          <a:prstGeom prst="rect">
            <a:avLst/>
          </a:prstGeom>
          <a:solidFill>
            <a:srgbClr val="FFFFFF"/>
          </a:solidFill>
          <a:ln/>
        </p:spPr>
        <p:txBody>
          <a:bodyPr/>
          <a:lstStyle/>
          <a:p>
            <a:endParaRPr lang="it-IT"/>
          </a:p>
        </p:txBody>
      </p:sp>
      <p:sp>
        <p:nvSpPr>
          <p:cNvPr id="5" name="Shape 3"/>
          <p:cNvSpPr/>
          <p:nvPr/>
        </p:nvSpPr>
        <p:spPr>
          <a:xfrm>
            <a:off x="812800" y="1813570"/>
            <a:ext cx="3420507" cy="0"/>
          </a:xfrm>
          <a:prstGeom prst="line">
            <a:avLst/>
          </a:prstGeom>
          <a:noFill/>
          <a:ln w="25400">
            <a:solidFill>
              <a:srgbClr val="94A3B8"/>
            </a:solidFill>
            <a:prstDash val="solid"/>
          </a:ln>
        </p:spPr>
        <p:txBody>
          <a:bodyPr/>
          <a:lstStyle/>
          <a:p>
            <a:endParaRPr lang="it-IT"/>
          </a:p>
        </p:txBody>
      </p:sp>
      <p:sp>
        <p:nvSpPr>
          <p:cNvPr id="6" name="Text 4"/>
          <p:cNvSpPr/>
          <p:nvPr/>
        </p:nvSpPr>
        <p:spPr>
          <a:xfrm>
            <a:off x="1016000" y="2029470"/>
            <a:ext cx="3104530"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LA PREVISIONE</a:t>
            </a:r>
            <a:endParaRPr lang="en-US" sz="1200" dirty="0"/>
          </a:p>
        </p:txBody>
      </p:sp>
      <p:sp>
        <p:nvSpPr>
          <p:cNvPr id="7" name="Text 5"/>
          <p:cNvSpPr/>
          <p:nvPr/>
        </p:nvSpPr>
        <p:spPr>
          <a:xfrm>
            <a:off x="1016000" y="2331715"/>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EXPLAIN PLAN</a:t>
            </a:r>
            <a:endParaRPr lang="en-US" sz="1600" dirty="0"/>
          </a:p>
        </p:txBody>
      </p:sp>
      <p:sp>
        <p:nvSpPr>
          <p:cNvPr id="8" name="Text 6"/>
          <p:cNvSpPr/>
          <p:nvPr/>
        </p:nvSpPr>
        <p:spPr>
          <a:xfrm>
            <a:off x="1016000" y="2664470"/>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Non esegue la query. Scrive il piano stimato in PLAN_TABLE.</a:t>
            </a:r>
            <a:endParaRPr lang="en-US" sz="1200" dirty="0"/>
          </a:p>
        </p:txBody>
      </p:sp>
      <p:sp>
        <p:nvSpPr>
          <p:cNvPr id="9" name="Text 7"/>
          <p:cNvSpPr/>
          <p:nvPr/>
        </p:nvSpPr>
        <p:spPr>
          <a:xfrm>
            <a:off x="1016000" y="3195315"/>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Può differire dal piano reale (bind, ambiente).</a:t>
            </a:r>
            <a:endParaRPr lang="en-US" sz="1200" dirty="0"/>
          </a:p>
        </p:txBody>
      </p:sp>
      <p:sp>
        <p:nvSpPr>
          <p:cNvPr id="10" name="Shape 8"/>
          <p:cNvSpPr/>
          <p:nvPr/>
        </p:nvSpPr>
        <p:spPr>
          <a:xfrm>
            <a:off x="4385707" y="1800870"/>
            <a:ext cx="3420586" cy="2039620"/>
          </a:xfrm>
          <a:prstGeom prst="rect">
            <a:avLst/>
          </a:prstGeom>
          <a:solidFill>
            <a:srgbClr val="FFFFFF"/>
          </a:solidFill>
          <a:ln/>
        </p:spPr>
        <p:txBody>
          <a:bodyPr/>
          <a:lstStyle/>
          <a:p>
            <a:endParaRPr lang="it-IT"/>
          </a:p>
        </p:txBody>
      </p:sp>
      <p:sp>
        <p:nvSpPr>
          <p:cNvPr id="11" name="Shape 9"/>
          <p:cNvSpPr/>
          <p:nvPr/>
        </p:nvSpPr>
        <p:spPr>
          <a:xfrm>
            <a:off x="4385707" y="1813570"/>
            <a:ext cx="3420586" cy="0"/>
          </a:xfrm>
          <a:prstGeom prst="line">
            <a:avLst/>
          </a:prstGeom>
          <a:noFill/>
          <a:ln w="25400">
            <a:solidFill>
              <a:srgbClr val="2E6BD1"/>
            </a:solidFill>
            <a:prstDash val="solid"/>
          </a:ln>
        </p:spPr>
        <p:txBody>
          <a:bodyPr/>
          <a:lstStyle/>
          <a:p>
            <a:endParaRPr lang="it-IT"/>
          </a:p>
        </p:txBody>
      </p:sp>
      <p:sp>
        <p:nvSpPr>
          <p:cNvPr id="12" name="Text 10"/>
          <p:cNvSpPr/>
          <p:nvPr/>
        </p:nvSpPr>
        <p:spPr>
          <a:xfrm>
            <a:off x="4588907" y="2029470"/>
            <a:ext cx="310461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IL RIEPILOGO</a:t>
            </a:r>
            <a:endParaRPr lang="en-US" sz="1200" dirty="0"/>
          </a:p>
        </p:txBody>
      </p:sp>
      <p:sp>
        <p:nvSpPr>
          <p:cNvPr id="13" name="Text 11"/>
          <p:cNvSpPr/>
          <p:nvPr/>
        </p:nvSpPr>
        <p:spPr>
          <a:xfrm>
            <a:off x="4588907" y="2331715"/>
            <a:ext cx="31046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nter" pitchFamily="34" charset="0"/>
                <a:ea typeface="Inter" pitchFamily="34" charset="-122"/>
                <a:cs typeface="Inter" pitchFamily="34" charset="-120"/>
              </a:rPr>
              <a:t>AUTOTRACE</a:t>
            </a:r>
            <a:endParaRPr lang="en-US" sz="1600" dirty="0"/>
          </a:p>
        </p:txBody>
      </p:sp>
      <p:sp>
        <p:nvSpPr>
          <p:cNvPr id="14" name="Text 12"/>
          <p:cNvSpPr/>
          <p:nvPr/>
        </p:nvSpPr>
        <p:spPr>
          <a:xfrm>
            <a:off x="4588907" y="2664470"/>
            <a:ext cx="310461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SQL*Plus / SQL Developer: piano + statistiche di esecuzione.</a:t>
            </a:r>
            <a:endParaRPr lang="en-US" sz="1200" dirty="0"/>
          </a:p>
        </p:txBody>
      </p:sp>
      <p:sp>
        <p:nvSpPr>
          <p:cNvPr id="15" name="Text 13"/>
          <p:cNvSpPr/>
          <p:nvPr/>
        </p:nvSpPr>
        <p:spPr>
          <a:xfrm>
            <a:off x="4588907" y="3195315"/>
            <a:ext cx="310461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Consistent gets, physical reads, sorts, righe.</a:t>
            </a:r>
            <a:endParaRPr lang="en-US" sz="1200" dirty="0"/>
          </a:p>
        </p:txBody>
      </p:sp>
      <p:sp>
        <p:nvSpPr>
          <p:cNvPr id="16" name="Shape 14"/>
          <p:cNvSpPr/>
          <p:nvPr/>
        </p:nvSpPr>
        <p:spPr>
          <a:xfrm>
            <a:off x="7958693" y="1800870"/>
            <a:ext cx="3420507" cy="2039620"/>
          </a:xfrm>
          <a:prstGeom prst="rect">
            <a:avLst/>
          </a:prstGeom>
          <a:solidFill>
            <a:srgbClr val="0F1B2D"/>
          </a:solidFill>
          <a:ln/>
        </p:spPr>
        <p:txBody>
          <a:bodyPr/>
          <a:lstStyle/>
          <a:p>
            <a:endParaRPr lang="it-IT"/>
          </a:p>
        </p:txBody>
      </p:sp>
      <p:sp>
        <p:nvSpPr>
          <p:cNvPr id="17" name="Shape 15"/>
          <p:cNvSpPr/>
          <p:nvPr/>
        </p:nvSpPr>
        <p:spPr>
          <a:xfrm>
            <a:off x="7958693" y="1813570"/>
            <a:ext cx="3420507" cy="0"/>
          </a:xfrm>
          <a:prstGeom prst="line">
            <a:avLst/>
          </a:prstGeom>
          <a:noFill/>
          <a:ln w="25400">
            <a:solidFill>
              <a:srgbClr val="2E6BD1"/>
            </a:solidFill>
            <a:prstDash val="solid"/>
          </a:ln>
        </p:spPr>
        <p:txBody>
          <a:bodyPr/>
          <a:lstStyle/>
          <a:p>
            <a:endParaRPr lang="it-IT"/>
          </a:p>
        </p:txBody>
      </p:sp>
      <p:sp>
        <p:nvSpPr>
          <p:cNvPr id="18" name="Text 16"/>
          <p:cNvSpPr/>
          <p:nvPr/>
        </p:nvSpPr>
        <p:spPr>
          <a:xfrm>
            <a:off x="8161893" y="2029470"/>
            <a:ext cx="3104530"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 REALTÀ</a:t>
            </a:r>
            <a:endParaRPr lang="en-US" sz="1200" dirty="0"/>
          </a:p>
        </p:txBody>
      </p:sp>
      <p:sp>
        <p:nvSpPr>
          <p:cNvPr id="19" name="Text 17"/>
          <p:cNvSpPr/>
          <p:nvPr/>
        </p:nvSpPr>
        <p:spPr>
          <a:xfrm>
            <a:off x="8161893" y="2331715"/>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8FB"/>
                </a:solidFill>
                <a:latin typeface="Inter" pitchFamily="34" charset="0"/>
                <a:ea typeface="Inter" pitchFamily="34" charset="-122"/>
                <a:cs typeface="Inter" pitchFamily="34" charset="-120"/>
              </a:rPr>
              <a:t>DBMS_XPLAN</a:t>
            </a:r>
            <a:endParaRPr lang="en-US" sz="1600" dirty="0"/>
          </a:p>
        </p:txBody>
      </p:sp>
      <p:sp>
        <p:nvSpPr>
          <p:cNvPr id="20" name="Text 18"/>
          <p:cNvSpPr/>
          <p:nvPr/>
        </p:nvSpPr>
        <p:spPr>
          <a:xfrm>
            <a:off x="8161893" y="2664470"/>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Formatta i piani: da PLAN_TABLE, dalla Shared Pool (cursore), da AWR.</a:t>
            </a:r>
            <a:endParaRPr lang="en-US" sz="1200" dirty="0"/>
          </a:p>
        </p:txBody>
      </p:sp>
      <p:sp>
        <p:nvSpPr>
          <p:cNvPr id="21" name="Text 19"/>
          <p:cNvSpPr/>
          <p:nvPr/>
        </p:nvSpPr>
        <p:spPr>
          <a:xfrm>
            <a:off x="8161893" y="3195315"/>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6F8FB"/>
                </a:solidFill>
                <a:latin typeface="Inter" pitchFamily="34" charset="0"/>
                <a:ea typeface="Inter" pitchFamily="34" charset="-122"/>
                <a:cs typeface="Inter" pitchFamily="34" charset="-120"/>
              </a:rPr>
              <a:t>Con ALLSTATS LAST: stima vs reale per ogni riga.</a:t>
            </a:r>
            <a:endParaRPr lang="en-US" sz="1200" dirty="0"/>
          </a:p>
        </p:txBody>
      </p:sp>
      <p:sp>
        <p:nvSpPr>
          <p:cNvPr id="22" name="Text 20"/>
          <p:cNvSpPr/>
          <p:nvPr/>
        </p:nvSpPr>
        <p:spPr>
          <a:xfrm>
            <a:off x="812800" y="4094485"/>
            <a:ext cx="10566400" cy="474980"/>
          </a:xfrm>
          <a:prstGeom prst="rect">
            <a:avLst/>
          </a:prstGeom>
          <a:solidFill>
            <a:srgbClr val="0F1B2D"/>
          </a:solidFill>
          <a:ln/>
        </p:spPr>
        <p:txBody>
          <a:bodyPr wrap="square" lIns="203200" tIns="127000" rIns="0"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SET AUTOTRACE TRACEONLY  </a:t>
            </a:r>
            <a:r>
              <a:rPr lang="en-US" sz="1200" dirty="0">
                <a:solidFill>
                  <a:srgbClr val="8DB8FF"/>
                </a:solidFill>
                <a:latin typeface="JetBrains Mono" pitchFamily="49" charset="0"/>
                <a:ea typeface="JetBrains Mono" pitchFamily="49" charset="-122"/>
                <a:cs typeface="JetBrains Mono" pitchFamily="49" charset="-120"/>
              </a:rPr>
              <a:t>-- esegue, mostra piano e statistiche, non le righe</a:t>
            </a:r>
            <a:endParaRPr lang="en-US" sz="1200" dirty="0"/>
          </a:p>
        </p:txBody>
      </p:sp>
      <p:sp>
        <p:nvSpPr>
          <p:cNvPr id="23" name="Text 21"/>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TOOL DI ACCESS PLAN</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Come si legge </a:t>
            </a:r>
            <a:r>
              <a:rPr lang="en-US" sz="3000" b="1" i="0" kern="0" spc="-60" dirty="0">
                <a:solidFill>
                  <a:srgbClr val="2E6BD1"/>
                </a:solidFill>
                <a:latin typeface="Inter" pitchFamily="34" charset="0"/>
                <a:ea typeface="Inter" pitchFamily="34" charset="-122"/>
                <a:cs typeface="Inter" pitchFamily="34" charset="-120"/>
              </a:rPr>
              <a:t>un piano</a:t>
            </a:r>
            <a:endParaRPr lang="en-US" sz="3000" dirty="0"/>
          </a:p>
        </p:txBody>
      </p:sp>
      <p:sp>
        <p:nvSpPr>
          <p:cNvPr id="4" name="Text 2"/>
          <p:cNvSpPr/>
          <p:nvPr/>
        </p:nvSpPr>
        <p:spPr>
          <a:xfrm>
            <a:off x="812800" y="1775470"/>
            <a:ext cx="10566400" cy="1798320"/>
          </a:xfrm>
          <a:prstGeom prst="rect">
            <a:avLst/>
          </a:prstGeom>
          <a:solidFill>
            <a:srgbClr val="0F1B2D"/>
          </a:solidFill>
          <a:ln/>
        </p:spPr>
        <p:txBody>
          <a:bodyPr wrap="square" lIns="203200" tIns="152400" rIns="0" bIns="127000" rtlCol="0" anchor="t">
            <a:normAutofit/>
          </a:bodyPr>
          <a:lstStyle/>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 Id | Operation          | Name    | Rows | Cost (%CPU)|</a:t>
            </a:r>
            <a:endParaRPr lang="en-US" sz="1200" dirty="0"/>
          </a:p>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  0 | SELECT STATEMENT   |         |  ... |    ... |</a:t>
            </a:r>
            <a:endParaRPr lang="en-US" sz="1200" dirty="0"/>
          </a:p>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 1 |  </a:t>
            </a:r>
            <a:r>
              <a:rPr lang="en-US" sz="1200" dirty="0">
                <a:solidFill>
                  <a:srgbClr val="8DB8FF"/>
                </a:solidFill>
                <a:latin typeface="JetBrains Mono" pitchFamily="49" charset="0"/>
                <a:ea typeface="JetBrains Mono" pitchFamily="49" charset="-122"/>
                <a:cs typeface="JetBrains Mono" pitchFamily="49" charset="-120"/>
              </a:rPr>
              <a:t>HASH JOIN</a:t>
            </a:r>
            <a:r>
              <a:rPr lang="en-US" sz="1200" dirty="0">
                <a:solidFill>
                  <a:srgbClr val="F6F8FB"/>
                </a:solidFill>
                <a:latin typeface="JetBrains Mono" pitchFamily="49" charset="0"/>
                <a:ea typeface="JetBrains Mono" pitchFamily="49" charset="-122"/>
                <a:cs typeface="JetBrains Mono" pitchFamily="49" charset="-120"/>
              </a:rPr>
              <a:t>        |         |  ... |    ... |</a:t>
            </a:r>
            <a:endParaRPr lang="en-US" sz="1200" dirty="0"/>
          </a:p>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 2 |   TABLE ACCESS FULL| CLIENTI |  ... |    ... |</a:t>
            </a:r>
            <a:endParaRPr lang="en-US" sz="1200" dirty="0"/>
          </a:p>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 3 |   </a:t>
            </a:r>
            <a:r>
              <a:rPr lang="en-US" sz="1200" dirty="0">
                <a:solidFill>
                  <a:srgbClr val="8DB8FF"/>
                </a:solidFill>
                <a:latin typeface="JetBrains Mono" pitchFamily="49" charset="0"/>
                <a:ea typeface="JetBrains Mono" pitchFamily="49" charset="-122"/>
                <a:cs typeface="JetBrains Mono" pitchFamily="49" charset="-120"/>
              </a:rPr>
              <a:t>TABLE ACCESS FULL</a:t>
            </a:r>
            <a:r>
              <a:rPr lang="en-US" sz="1200" dirty="0">
                <a:solidFill>
                  <a:srgbClr val="F6F8FB"/>
                </a:solidFill>
                <a:latin typeface="JetBrains Mono" pitchFamily="49" charset="0"/>
                <a:ea typeface="JetBrains Mono" pitchFamily="49" charset="-122"/>
                <a:cs typeface="JetBrains Mono" pitchFamily="49" charset="-120"/>
              </a:rPr>
              <a:t>| ORDINI  |  ... |    ... |</a:t>
            </a:r>
            <a:endParaRPr lang="en-US" sz="1200" dirty="0"/>
          </a:p>
          <a:p>
            <a:pPr marL="0" indent="0" algn="l">
              <a:lnSpc>
                <a:spcPts val="1680"/>
              </a:lnSpc>
              <a:buNone/>
            </a:pPr>
            <a:endParaRPr lang="en-US" sz="1200" dirty="0"/>
          </a:p>
          <a:p>
            <a:pPr marL="0" indent="0" algn="l">
              <a:lnSpc>
                <a:spcPts val="1680"/>
              </a:lnSpc>
              <a:buNone/>
            </a:pPr>
            <a:r>
              <a:rPr lang="en-US" sz="1200" dirty="0">
                <a:solidFill>
                  <a:srgbClr val="F6F8FB"/>
                </a:solidFill>
                <a:latin typeface="JetBrains Mono" pitchFamily="49" charset="0"/>
                <a:ea typeface="JetBrains Mono" pitchFamily="49" charset="-122"/>
                <a:cs typeface="JetBrains Mono" pitchFamily="49" charset="-120"/>
              </a:rPr>
              <a:t>Predicate Information: 1 - access(...)  2,3 - filter(...)</a:t>
            </a:r>
            <a:endParaRPr lang="en-US" sz="1200" dirty="0"/>
          </a:p>
        </p:txBody>
      </p:sp>
      <p:sp>
        <p:nvSpPr>
          <p:cNvPr id="5" name="Shape 3"/>
          <p:cNvSpPr/>
          <p:nvPr/>
        </p:nvSpPr>
        <p:spPr>
          <a:xfrm>
            <a:off x="812800" y="3802385"/>
            <a:ext cx="3420507" cy="1084580"/>
          </a:xfrm>
          <a:prstGeom prst="rect">
            <a:avLst/>
          </a:prstGeom>
          <a:solidFill>
            <a:srgbClr val="FFFFFF"/>
          </a:solidFill>
          <a:ln/>
        </p:spPr>
        <p:txBody>
          <a:bodyPr/>
          <a:lstStyle/>
          <a:p>
            <a:endParaRPr lang="it-IT"/>
          </a:p>
        </p:txBody>
      </p:sp>
      <p:sp>
        <p:nvSpPr>
          <p:cNvPr id="6" name="Shape 4"/>
          <p:cNvSpPr/>
          <p:nvPr/>
        </p:nvSpPr>
        <p:spPr>
          <a:xfrm>
            <a:off x="812800" y="3815085"/>
            <a:ext cx="3420507" cy="0"/>
          </a:xfrm>
          <a:prstGeom prst="line">
            <a:avLst/>
          </a:prstGeom>
          <a:noFill/>
          <a:ln w="25400">
            <a:solidFill>
              <a:srgbClr val="2E6BD1"/>
            </a:solidFill>
            <a:prstDash val="solid"/>
          </a:ln>
        </p:spPr>
        <p:txBody>
          <a:bodyPr/>
          <a:lstStyle/>
          <a:p>
            <a:endParaRPr lang="it-IT"/>
          </a:p>
        </p:txBody>
      </p:sp>
      <p:sp>
        <p:nvSpPr>
          <p:cNvPr id="7" name="Text 5"/>
          <p:cNvSpPr/>
          <p:nvPr/>
        </p:nvSpPr>
        <p:spPr>
          <a:xfrm>
            <a:off x="990600" y="4005585"/>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Ordine</a:t>
            </a:r>
            <a:endParaRPr lang="en-US" sz="1400" dirty="0"/>
          </a:p>
        </p:txBody>
      </p:sp>
      <p:sp>
        <p:nvSpPr>
          <p:cNvPr id="8" name="Text 6"/>
          <p:cNvSpPr/>
          <p:nvPr/>
        </p:nvSpPr>
        <p:spPr>
          <a:xfrm>
            <a:off x="990600" y="4282455"/>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3D4B5E"/>
                </a:solidFill>
                <a:latin typeface="Inter" pitchFamily="34" charset="0"/>
                <a:ea typeface="Inter" pitchFamily="34" charset="-122"/>
                <a:cs typeface="Inter" pitchFamily="34" charset="-120"/>
              </a:rPr>
              <a:t>Operazione</a:t>
            </a:r>
            <a:r>
              <a:rPr lang="en-US" sz="1200" dirty="0">
                <a:solidFill>
                  <a:srgbClr val="3D4B5E"/>
                </a:solidFill>
                <a:latin typeface="Inter" pitchFamily="34" charset="0"/>
                <a:ea typeface="Inter" pitchFamily="34" charset="-122"/>
                <a:cs typeface="Inter" pitchFamily="34" charset="-120"/>
              </a:rPr>
              <a:t> </a:t>
            </a:r>
            <a:r>
              <a:rPr lang="en-US" sz="1200" dirty="0" err="1">
                <a:solidFill>
                  <a:srgbClr val="3D4B5E"/>
                </a:solidFill>
                <a:latin typeface="Inter" pitchFamily="34" charset="0"/>
                <a:ea typeface="Inter" pitchFamily="34" charset="-122"/>
                <a:cs typeface="Inter" pitchFamily="34" charset="-120"/>
              </a:rPr>
              <a:t>più</a:t>
            </a:r>
            <a:r>
              <a:rPr lang="en-US" sz="1200" dirty="0">
                <a:solidFill>
                  <a:srgbClr val="3D4B5E"/>
                </a:solidFill>
                <a:latin typeface="Inter" pitchFamily="34" charset="0"/>
                <a:ea typeface="Inter" pitchFamily="34" charset="-122"/>
                <a:cs typeface="Inter" pitchFamily="34" charset="-120"/>
              </a:rPr>
              <a:t> </a:t>
            </a:r>
            <a:r>
              <a:rPr lang="en-US" sz="1200" dirty="0" err="1">
                <a:solidFill>
                  <a:srgbClr val="3D4B5E"/>
                </a:solidFill>
                <a:latin typeface="Inter" pitchFamily="34" charset="0"/>
                <a:ea typeface="Inter" pitchFamily="34" charset="-122"/>
                <a:cs typeface="Inter" pitchFamily="34" charset="-120"/>
              </a:rPr>
              <a:t>rientrata</a:t>
            </a:r>
            <a:r>
              <a:rPr lang="en-US" sz="1200" dirty="0">
                <a:solidFill>
                  <a:srgbClr val="3D4B5E"/>
                </a:solidFill>
                <a:latin typeface="Inter" pitchFamily="34" charset="0"/>
                <a:ea typeface="Inter" pitchFamily="34" charset="-122"/>
                <a:cs typeface="Inter" pitchFamily="34" charset="-120"/>
              </a:rPr>
              <a:t> , </a:t>
            </a:r>
            <a:r>
              <a:rPr lang="en-US" sz="1200" dirty="0" err="1">
                <a:solidFill>
                  <a:srgbClr val="3D4B5E"/>
                </a:solidFill>
                <a:latin typeface="Inter" pitchFamily="34" charset="0"/>
                <a:ea typeface="Inter" pitchFamily="34" charset="-122"/>
                <a:cs typeface="Inter" pitchFamily="34" charset="-120"/>
              </a:rPr>
              <a:t>dall’alto</a:t>
            </a:r>
            <a:r>
              <a:rPr lang="en-US" sz="1200" dirty="0">
                <a:solidFill>
                  <a:srgbClr val="3D4B5E"/>
                </a:solidFill>
                <a:latin typeface="Inter" pitchFamily="34" charset="0"/>
                <a:ea typeface="Inter" pitchFamily="34" charset="-122"/>
                <a:cs typeface="Inter" pitchFamily="34" charset="-120"/>
              </a:rPr>
              <a:t> verso il  basso. I figli prima del padre.</a:t>
            </a:r>
            <a:endParaRPr lang="en-US" sz="1200" dirty="0"/>
          </a:p>
        </p:txBody>
      </p:sp>
      <p:sp>
        <p:nvSpPr>
          <p:cNvPr id="9" name="Shape 7"/>
          <p:cNvSpPr/>
          <p:nvPr/>
        </p:nvSpPr>
        <p:spPr>
          <a:xfrm>
            <a:off x="4385707" y="3802385"/>
            <a:ext cx="3420586" cy="1084580"/>
          </a:xfrm>
          <a:prstGeom prst="rect">
            <a:avLst/>
          </a:prstGeom>
          <a:solidFill>
            <a:srgbClr val="FFFFFF"/>
          </a:solidFill>
          <a:ln/>
        </p:spPr>
        <p:txBody>
          <a:bodyPr/>
          <a:lstStyle/>
          <a:p>
            <a:endParaRPr lang="it-IT"/>
          </a:p>
        </p:txBody>
      </p:sp>
      <p:sp>
        <p:nvSpPr>
          <p:cNvPr id="10" name="Shape 8"/>
          <p:cNvSpPr/>
          <p:nvPr/>
        </p:nvSpPr>
        <p:spPr>
          <a:xfrm>
            <a:off x="4385707" y="3815085"/>
            <a:ext cx="3420586" cy="0"/>
          </a:xfrm>
          <a:prstGeom prst="line">
            <a:avLst/>
          </a:prstGeom>
          <a:noFill/>
          <a:ln w="25400">
            <a:solidFill>
              <a:srgbClr val="2E6BD1"/>
            </a:solidFill>
            <a:prstDash val="solid"/>
          </a:ln>
        </p:spPr>
        <p:txBody>
          <a:bodyPr/>
          <a:lstStyle/>
          <a:p>
            <a:endParaRPr lang="it-IT"/>
          </a:p>
        </p:txBody>
      </p:sp>
      <p:sp>
        <p:nvSpPr>
          <p:cNvPr id="11" name="Text 9"/>
          <p:cNvSpPr/>
          <p:nvPr/>
        </p:nvSpPr>
        <p:spPr>
          <a:xfrm>
            <a:off x="4563507" y="4005585"/>
            <a:ext cx="315693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Rows e Cost</a:t>
            </a:r>
            <a:endParaRPr lang="en-US" sz="1400" dirty="0"/>
          </a:p>
        </p:txBody>
      </p:sp>
      <p:sp>
        <p:nvSpPr>
          <p:cNvPr id="12" name="Text 10"/>
          <p:cNvSpPr/>
          <p:nvPr/>
        </p:nvSpPr>
        <p:spPr>
          <a:xfrm>
            <a:off x="4563507" y="4282455"/>
            <a:ext cx="315693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Cardinalità stimata e costo cumulativo del sottoalbero.</a:t>
            </a:r>
            <a:endParaRPr lang="en-US" sz="1200" dirty="0"/>
          </a:p>
        </p:txBody>
      </p:sp>
      <p:sp>
        <p:nvSpPr>
          <p:cNvPr id="13" name="Shape 11"/>
          <p:cNvSpPr/>
          <p:nvPr/>
        </p:nvSpPr>
        <p:spPr>
          <a:xfrm>
            <a:off x="7958693" y="3802385"/>
            <a:ext cx="3420507" cy="1084580"/>
          </a:xfrm>
          <a:prstGeom prst="rect">
            <a:avLst/>
          </a:prstGeom>
          <a:solidFill>
            <a:srgbClr val="FFFFFF"/>
          </a:solidFill>
          <a:ln/>
        </p:spPr>
        <p:txBody>
          <a:bodyPr/>
          <a:lstStyle/>
          <a:p>
            <a:endParaRPr lang="it-IT"/>
          </a:p>
        </p:txBody>
      </p:sp>
      <p:sp>
        <p:nvSpPr>
          <p:cNvPr id="14" name="Shape 12"/>
          <p:cNvSpPr/>
          <p:nvPr/>
        </p:nvSpPr>
        <p:spPr>
          <a:xfrm>
            <a:off x="7958693" y="3815085"/>
            <a:ext cx="3420507" cy="0"/>
          </a:xfrm>
          <a:prstGeom prst="line">
            <a:avLst/>
          </a:prstGeom>
          <a:noFill/>
          <a:ln w="25400">
            <a:solidFill>
              <a:srgbClr val="2E6BD1"/>
            </a:solidFill>
            <a:prstDash val="solid"/>
          </a:ln>
        </p:spPr>
        <p:txBody>
          <a:bodyPr/>
          <a:lstStyle/>
          <a:p>
            <a:endParaRPr lang="it-IT"/>
          </a:p>
        </p:txBody>
      </p:sp>
      <p:sp>
        <p:nvSpPr>
          <p:cNvPr id="15" name="Text 13"/>
          <p:cNvSpPr/>
          <p:nvPr/>
        </p:nvSpPr>
        <p:spPr>
          <a:xfrm>
            <a:off x="8136493" y="4005585"/>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Predicati</a:t>
            </a:r>
            <a:endParaRPr lang="en-US" sz="1400" dirty="0"/>
          </a:p>
        </p:txBody>
      </p:sp>
      <p:sp>
        <p:nvSpPr>
          <p:cNvPr id="16" name="Text 14"/>
          <p:cNvSpPr/>
          <p:nvPr/>
        </p:nvSpPr>
        <p:spPr>
          <a:xfrm>
            <a:off x="8136493" y="4282455"/>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access = guida l’accesso; filter = scarta righe dopo averle lette.</a:t>
            </a:r>
            <a:endParaRPr lang="en-US" sz="1200" dirty="0"/>
          </a:p>
        </p:txBody>
      </p:sp>
      <p:sp>
        <p:nvSpPr>
          <p:cNvPr id="17" name="Text 15"/>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TOOL DI ACCESS PLAN</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DBMS_XPLAN: </a:t>
            </a:r>
            <a:r>
              <a:rPr lang="en-US" sz="3000" b="1" i="0" kern="0" spc="-60" dirty="0">
                <a:solidFill>
                  <a:srgbClr val="2E6BD1"/>
                </a:solidFill>
                <a:latin typeface="Inter" pitchFamily="34" charset="0"/>
                <a:ea typeface="Inter" pitchFamily="34" charset="-122"/>
                <a:cs typeface="Inter" pitchFamily="34" charset="-120"/>
              </a:rPr>
              <a:t>stima contro realtà</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30"/>
          <a:ext cx="10556240" cy="1320800"/>
        </p:xfrm>
        <a:graphic>
          <a:graphicData uri="http://schemas.openxmlformats.org/drawingml/2006/table">
            <a:tbl>
              <a:tblPr/>
              <a:tblGrid>
                <a:gridCol w="4855870">
                  <a:extLst>
                    <a:ext uri="{9D8B030D-6E8A-4147-A177-3AD203B41FA5}">
                      <a16:colId xmlns:a16="http://schemas.microsoft.com/office/drawing/2014/main" val="20000"/>
                    </a:ext>
                  </a:extLst>
                </a:gridCol>
                <a:gridCol w="5700370">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Funzione</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Legge il piano da</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PLAN_TABLE, dopo EXPLAIN PLAN (stima)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DISPLAY_CURSOR(sql_id, child, fmt)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Shared Pool: il piano realmente usato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DISPLAY_AWR(sql_id)</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Storico AWR (Diagnostics Pack)</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812800" y="3385815"/>
            <a:ext cx="2546350" cy="782320"/>
          </a:xfrm>
          <a:prstGeom prst="rect">
            <a:avLst/>
          </a:prstGeom>
          <a:solidFill>
            <a:srgbClr val="0F1B2D"/>
          </a:solidFill>
          <a:ln/>
        </p:spPr>
        <p:txBody>
          <a:bodyPr/>
          <a:lstStyle/>
          <a:p>
            <a:endParaRPr lang="it-IT"/>
          </a:p>
        </p:txBody>
      </p:sp>
      <p:sp>
        <p:nvSpPr>
          <p:cNvPr id="6" name="Text 3"/>
          <p:cNvSpPr/>
          <p:nvPr/>
        </p:nvSpPr>
        <p:spPr>
          <a:xfrm>
            <a:off x="965200" y="3538215"/>
            <a:ext cx="230879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E6BD1"/>
                </a:solidFill>
                <a:latin typeface="Inter" pitchFamily="34" charset="0"/>
                <a:ea typeface="Inter" pitchFamily="34" charset="-122"/>
                <a:cs typeface="Inter" pitchFamily="34" charset="-120"/>
              </a:rPr>
              <a:t>E-Rows</a:t>
            </a:r>
            <a:endParaRPr lang="en-US" sz="1400" dirty="0"/>
          </a:p>
        </p:txBody>
      </p:sp>
      <p:sp>
        <p:nvSpPr>
          <p:cNvPr id="7" name="Text 4"/>
          <p:cNvSpPr/>
          <p:nvPr/>
        </p:nvSpPr>
        <p:spPr>
          <a:xfrm>
            <a:off x="965200" y="3802385"/>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Righe stimate dal CBO</a:t>
            </a:r>
            <a:endParaRPr lang="en-US" sz="1200" dirty="0"/>
          </a:p>
        </p:txBody>
      </p:sp>
      <p:sp>
        <p:nvSpPr>
          <p:cNvPr id="8" name="Shape 5"/>
          <p:cNvSpPr/>
          <p:nvPr/>
        </p:nvSpPr>
        <p:spPr>
          <a:xfrm>
            <a:off x="3486150" y="3385815"/>
            <a:ext cx="2546350" cy="782320"/>
          </a:xfrm>
          <a:prstGeom prst="rect">
            <a:avLst/>
          </a:prstGeom>
          <a:solidFill>
            <a:srgbClr val="0F1B2D"/>
          </a:solidFill>
          <a:ln/>
        </p:spPr>
        <p:txBody>
          <a:bodyPr/>
          <a:lstStyle/>
          <a:p>
            <a:endParaRPr lang="it-IT"/>
          </a:p>
        </p:txBody>
      </p:sp>
      <p:sp>
        <p:nvSpPr>
          <p:cNvPr id="9" name="Text 6"/>
          <p:cNvSpPr/>
          <p:nvPr/>
        </p:nvSpPr>
        <p:spPr>
          <a:xfrm>
            <a:off x="3638550" y="3538215"/>
            <a:ext cx="230879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E6BD1"/>
                </a:solidFill>
                <a:latin typeface="Inter" pitchFamily="34" charset="0"/>
                <a:ea typeface="Inter" pitchFamily="34" charset="-122"/>
                <a:cs typeface="Inter" pitchFamily="34" charset="-120"/>
              </a:rPr>
              <a:t>A-Rows</a:t>
            </a:r>
            <a:endParaRPr lang="en-US" sz="1400" dirty="0"/>
          </a:p>
        </p:txBody>
      </p:sp>
      <p:sp>
        <p:nvSpPr>
          <p:cNvPr id="10" name="Text 7"/>
          <p:cNvSpPr/>
          <p:nvPr/>
        </p:nvSpPr>
        <p:spPr>
          <a:xfrm>
            <a:off x="3638550" y="3802385"/>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Righe realmente trovate</a:t>
            </a:r>
            <a:endParaRPr lang="en-US" sz="1200" dirty="0"/>
          </a:p>
        </p:txBody>
      </p:sp>
      <p:sp>
        <p:nvSpPr>
          <p:cNvPr id="11" name="Shape 8"/>
          <p:cNvSpPr/>
          <p:nvPr/>
        </p:nvSpPr>
        <p:spPr>
          <a:xfrm>
            <a:off x="6159500" y="3385815"/>
            <a:ext cx="2546350" cy="782320"/>
          </a:xfrm>
          <a:prstGeom prst="rect">
            <a:avLst/>
          </a:prstGeom>
          <a:solidFill>
            <a:srgbClr val="0F1B2D"/>
          </a:solidFill>
          <a:ln/>
        </p:spPr>
        <p:txBody>
          <a:bodyPr/>
          <a:lstStyle/>
          <a:p>
            <a:endParaRPr lang="it-IT"/>
          </a:p>
        </p:txBody>
      </p:sp>
      <p:sp>
        <p:nvSpPr>
          <p:cNvPr id="12" name="Text 9"/>
          <p:cNvSpPr/>
          <p:nvPr/>
        </p:nvSpPr>
        <p:spPr>
          <a:xfrm>
            <a:off x="6311900" y="3538215"/>
            <a:ext cx="230879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E6BD1"/>
                </a:solidFill>
                <a:latin typeface="Inter" pitchFamily="34" charset="0"/>
                <a:ea typeface="Inter" pitchFamily="34" charset="-122"/>
                <a:cs typeface="Inter" pitchFamily="34" charset="-120"/>
              </a:rPr>
              <a:t>Buffers</a:t>
            </a:r>
            <a:endParaRPr lang="en-US" sz="1400" dirty="0"/>
          </a:p>
        </p:txBody>
      </p:sp>
      <p:sp>
        <p:nvSpPr>
          <p:cNvPr id="13" name="Text 10"/>
          <p:cNvSpPr/>
          <p:nvPr/>
        </p:nvSpPr>
        <p:spPr>
          <a:xfrm>
            <a:off x="6311900" y="3802385"/>
            <a:ext cx="239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Letture logiche (Buffer Cache)</a:t>
            </a:r>
            <a:endParaRPr lang="en-US" sz="1200" dirty="0"/>
          </a:p>
        </p:txBody>
      </p:sp>
      <p:sp>
        <p:nvSpPr>
          <p:cNvPr id="14" name="Shape 11"/>
          <p:cNvSpPr/>
          <p:nvPr/>
        </p:nvSpPr>
        <p:spPr>
          <a:xfrm>
            <a:off x="8832850" y="3385815"/>
            <a:ext cx="2546350" cy="782320"/>
          </a:xfrm>
          <a:prstGeom prst="rect">
            <a:avLst/>
          </a:prstGeom>
          <a:solidFill>
            <a:srgbClr val="0F1B2D"/>
          </a:solidFill>
          <a:ln/>
        </p:spPr>
        <p:txBody>
          <a:bodyPr/>
          <a:lstStyle/>
          <a:p>
            <a:endParaRPr lang="it-IT"/>
          </a:p>
        </p:txBody>
      </p:sp>
      <p:sp>
        <p:nvSpPr>
          <p:cNvPr id="15" name="Text 12"/>
          <p:cNvSpPr/>
          <p:nvPr/>
        </p:nvSpPr>
        <p:spPr>
          <a:xfrm>
            <a:off x="8985250" y="3538215"/>
            <a:ext cx="230879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E6BD1"/>
                </a:solidFill>
                <a:latin typeface="Inter" pitchFamily="34" charset="0"/>
                <a:ea typeface="Inter" pitchFamily="34" charset="-122"/>
                <a:cs typeface="Inter" pitchFamily="34" charset="-120"/>
              </a:rPr>
              <a:t>Reads</a:t>
            </a:r>
            <a:endParaRPr lang="en-US" sz="1400" dirty="0"/>
          </a:p>
        </p:txBody>
      </p:sp>
      <p:sp>
        <p:nvSpPr>
          <p:cNvPr id="16" name="Text 13"/>
          <p:cNvSpPr/>
          <p:nvPr/>
        </p:nvSpPr>
        <p:spPr>
          <a:xfrm>
            <a:off x="8985250" y="3802385"/>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Letture fisiche da disco</a:t>
            </a:r>
            <a:endParaRPr lang="en-US" sz="1200" dirty="0"/>
          </a:p>
        </p:txBody>
      </p:sp>
      <p:sp>
        <p:nvSpPr>
          <p:cNvPr id="17" name="Text 14"/>
          <p:cNvSpPr/>
          <p:nvPr/>
        </p:nvSpPr>
        <p:spPr>
          <a:xfrm>
            <a:off x="812800" y="4422155"/>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E-Rows molto diverso da A-Rows = statistiche vecchie o assenti: il CBO decide al buio.</a:t>
            </a:r>
            <a:endParaRPr lang="en-US" sz="1300" dirty="0"/>
          </a:p>
        </p:txBody>
      </p:sp>
      <p:sp>
        <p:nvSpPr>
          <p:cNvPr id="18" name="Text 15"/>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DCE5F2"/>
        </a:solidFill>
        <a:effectLst/>
      </p:bgPr>
    </p:bg>
    <p:spTree>
      <p:nvGrpSpPr>
        <p:cNvPr id="1" name=""/>
        <p:cNvGrpSpPr/>
        <p:nvPr/>
      </p:nvGrpSpPr>
      <p:grpSpPr>
        <a:xfrm>
          <a:off x="0" y="0"/>
          <a:ext cx="0" cy="0"/>
          <a:chOff x="0" y="0"/>
          <a:chExt cx="0" cy="0"/>
        </a:xfrm>
      </p:grpSpPr>
      <p:sp>
        <p:nvSpPr>
          <p:cNvPr id="2" name="Text 0"/>
          <p:cNvSpPr/>
          <p:nvPr/>
        </p:nvSpPr>
        <p:spPr>
          <a:xfrm>
            <a:off x="812800" y="205082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4C9C"/>
                </a:solidFill>
                <a:latin typeface="Inter" pitchFamily="34" charset="0"/>
                <a:ea typeface="Inter" pitchFamily="34" charset="-122"/>
                <a:cs typeface="Inter" pitchFamily="34" charset="-120"/>
              </a:rPr>
              <a:t>LAB</a:t>
            </a:r>
            <a:endParaRPr lang="en-US" sz="1400" dirty="0"/>
          </a:p>
        </p:txBody>
      </p:sp>
      <p:sp>
        <p:nvSpPr>
          <p:cNvPr id="3" name="Text 1"/>
          <p:cNvSpPr/>
          <p:nvPr/>
        </p:nvSpPr>
        <p:spPr>
          <a:xfrm>
            <a:off x="812800" y="25029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4B5A6E"/>
                </a:solidFill>
                <a:latin typeface="Inter" pitchFamily="34" charset="0"/>
                <a:ea typeface="Inter" pitchFamily="34" charset="-122"/>
                <a:cs typeface="Inter" pitchFamily="34" charset="-120"/>
              </a:rPr>
              <a:t>POMERIGGIO · HANDS-ON · 1–2 H</a:t>
            </a:r>
            <a:endParaRPr lang="en-US" sz="1200" dirty="0"/>
          </a:p>
        </p:txBody>
      </p:sp>
      <p:sp>
        <p:nvSpPr>
          <p:cNvPr id="4" name="Text 2"/>
          <p:cNvSpPr>
            <a:spLocks noGrp="1"/>
          </p:cNvSpPr>
          <p:nvPr>
            <p:ph type="title"/>
          </p:nvPr>
        </p:nvSpPr>
        <p:spPr>
          <a:xfrm>
            <a:off x="812800" y="291948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1B4C9C"/>
                </a:solidFill>
                <a:latin typeface="Inter" pitchFamily="34" charset="0"/>
                <a:ea typeface="Inter" pitchFamily="34" charset="-122"/>
                <a:cs typeface="Inter" pitchFamily="34" charset="-120"/>
              </a:rPr>
              <a:t>Estrazione</a:t>
            </a:r>
            <a:endParaRPr lang="en-US" sz="5200" dirty="0"/>
          </a:p>
          <a:p>
            <a:pPr marL="0" indent="0" algn="l">
              <a:lnSpc>
                <a:spcPts val="5512"/>
              </a:lnSpc>
              <a:buNone/>
            </a:pPr>
            <a:r>
              <a:rPr lang="en-US" sz="5200" b="1" i="0" kern="0" spc="-105" dirty="0">
                <a:solidFill>
                  <a:srgbClr val="0F1B2D"/>
                </a:solidFill>
                <a:latin typeface="Inter" pitchFamily="34" charset="0"/>
                <a:ea typeface="Inter" pitchFamily="34" charset="-122"/>
                <a:cs typeface="Inter" pitchFamily="34" charset="-120"/>
              </a:rPr>
              <a:t>dei piani di esecuzione</a:t>
            </a:r>
            <a:endParaRPr lang="en-US" sz="5200" dirty="0"/>
          </a:p>
        </p:txBody>
      </p:sp>
      <p:sp>
        <p:nvSpPr>
          <p:cNvPr id="5" name="Text 3"/>
          <p:cNvSpPr/>
          <p:nvPr/>
        </p:nvSpPr>
        <p:spPr>
          <a:xfrm>
            <a:off x="812800" y="4522713"/>
            <a:ext cx="850265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B5E"/>
                </a:solidFill>
                <a:latin typeface="Inter" pitchFamily="34" charset="0"/>
                <a:ea typeface="Inter" pitchFamily="34" charset="-122"/>
                <a:cs typeface="Inter" pitchFamily="34" charset="-120"/>
              </a:rPr>
              <a:t>Query lente fornite dal docente: individuare Full Table Scan e join inefficienti</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3 · SETUP</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tabella </a:t>
            </a:r>
            <a:r>
              <a:rPr lang="en-US" sz="3000" b="1" i="0" kern="0" spc="-60" dirty="0">
                <a:solidFill>
                  <a:srgbClr val="2E6BD1"/>
                </a:solidFill>
                <a:latin typeface="Inter" pitchFamily="34" charset="0"/>
                <a:ea typeface="Inter" pitchFamily="34" charset="-122"/>
                <a:cs typeface="Inter" pitchFamily="34" charset="-120"/>
              </a:rPr>
              <a:t>clienti</a:t>
            </a:r>
            <a:endParaRPr lang="en-US" sz="3000" dirty="0"/>
          </a:p>
        </p:txBody>
      </p:sp>
      <p:sp>
        <p:nvSpPr>
          <p:cNvPr id="4" name="Text 2"/>
          <p:cNvSpPr/>
          <p:nvPr/>
        </p:nvSpPr>
        <p:spPr>
          <a:xfrm>
            <a:off x="812800" y="1800870"/>
            <a:ext cx="6106160" cy="367030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TABLE tuning_user.clienti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cliente_id NUMBER,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nome       VARCHAR2(50),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regione    VARCHAR2(20));</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INSERT INTO tuning_user.clienti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level, 'Cliente_' || level,</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CASE MOD(level, 4) WHEN 0 THEN 'Nord'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WHEN 1 THEN 'Centro' WHEN 2 THEN 'Sud'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ELSE 'Isole' END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dual CONNECT BY level &lt;= 10000;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COMMIT;</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Indispensabile per il CBO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EXEC DBMS_STATS.GATHER_TABLE_STATS('TUNING_USER', 'CLIENTI');</a:t>
            </a:r>
            <a:endParaRPr lang="en-US" sz="1200" dirty="0"/>
          </a:p>
        </p:txBody>
      </p:sp>
      <p:sp>
        <p:nvSpPr>
          <p:cNvPr id="5" name="Shape 3"/>
          <p:cNvSpPr/>
          <p:nvPr/>
        </p:nvSpPr>
        <p:spPr>
          <a:xfrm>
            <a:off x="7172960" y="1800870"/>
            <a:ext cx="4206240" cy="1744345"/>
          </a:xfrm>
          <a:prstGeom prst="rect">
            <a:avLst/>
          </a:prstGeom>
          <a:solidFill>
            <a:srgbClr val="FFFFFF"/>
          </a:solidFill>
          <a:ln/>
        </p:spPr>
        <p:txBody>
          <a:bodyPr/>
          <a:lstStyle/>
          <a:p>
            <a:endParaRPr lang="it-IT"/>
          </a:p>
        </p:txBody>
      </p:sp>
      <p:sp>
        <p:nvSpPr>
          <p:cNvPr id="6" name="Shape 4"/>
          <p:cNvSpPr/>
          <p:nvPr/>
        </p:nvSpPr>
        <p:spPr>
          <a:xfrm>
            <a:off x="7172960" y="1813570"/>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70"/>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I DATI</a:t>
            </a:r>
            <a:endParaRPr lang="en-US" sz="1200" dirty="0"/>
          </a:p>
        </p:txBody>
      </p:sp>
      <p:sp>
        <p:nvSpPr>
          <p:cNvPr id="8" name="Text 6"/>
          <p:cNvSpPr/>
          <p:nvPr/>
        </p:nvSpPr>
        <p:spPr>
          <a:xfrm>
            <a:off x="7376160" y="2369815"/>
            <a:ext cx="3913835" cy="264795"/>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10.000</a:t>
            </a:r>
            <a:r>
              <a:rPr lang="en-US" sz="1300" dirty="0">
                <a:solidFill>
                  <a:srgbClr val="3D4B5E"/>
                </a:solidFill>
                <a:latin typeface="Inter" pitchFamily="34" charset="0"/>
                <a:ea typeface="Inter" pitchFamily="34" charset="-122"/>
                <a:cs typeface="Inter" pitchFamily="34" charset="-120"/>
              </a:rPr>
              <a:t> clienti, 2.500 per regione</a:t>
            </a:r>
            <a:endParaRPr lang="en-US" sz="1300" dirty="0"/>
          </a:p>
        </p:txBody>
      </p:sp>
      <p:sp>
        <p:nvSpPr>
          <p:cNvPr id="9" name="Text 7"/>
          <p:cNvSpPr/>
          <p:nvPr/>
        </p:nvSpPr>
        <p:spPr>
          <a:xfrm>
            <a:off x="7376160" y="2736230"/>
            <a:ext cx="3913835" cy="264795"/>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500.000</a:t>
            </a:r>
            <a:r>
              <a:rPr lang="en-US" sz="1300" dirty="0">
                <a:solidFill>
                  <a:srgbClr val="3D4B5E"/>
                </a:solidFill>
                <a:latin typeface="Inter" pitchFamily="34" charset="0"/>
                <a:ea typeface="Inter" pitchFamily="34" charset="-122"/>
                <a:cs typeface="Inter" pitchFamily="34" charset="-120"/>
              </a:rPr>
              <a:t> ordini, 50 per cliente</a:t>
            </a:r>
            <a:endParaRPr lang="en-US" sz="1300" dirty="0"/>
          </a:p>
        </p:txBody>
      </p:sp>
      <p:sp>
        <p:nvSpPr>
          <p:cNvPr id="10" name="Text 8"/>
          <p:cNvSpPr/>
          <p:nvPr/>
        </p:nvSpPr>
        <p:spPr>
          <a:xfrm>
            <a:off x="7376160" y="3102620"/>
            <a:ext cx="3913835" cy="26479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E"/>
                </a:solidFill>
                <a:latin typeface="Inter" pitchFamily="34" charset="0"/>
                <a:ea typeface="Inter" pitchFamily="34" charset="-122"/>
                <a:cs typeface="Inter" pitchFamily="34" charset="-120"/>
              </a:rPr>
              <a:t>Nessun indice su nessuna delle due tabelle</a:t>
            </a:r>
            <a:endParaRPr lang="en-US" sz="1300" dirty="0"/>
          </a:p>
        </p:txBody>
      </p:sp>
      <p:sp>
        <p:nvSpPr>
          <p:cNvPr id="11" name="Text 9"/>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3 · FASE 1 · STRUMENTO 1</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EXPLAIN PLAN: </a:t>
            </a:r>
            <a:r>
              <a:rPr lang="en-US" sz="3000" b="1" i="0" kern="0" spc="-60" dirty="0">
                <a:solidFill>
                  <a:srgbClr val="2E6BD1"/>
                </a:solidFill>
                <a:latin typeface="Inter" pitchFamily="34" charset="0"/>
                <a:ea typeface="Inter" pitchFamily="34" charset="-122"/>
                <a:cs typeface="Inter" pitchFamily="34" charset="-120"/>
              </a:rPr>
              <a:t>la previsione</a:t>
            </a:r>
            <a:endParaRPr lang="en-US" sz="3000" dirty="0"/>
          </a:p>
        </p:txBody>
      </p:sp>
      <p:sp>
        <p:nvSpPr>
          <p:cNvPr id="4" name="Text 2"/>
          <p:cNvSpPr/>
          <p:nvPr/>
        </p:nvSpPr>
        <p:spPr>
          <a:xfrm>
            <a:off x="812800" y="1800870"/>
            <a:ext cx="10566400" cy="1460500"/>
          </a:xfrm>
          <a:prstGeom prst="rect">
            <a:avLst/>
          </a:prstGeom>
          <a:solidFill>
            <a:srgbClr val="0F1B2D"/>
          </a:solidFill>
          <a:ln/>
        </p:spPr>
        <p:txBody>
          <a:bodyPr wrap="square" lIns="203200" tIns="177800" rIns="0" bIns="1524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Non esegue la query: chiede come la eseguirebbe (lanciare come script)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EXPLAIN PLAN FOR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FROM ordini WHERE stato = 'IN_ATTESA' AND importo &gt; 900;</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FROM TABLE(DBMS_XPLAN.DISPLAY);</a:t>
            </a:r>
            <a:endParaRPr lang="en-US" sz="1200" dirty="0"/>
          </a:p>
        </p:txBody>
      </p:sp>
      <p:sp>
        <p:nvSpPr>
          <p:cNvPr id="5" name="Shape 3"/>
          <p:cNvSpPr/>
          <p:nvPr/>
        </p:nvSpPr>
        <p:spPr>
          <a:xfrm>
            <a:off x="812800" y="3515370"/>
            <a:ext cx="3420507" cy="1084580"/>
          </a:xfrm>
          <a:prstGeom prst="rect">
            <a:avLst/>
          </a:prstGeom>
          <a:solidFill>
            <a:srgbClr val="FFFFFF"/>
          </a:solidFill>
          <a:ln/>
        </p:spPr>
        <p:txBody>
          <a:bodyPr/>
          <a:lstStyle/>
          <a:p>
            <a:endParaRPr lang="it-IT"/>
          </a:p>
        </p:txBody>
      </p:sp>
      <p:sp>
        <p:nvSpPr>
          <p:cNvPr id="6" name="Shape 4"/>
          <p:cNvSpPr/>
          <p:nvPr/>
        </p:nvSpPr>
        <p:spPr>
          <a:xfrm>
            <a:off x="812800" y="3528070"/>
            <a:ext cx="3420507" cy="0"/>
          </a:xfrm>
          <a:prstGeom prst="line">
            <a:avLst/>
          </a:prstGeom>
          <a:noFill/>
          <a:ln w="25400">
            <a:solidFill>
              <a:srgbClr val="2E6BD1"/>
            </a:solidFill>
            <a:prstDash val="solid"/>
          </a:ln>
        </p:spPr>
        <p:txBody>
          <a:bodyPr/>
          <a:lstStyle/>
          <a:p>
            <a:endParaRPr lang="it-IT"/>
          </a:p>
        </p:txBody>
      </p:sp>
      <p:sp>
        <p:nvSpPr>
          <p:cNvPr id="7" name="Text 5"/>
          <p:cNvSpPr/>
          <p:nvPr/>
        </p:nvSpPr>
        <p:spPr>
          <a:xfrm>
            <a:off x="990600" y="3718570"/>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TABLE ACCESS FULL</a:t>
            </a:r>
            <a:endParaRPr lang="en-US" sz="1400" dirty="0"/>
          </a:p>
        </p:txBody>
      </p:sp>
      <p:sp>
        <p:nvSpPr>
          <p:cNvPr id="8" name="Text 6"/>
          <p:cNvSpPr/>
          <p:nvPr/>
        </p:nvSpPr>
        <p:spPr>
          <a:xfrm>
            <a:off x="990600" y="3995415"/>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Il database esplorerà tutte le 500.000 righe.</a:t>
            </a:r>
            <a:endParaRPr lang="en-US" sz="1200" dirty="0"/>
          </a:p>
        </p:txBody>
      </p:sp>
      <p:sp>
        <p:nvSpPr>
          <p:cNvPr id="9" name="Shape 7"/>
          <p:cNvSpPr/>
          <p:nvPr/>
        </p:nvSpPr>
        <p:spPr>
          <a:xfrm>
            <a:off x="4385707" y="3515370"/>
            <a:ext cx="3420586" cy="1084580"/>
          </a:xfrm>
          <a:prstGeom prst="rect">
            <a:avLst/>
          </a:prstGeom>
          <a:solidFill>
            <a:srgbClr val="FFFFFF"/>
          </a:solidFill>
          <a:ln/>
        </p:spPr>
        <p:txBody>
          <a:bodyPr/>
          <a:lstStyle/>
          <a:p>
            <a:endParaRPr lang="it-IT"/>
          </a:p>
        </p:txBody>
      </p:sp>
      <p:sp>
        <p:nvSpPr>
          <p:cNvPr id="10" name="Shape 8"/>
          <p:cNvSpPr/>
          <p:nvPr/>
        </p:nvSpPr>
        <p:spPr>
          <a:xfrm>
            <a:off x="4385707" y="3528070"/>
            <a:ext cx="3420586" cy="0"/>
          </a:xfrm>
          <a:prstGeom prst="line">
            <a:avLst/>
          </a:prstGeom>
          <a:noFill/>
          <a:ln w="25400">
            <a:solidFill>
              <a:srgbClr val="2E6BD1"/>
            </a:solidFill>
            <a:prstDash val="solid"/>
          </a:ln>
        </p:spPr>
        <p:txBody>
          <a:bodyPr/>
          <a:lstStyle/>
          <a:p>
            <a:endParaRPr lang="it-IT"/>
          </a:p>
        </p:txBody>
      </p:sp>
      <p:sp>
        <p:nvSpPr>
          <p:cNvPr id="11" name="Text 9"/>
          <p:cNvSpPr/>
          <p:nvPr/>
        </p:nvSpPr>
        <p:spPr>
          <a:xfrm>
            <a:off x="4563507" y="3718570"/>
            <a:ext cx="315693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Rows</a:t>
            </a:r>
            <a:endParaRPr lang="en-US" sz="1400" dirty="0"/>
          </a:p>
        </p:txBody>
      </p:sp>
      <p:sp>
        <p:nvSpPr>
          <p:cNvPr id="12" name="Text 10"/>
          <p:cNvSpPr/>
          <p:nvPr/>
        </p:nvSpPr>
        <p:spPr>
          <a:xfrm>
            <a:off x="4563507" y="3995415"/>
            <a:ext cx="315693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La stima del CBO, dedotta dalle statistiche raccolte con DBMS_STATS.</a:t>
            </a:r>
            <a:endParaRPr lang="en-US" sz="1200" dirty="0"/>
          </a:p>
        </p:txBody>
      </p:sp>
      <p:sp>
        <p:nvSpPr>
          <p:cNvPr id="13" name="Shape 11"/>
          <p:cNvSpPr/>
          <p:nvPr/>
        </p:nvSpPr>
        <p:spPr>
          <a:xfrm>
            <a:off x="7958693" y="3515370"/>
            <a:ext cx="3420507" cy="1084580"/>
          </a:xfrm>
          <a:prstGeom prst="rect">
            <a:avLst/>
          </a:prstGeom>
          <a:solidFill>
            <a:srgbClr val="FFFFFF"/>
          </a:solidFill>
          <a:ln/>
        </p:spPr>
        <p:txBody>
          <a:bodyPr/>
          <a:lstStyle/>
          <a:p>
            <a:endParaRPr lang="it-IT"/>
          </a:p>
        </p:txBody>
      </p:sp>
      <p:sp>
        <p:nvSpPr>
          <p:cNvPr id="14" name="Shape 12"/>
          <p:cNvSpPr/>
          <p:nvPr/>
        </p:nvSpPr>
        <p:spPr>
          <a:xfrm>
            <a:off x="7958693" y="3528070"/>
            <a:ext cx="3420507" cy="0"/>
          </a:xfrm>
          <a:prstGeom prst="line">
            <a:avLst/>
          </a:prstGeom>
          <a:noFill/>
          <a:ln w="25400">
            <a:solidFill>
              <a:srgbClr val="2E6BD1"/>
            </a:solidFill>
            <a:prstDash val="solid"/>
          </a:ln>
        </p:spPr>
        <p:txBody>
          <a:bodyPr/>
          <a:lstStyle/>
          <a:p>
            <a:endParaRPr lang="it-IT"/>
          </a:p>
        </p:txBody>
      </p:sp>
      <p:sp>
        <p:nvSpPr>
          <p:cNvPr id="15" name="Text 13"/>
          <p:cNvSpPr/>
          <p:nvPr/>
        </p:nvSpPr>
        <p:spPr>
          <a:xfrm>
            <a:off x="8136493" y="3718570"/>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Cost (%CPU)</a:t>
            </a:r>
            <a:endParaRPr lang="en-US" sz="1400" dirty="0"/>
          </a:p>
        </p:txBody>
      </p:sp>
      <p:sp>
        <p:nvSpPr>
          <p:cNvPr id="16" name="Text 14"/>
          <p:cNvSpPr/>
          <p:nvPr/>
        </p:nvSpPr>
        <p:spPr>
          <a:xfrm>
            <a:off x="8136493" y="3995415"/>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Il “prezzo” dell’operazione: il numero da abbattere il Giorno 2 con gli indici.</a:t>
            </a:r>
            <a:endParaRPr lang="en-US" sz="1200" dirty="0"/>
          </a:p>
        </p:txBody>
      </p:sp>
      <p:sp>
        <p:nvSpPr>
          <p:cNvPr id="17" name="Text 15"/>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3 · FASE 2 · STRUMENTO 2</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Eseguire con l’hint: </a:t>
            </a:r>
            <a:r>
              <a:rPr lang="en-US" sz="3000" b="1" i="0" kern="0" spc="-60" dirty="0">
                <a:solidFill>
                  <a:srgbClr val="2E6BD1"/>
                </a:solidFill>
                <a:latin typeface="Inter" pitchFamily="34" charset="0"/>
                <a:ea typeface="Inter" pitchFamily="34" charset="-122"/>
                <a:cs typeface="Inter" pitchFamily="34" charset="-120"/>
              </a:rPr>
              <a:t>la realtà</a:t>
            </a:r>
            <a:endParaRPr lang="en-US" sz="3000" dirty="0"/>
          </a:p>
        </p:txBody>
      </p:sp>
      <p:sp>
        <p:nvSpPr>
          <p:cNvPr id="4" name="Text 2"/>
          <p:cNvSpPr/>
          <p:nvPr/>
        </p:nvSpPr>
        <p:spPr>
          <a:xfrm>
            <a:off x="812800" y="2016770"/>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01</a:t>
            </a:r>
            <a:endParaRPr lang="en-US" sz="1200" dirty="0"/>
          </a:p>
        </p:txBody>
      </p:sp>
      <p:sp>
        <p:nvSpPr>
          <p:cNvPr id="5" name="Text 3"/>
          <p:cNvSpPr/>
          <p:nvPr/>
        </p:nvSpPr>
        <p:spPr>
          <a:xfrm>
            <a:off x="1320800" y="1775470"/>
            <a:ext cx="10058400" cy="695960"/>
          </a:xfrm>
          <a:prstGeom prst="rect">
            <a:avLst/>
          </a:prstGeom>
          <a:solidFill>
            <a:srgbClr val="0F1B2D"/>
          </a:solidFill>
          <a:ln/>
        </p:spPr>
        <p:txBody>
          <a:bodyPr wrap="square" lIns="177800" tIns="127000" rIns="0"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 LAB_TUNING_01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ordini WHERE stato = 'IN_ATTESA' AND importo &gt; 900;</a:t>
            </a:r>
            <a:endParaRPr lang="en-US" sz="1200" dirty="0"/>
          </a:p>
        </p:txBody>
      </p:sp>
      <p:sp>
        <p:nvSpPr>
          <p:cNvPr id="6" name="Text 4"/>
          <p:cNvSpPr/>
          <p:nvPr/>
        </p:nvSpPr>
        <p:spPr>
          <a:xfrm>
            <a:off x="812800" y="2839715"/>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02</a:t>
            </a:r>
            <a:endParaRPr lang="en-US" sz="1200" dirty="0"/>
          </a:p>
        </p:txBody>
      </p:sp>
      <p:sp>
        <p:nvSpPr>
          <p:cNvPr id="7" name="Text 5"/>
          <p:cNvSpPr/>
          <p:nvPr/>
        </p:nvSpPr>
        <p:spPr>
          <a:xfrm>
            <a:off x="1320800" y="2598415"/>
            <a:ext cx="10058400" cy="695960"/>
          </a:xfrm>
          <a:prstGeom prst="rect">
            <a:avLst/>
          </a:prstGeom>
          <a:solidFill>
            <a:srgbClr val="0F1B2D"/>
          </a:solidFill>
          <a:ln/>
        </p:spPr>
        <p:txBody>
          <a:bodyPr wrap="square" lIns="177800" tIns="127000" rIns="0"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sql_id, child_number, sql_text FROM v$sql</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sql_text LIKE '%LAB_TUNING_01%' AND sql_text NOT LIKE '%v$sql%';</a:t>
            </a:r>
            <a:endParaRPr lang="en-US" sz="1200" dirty="0"/>
          </a:p>
        </p:txBody>
      </p:sp>
      <p:sp>
        <p:nvSpPr>
          <p:cNvPr id="8" name="Text 6"/>
          <p:cNvSpPr/>
          <p:nvPr/>
        </p:nvSpPr>
        <p:spPr>
          <a:xfrm>
            <a:off x="812800" y="3662685"/>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03</a:t>
            </a:r>
            <a:endParaRPr lang="en-US" sz="1200" dirty="0"/>
          </a:p>
        </p:txBody>
      </p:sp>
      <p:sp>
        <p:nvSpPr>
          <p:cNvPr id="9" name="Text 7"/>
          <p:cNvSpPr/>
          <p:nvPr/>
        </p:nvSpPr>
        <p:spPr>
          <a:xfrm>
            <a:off x="1320800" y="3421385"/>
            <a:ext cx="10058400" cy="695960"/>
          </a:xfrm>
          <a:prstGeom prst="rect">
            <a:avLst/>
          </a:prstGeom>
          <a:solidFill>
            <a:srgbClr val="0F1B2D"/>
          </a:solidFill>
          <a:ln/>
        </p:spPr>
        <p:txBody>
          <a:bodyPr wrap="square" lIns="177800" tIns="127000" rIns="0"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FROM TABLE(DBMS_XPLAN.DISPLAY_CURSOR(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'&lt;sql_id&gt;', NULL, 'ALLSTATS LAST'));</a:t>
            </a:r>
            <a:endParaRPr lang="en-US" sz="1200" dirty="0"/>
          </a:p>
        </p:txBody>
      </p:sp>
      <p:sp>
        <p:nvSpPr>
          <p:cNvPr id="10" name="Text 8"/>
          <p:cNvSpPr/>
          <p:nvPr/>
        </p:nvSpPr>
        <p:spPr>
          <a:xfrm>
            <a:off x="812800" y="4345955"/>
            <a:ext cx="10566400" cy="501650"/>
          </a:xfrm>
          <a:prstGeom prst="rect">
            <a:avLst/>
          </a:prstGeom>
          <a:solidFill>
            <a:srgbClr val="DCE5F2"/>
          </a:solidFill>
          <a:ln/>
        </p:spPr>
        <p:txBody>
          <a:bodyPr wrap="square" lIns="203200" tIns="127000" rIns="0" bIns="1016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Il tag nel commento è la “firma” per ritrovare la query tra migliaia: in produzione, /* TICKET-1234 */.</a:t>
            </a:r>
            <a:endParaRPr lang="en-US" sz="1300" dirty="0"/>
          </a:p>
        </p:txBody>
      </p:sp>
      <p:sp>
        <p:nvSpPr>
          <p:cNvPr id="11" name="Text 9"/>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3 · FASE 2 · APPROFONDIMENTO</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Dov’è finita </a:t>
            </a:r>
            <a:r>
              <a:rPr lang="en-US" sz="3000" b="1" i="0" kern="0" spc="-60" dirty="0">
                <a:solidFill>
                  <a:srgbClr val="2E6BD1"/>
                </a:solidFill>
                <a:latin typeface="Inter" pitchFamily="34" charset="0"/>
                <a:ea typeface="Inter" pitchFamily="34" charset="-122"/>
                <a:cs typeface="Inter" pitchFamily="34" charset="-120"/>
              </a:rPr>
              <a:t>la colonna Reads?</a:t>
            </a:r>
            <a:endParaRPr lang="en-US" sz="3000" dirty="0"/>
          </a:p>
        </p:txBody>
      </p:sp>
      <p:sp>
        <p:nvSpPr>
          <p:cNvPr id="4" name="Shape 2"/>
          <p:cNvSpPr/>
          <p:nvPr/>
        </p:nvSpPr>
        <p:spPr>
          <a:xfrm>
            <a:off x="812800" y="1800870"/>
            <a:ext cx="5181600" cy="1600200"/>
          </a:xfrm>
          <a:prstGeom prst="rect">
            <a:avLst/>
          </a:prstGeom>
          <a:solidFill>
            <a:srgbClr val="FFFFFF"/>
          </a:solidFill>
          <a:ln/>
        </p:spPr>
        <p:txBody>
          <a:bodyPr/>
          <a:lstStyle/>
          <a:p>
            <a:endParaRPr lang="it-IT"/>
          </a:p>
        </p:txBody>
      </p:sp>
      <p:sp>
        <p:nvSpPr>
          <p:cNvPr id="5" name="Shape 3"/>
          <p:cNvSpPr/>
          <p:nvPr/>
        </p:nvSpPr>
        <p:spPr>
          <a:xfrm>
            <a:off x="812800" y="1813570"/>
            <a:ext cx="5181600" cy="0"/>
          </a:xfrm>
          <a:prstGeom prst="line">
            <a:avLst/>
          </a:prstGeom>
          <a:noFill/>
          <a:ln w="25400">
            <a:solidFill>
              <a:srgbClr val="94A3B8"/>
            </a:solidFill>
            <a:prstDash val="solid"/>
          </a:ln>
        </p:spPr>
        <p:txBody>
          <a:bodyPr/>
          <a:lstStyle/>
          <a:p>
            <a:endParaRPr lang="it-IT"/>
          </a:p>
        </p:txBody>
      </p:sp>
      <p:sp>
        <p:nvSpPr>
          <p:cNvPr id="6" name="Text 4"/>
          <p:cNvSpPr/>
          <p:nvPr/>
        </p:nvSpPr>
        <p:spPr>
          <a:xfrm>
            <a:off x="1041400" y="205487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PRIMA · CACHE “CALDA”</a:t>
            </a:r>
            <a:endParaRPr lang="en-US" sz="1200" dirty="0"/>
          </a:p>
        </p:txBody>
      </p:sp>
      <p:sp>
        <p:nvSpPr>
          <p:cNvPr id="7" name="Text 5"/>
          <p:cNvSpPr/>
          <p:nvPr/>
        </p:nvSpPr>
        <p:spPr>
          <a:xfrm>
            <a:off x="1041400" y="2369815"/>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nter" pitchFamily="34" charset="0"/>
                <a:ea typeface="Inter" pitchFamily="34" charset="-122"/>
                <a:cs typeface="Inter" pitchFamily="34" charset="-120"/>
              </a:rPr>
              <a:t>Solo Buffers, nessun Reads</a:t>
            </a:r>
            <a:endParaRPr lang="en-US" sz="1700" dirty="0"/>
          </a:p>
        </p:txBody>
      </p:sp>
      <p:sp>
        <p:nvSpPr>
          <p:cNvPr id="8" name="Text 6"/>
          <p:cNvSpPr/>
          <p:nvPr/>
        </p:nvSpPr>
        <p:spPr>
          <a:xfrm>
            <a:off x="1041400" y="2730500"/>
            <a:ext cx="486613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I blocchi erano già in Buffer Cache: zero letture fisiche, e Oracle nasconde le colonne vuote.</a:t>
            </a:r>
            <a:endParaRPr lang="en-US" sz="1200" dirty="0"/>
          </a:p>
        </p:txBody>
      </p:sp>
      <p:sp>
        <p:nvSpPr>
          <p:cNvPr id="9" name="Shape 7"/>
          <p:cNvSpPr/>
          <p:nvPr/>
        </p:nvSpPr>
        <p:spPr>
          <a:xfrm>
            <a:off x="6197600" y="1800870"/>
            <a:ext cx="5181600" cy="1600200"/>
          </a:xfrm>
          <a:prstGeom prst="rect">
            <a:avLst/>
          </a:prstGeom>
          <a:solidFill>
            <a:srgbClr val="0F1B2D"/>
          </a:solidFill>
          <a:ln/>
        </p:spPr>
        <p:txBody>
          <a:bodyPr/>
          <a:lstStyle/>
          <a:p>
            <a:endParaRPr lang="it-IT"/>
          </a:p>
        </p:txBody>
      </p:sp>
      <p:sp>
        <p:nvSpPr>
          <p:cNvPr id="10" name="Shape 8"/>
          <p:cNvSpPr/>
          <p:nvPr/>
        </p:nvSpPr>
        <p:spPr>
          <a:xfrm>
            <a:off x="6197600" y="1813570"/>
            <a:ext cx="5181600" cy="0"/>
          </a:xfrm>
          <a:prstGeom prst="line">
            <a:avLst/>
          </a:prstGeom>
          <a:noFill/>
          <a:ln w="25400">
            <a:solidFill>
              <a:srgbClr val="2E6BD1"/>
            </a:solidFill>
            <a:prstDash val="solid"/>
          </a:ln>
        </p:spPr>
        <p:txBody>
          <a:bodyPr/>
          <a:lstStyle/>
          <a:p>
            <a:endParaRPr lang="it-IT"/>
          </a:p>
        </p:txBody>
      </p:sp>
      <p:sp>
        <p:nvSpPr>
          <p:cNvPr id="11" name="Text 9"/>
          <p:cNvSpPr/>
          <p:nvPr/>
        </p:nvSpPr>
        <p:spPr>
          <a:xfrm>
            <a:off x="6426200" y="205487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DOPO · CACHE SVUOTATA</a:t>
            </a:r>
            <a:endParaRPr lang="en-US" sz="1200" dirty="0"/>
          </a:p>
        </p:txBody>
      </p:sp>
      <p:sp>
        <p:nvSpPr>
          <p:cNvPr id="12" name="Text 10"/>
          <p:cNvSpPr/>
          <p:nvPr/>
        </p:nvSpPr>
        <p:spPr>
          <a:xfrm>
            <a:off x="6426200" y="2369815"/>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6F8FB"/>
                </a:solidFill>
                <a:latin typeface="Inter" pitchFamily="34" charset="0"/>
                <a:ea typeface="Inter" pitchFamily="34" charset="-122"/>
                <a:cs typeface="Inter" pitchFamily="34" charset="-120"/>
              </a:rPr>
              <a:t>Reads ≈ Buffers</a:t>
            </a:r>
            <a:endParaRPr lang="en-US" sz="1700" dirty="0"/>
          </a:p>
        </p:txBody>
      </p:sp>
      <p:sp>
        <p:nvSpPr>
          <p:cNvPr id="13" name="Text 11"/>
          <p:cNvSpPr/>
          <p:nvPr/>
        </p:nvSpPr>
        <p:spPr>
          <a:xfrm>
            <a:off x="6426200" y="2730500"/>
            <a:ext cx="486613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Il database deve recuperare fisicamente i blocchi dal disco per caricarli in RAM.</a:t>
            </a:r>
            <a:endParaRPr lang="en-US" sz="1200" dirty="0"/>
          </a:p>
        </p:txBody>
      </p:sp>
      <p:sp>
        <p:nvSpPr>
          <p:cNvPr id="14" name="Text 12"/>
          <p:cNvSpPr/>
          <p:nvPr/>
        </p:nvSpPr>
        <p:spPr>
          <a:xfrm>
            <a:off x="812800" y="3655070"/>
            <a:ext cx="10566400" cy="746760"/>
          </a:xfrm>
          <a:prstGeom prst="rect">
            <a:avLst/>
          </a:prstGeom>
          <a:solidFill>
            <a:srgbClr val="0F1B2D"/>
          </a:solidFill>
          <a:ln/>
        </p:spPr>
        <p:txBody>
          <a:bodyPr wrap="square" lIns="203200" tIns="152400" rIns="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ALTER SYSTEM FLUSH BUFFER_CACHE;</a:t>
            </a: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poi: rieseguire la query con l’hint ed estrarre di nuovo il piano con lo SQL_ID</a:t>
            </a:r>
            <a:endParaRPr lang="en-US" sz="1200" dirty="0"/>
          </a:p>
        </p:txBody>
      </p:sp>
      <p:sp>
        <p:nvSpPr>
          <p:cNvPr id="15" name="Text 13"/>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3 · FASE 3 · LABORATORIO AUTONOMO</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challenge: </a:t>
            </a:r>
            <a:r>
              <a:rPr lang="en-US" sz="3000" b="1" i="0" kern="0" spc="-60" dirty="0">
                <a:solidFill>
                  <a:srgbClr val="2E6BD1"/>
                </a:solidFill>
                <a:latin typeface="Inter" pitchFamily="34" charset="0"/>
                <a:ea typeface="Inter" pitchFamily="34" charset="-122"/>
                <a:cs typeface="Inter" pitchFamily="34" charset="-120"/>
              </a:rPr>
              <a:t>trovare il join inefficiente</a:t>
            </a:r>
            <a:endParaRPr lang="en-US" sz="3000" dirty="0"/>
          </a:p>
        </p:txBody>
      </p:sp>
      <p:sp>
        <p:nvSpPr>
          <p:cNvPr id="4" name="Text 2"/>
          <p:cNvSpPr/>
          <p:nvPr/>
        </p:nvSpPr>
        <p:spPr>
          <a:xfrm>
            <a:off x="812800" y="1775470"/>
            <a:ext cx="5384800" cy="2344420"/>
          </a:xfrm>
          <a:prstGeom prst="rect">
            <a:avLst/>
          </a:prstGeom>
          <a:solidFill>
            <a:srgbClr val="0F1B2D"/>
          </a:solidFill>
          <a:ln/>
        </p:spPr>
        <p:txBody>
          <a:bodyPr wrap="square" lIns="203200" tIns="177800" rIns="53848"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EXPLAIN PLAN FOR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c.nome, o.data_ordine, o.importo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clienti 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ordini 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ON c.cliente_id = o.cliente_id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c.regione = 'Sud'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o.stato = 'IN_ATTESA';</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FROM TABLE(DBMS_XPLAN.DISPLAY);</a:t>
            </a:r>
            <a:endParaRPr lang="en-US" sz="1200" dirty="0"/>
          </a:p>
        </p:txBody>
      </p:sp>
      <p:sp>
        <p:nvSpPr>
          <p:cNvPr id="5" name="Shape 3"/>
          <p:cNvSpPr/>
          <p:nvPr/>
        </p:nvSpPr>
        <p:spPr>
          <a:xfrm>
            <a:off x="6400800" y="1775470"/>
            <a:ext cx="4978400" cy="995680"/>
          </a:xfrm>
          <a:prstGeom prst="rect">
            <a:avLst/>
          </a:prstGeom>
          <a:solidFill>
            <a:srgbClr val="FFFFFF"/>
          </a:solidFill>
          <a:ln/>
        </p:spPr>
        <p:txBody>
          <a:bodyPr/>
          <a:lstStyle/>
          <a:p>
            <a:endParaRPr lang="it-IT"/>
          </a:p>
        </p:txBody>
      </p:sp>
      <p:sp>
        <p:nvSpPr>
          <p:cNvPr id="6" name="Shape 4"/>
          <p:cNvSpPr/>
          <p:nvPr/>
        </p:nvSpPr>
        <p:spPr>
          <a:xfrm>
            <a:off x="6413500" y="1775470"/>
            <a:ext cx="0" cy="995680"/>
          </a:xfrm>
          <a:prstGeom prst="line">
            <a:avLst/>
          </a:prstGeom>
          <a:noFill/>
          <a:ln w="25400">
            <a:solidFill>
              <a:srgbClr val="2E6BD1"/>
            </a:solidFill>
            <a:prstDash val="solid"/>
          </a:ln>
        </p:spPr>
        <p:txBody>
          <a:bodyPr/>
          <a:lstStyle/>
          <a:p>
            <a:endParaRPr lang="it-IT"/>
          </a:p>
        </p:txBody>
      </p:sp>
      <p:sp>
        <p:nvSpPr>
          <p:cNvPr id="7" name="Text 5"/>
          <p:cNvSpPr/>
          <p:nvPr/>
        </p:nvSpPr>
        <p:spPr>
          <a:xfrm>
            <a:off x="6604000" y="1927870"/>
            <a:ext cx="473532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Perché HASH JOIN e non Nested Loops?</a:t>
            </a:r>
            <a:endParaRPr lang="en-US" sz="1400" dirty="0"/>
          </a:p>
        </p:txBody>
      </p:sp>
      <p:sp>
        <p:nvSpPr>
          <p:cNvPr id="8" name="Text 6"/>
          <p:cNvSpPr/>
          <p:nvPr/>
        </p:nvSpPr>
        <p:spPr>
          <a:xfrm>
            <a:off x="6604000" y="2192015"/>
            <a:ext cx="47353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Senza indice su ordini.cliente_id, un NL scansionerebbe ORDINI per ogni cliente del Sud.</a:t>
            </a:r>
            <a:endParaRPr lang="en-US" sz="1200" dirty="0"/>
          </a:p>
        </p:txBody>
      </p:sp>
      <p:sp>
        <p:nvSpPr>
          <p:cNvPr id="9" name="Shape 7"/>
          <p:cNvSpPr/>
          <p:nvPr/>
        </p:nvSpPr>
        <p:spPr>
          <a:xfrm>
            <a:off x="6400800" y="2872755"/>
            <a:ext cx="4978400" cy="782320"/>
          </a:xfrm>
          <a:prstGeom prst="rect">
            <a:avLst/>
          </a:prstGeom>
          <a:solidFill>
            <a:srgbClr val="FFFFFF"/>
          </a:solidFill>
          <a:ln/>
        </p:spPr>
        <p:txBody>
          <a:bodyPr/>
          <a:lstStyle/>
          <a:p>
            <a:endParaRPr lang="it-IT"/>
          </a:p>
        </p:txBody>
      </p:sp>
      <p:sp>
        <p:nvSpPr>
          <p:cNvPr id="10" name="Shape 8"/>
          <p:cNvSpPr/>
          <p:nvPr/>
        </p:nvSpPr>
        <p:spPr>
          <a:xfrm>
            <a:off x="6413500" y="2872755"/>
            <a:ext cx="0" cy="782320"/>
          </a:xfrm>
          <a:prstGeom prst="line">
            <a:avLst/>
          </a:prstGeom>
          <a:noFill/>
          <a:ln w="25400">
            <a:solidFill>
              <a:srgbClr val="2E6BD1"/>
            </a:solidFill>
            <a:prstDash val="solid"/>
          </a:ln>
        </p:spPr>
        <p:txBody>
          <a:bodyPr/>
          <a:lstStyle/>
          <a:p>
            <a:endParaRPr lang="it-IT"/>
          </a:p>
        </p:txBody>
      </p:sp>
      <p:sp>
        <p:nvSpPr>
          <p:cNvPr id="11" name="Text 9"/>
          <p:cNvSpPr/>
          <p:nvPr/>
        </p:nvSpPr>
        <p:spPr>
          <a:xfrm>
            <a:off x="6604000" y="3025155"/>
            <a:ext cx="473532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In che ordine si legge?</a:t>
            </a:r>
            <a:endParaRPr lang="en-US" sz="1400" dirty="0"/>
          </a:p>
        </p:txBody>
      </p:sp>
      <p:sp>
        <p:nvSpPr>
          <p:cNvPr id="12" name="Text 10"/>
          <p:cNvSpPr/>
          <p:nvPr/>
        </p:nvSpPr>
        <p:spPr>
          <a:xfrm>
            <a:off x="6604000" y="3289300"/>
            <a:ext cx="47353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Dal più rientrato, dall’alto verso il basso.</a:t>
            </a:r>
            <a:endParaRPr lang="en-US" sz="1200" dirty="0"/>
          </a:p>
        </p:txBody>
      </p:sp>
      <p:sp>
        <p:nvSpPr>
          <p:cNvPr id="13" name="Shape 11"/>
          <p:cNvSpPr/>
          <p:nvPr/>
        </p:nvSpPr>
        <p:spPr>
          <a:xfrm>
            <a:off x="6400800" y="3756670"/>
            <a:ext cx="4978400" cy="782320"/>
          </a:xfrm>
          <a:prstGeom prst="rect">
            <a:avLst/>
          </a:prstGeom>
          <a:solidFill>
            <a:srgbClr val="FFFFFF"/>
          </a:solidFill>
          <a:ln/>
        </p:spPr>
        <p:txBody>
          <a:bodyPr/>
          <a:lstStyle/>
          <a:p>
            <a:endParaRPr lang="it-IT"/>
          </a:p>
        </p:txBody>
      </p:sp>
      <p:sp>
        <p:nvSpPr>
          <p:cNvPr id="14" name="Shape 12"/>
          <p:cNvSpPr/>
          <p:nvPr/>
        </p:nvSpPr>
        <p:spPr>
          <a:xfrm>
            <a:off x="6413500" y="3756670"/>
            <a:ext cx="0" cy="782320"/>
          </a:xfrm>
          <a:prstGeom prst="line">
            <a:avLst/>
          </a:prstGeom>
          <a:noFill/>
          <a:ln w="25400">
            <a:solidFill>
              <a:srgbClr val="2E6BD1"/>
            </a:solidFill>
            <a:prstDash val="solid"/>
          </a:ln>
        </p:spPr>
        <p:txBody>
          <a:bodyPr/>
          <a:lstStyle/>
          <a:p>
            <a:endParaRPr lang="it-IT"/>
          </a:p>
        </p:txBody>
      </p:sp>
      <p:sp>
        <p:nvSpPr>
          <p:cNvPr id="15" name="Text 13"/>
          <p:cNvSpPr/>
          <p:nvPr/>
        </p:nvSpPr>
        <p:spPr>
          <a:xfrm>
            <a:off x="6604000" y="3909070"/>
            <a:ext cx="473532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Dov’è il costo?</a:t>
            </a:r>
            <a:endParaRPr lang="en-US" sz="1400" dirty="0"/>
          </a:p>
        </p:txBody>
      </p:sp>
      <p:sp>
        <p:nvSpPr>
          <p:cNvPr id="16" name="Text 14"/>
          <p:cNvSpPr/>
          <p:nvPr/>
        </p:nvSpPr>
        <p:spPr>
          <a:xfrm>
            <a:off x="6604000" y="4173215"/>
            <a:ext cx="47353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Nel Full Table Scan su ORDINI.</a:t>
            </a:r>
            <a:endParaRPr lang="en-US" sz="1200" dirty="0"/>
          </a:p>
        </p:txBody>
      </p:sp>
      <p:sp>
        <p:nvSpPr>
          <p:cNvPr id="17" name="Text 15"/>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1</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RIEPILOGO</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F6F8FB"/>
                </a:solidFill>
                <a:latin typeface="Inter" pitchFamily="34" charset="0"/>
                <a:ea typeface="Inter" pitchFamily="34" charset="-122"/>
                <a:cs typeface="Inter" pitchFamily="34" charset="-120"/>
              </a:rPr>
              <a:t>Cosa portiamo </a:t>
            </a:r>
            <a:r>
              <a:rPr lang="en-US" sz="3000" b="1" i="0" kern="0" spc="-60" dirty="0">
                <a:solidFill>
                  <a:srgbClr val="5B9BFF"/>
                </a:solidFill>
                <a:latin typeface="Inter" pitchFamily="34" charset="0"/>
                <a:ea typeface="Inter" pitchFamily="34" charset="-122"/>
                <a:cs typeface="Inter" pitchFamily="34" charset="-120"/>
              </a:rPr>
              <a:t>al Giorno 2</a:t>
            </a:r>
            <a:endParaRPr lang="en-US" sz="3000" dirty="0"/>
          </a:p>
        </p:txBody>
      </p:sp>
      <p:sp>
        <p:nvSpPr>
          <p:cNvPr id="4" name="Shape 2"/>
          <p:cNvSpPr/>
          <p:nvPr/>
        </p:nvSpPr>
        <p:spPr>
          <a:xfrm>
            <a:off x="812800" y="1858020"/>
            <a:ext cx="3420507" cy="0"/>
          </a:xfrm>
          <a:prstGeom prst="line">
            <a:avLst/>
          </a:prstGeom>
          <a:noFill/>
          <a:ln w="12700">
            <a:solidFill>
              <a:srgbClr val="5B9BFF"/>
            </a:solidFill>
            <a:prstDash val="solid"/>
          </a:ln>
        </p:spPr>
        <p:txBody>
          <a:bodyPr/>
          <a:lstStyle/>
          <a:p>
            <a:endParaRPr lang="it-IT"/>
          </a:p>
        </p:txBody>
      </p:sp>
      <p:sp>
        <p:nvSpPr>
          <p:cNvPr id="5" name="Text 3"/>
          <p:cNvSpPr/>
          <p:nvPr/>
        </p:nvSpPr>
        <p:spPr>
          <a:xfrm>
            <a:off x="1016000" y="2065015"/>
            <a:ext cx="310453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1016000" y="2354585"/>
            <a:ext cx="310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Misurare prima</a:t>
            </a:r>
            <a:endParaRPr lang="en-US" sz="1500" dirty="0"/>
          </a:p>
        </p:txBody>
      </p:sp>
      <p:sp>
        <p:nvSpPr>
          <p:cNvPr id="7" name="Text 5"/>
          <p:cNvSpPr/>
          <p:nvPr/>
        </p:nvSpPr>
        <p:spPr>
          <a:xfrm>
            <a:off x="1016000" y="2659385"/>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Sintomo, sessione, tempo, SQL: le viste V$ portano alla riga di codice.</a:t>
            </a:r>
            <a:endParaRPr lang="en-US" sz="1200" dirty="0"/>
          </a:p>
        </p:txBody>
      </p:sp>
      <p:sp>
        <p:nvSpPr>
          <p:cNvPr id="8" name="Shape 6"/>
          <p:cNvSpPr/>
          <p:nvPr/>
        </p:nvSpPr>
        <p:spPr>
          <a:xfrm>
            <a:off x="4385707" y="1858020"/>
            <a:ext cx="3420586" cy="0"/>
          </a:xfrm>
          <a:prstGeom prst="line">
            <a:avLst/>
          </a:prstGeom>
          <a:noFill/>
          <a:ln w="12700">
            <a:solidFill>
              <a:srgbClr val="5B9BFF"/>
            </a:solidFill>
            <a:prstDash val="solid"/>
          </a:ln>
        </p:spPr>
        <p:txBody>
          <a:bodyPr/>
          <a:lstStyle/>
          <a:p>
            <a:endParaRPr lang="it-IT"/>
          </a:p>
        </p:txBody>
      </p:sp>
      <p:sp>
        <p:nvSpPr>
          <p:cNvPr id="9" name="Text 7"/>
          <p:cNvSpPr/>
          <p:nvPr/>
        </p:nvSpPr>
        <p:spPr>
          <a:xfrm>
            <a:off x="4588907" y="2065015"/>
            <a:ext cx="310461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4588907" y="2354585"/>
            <a:ext cx="31046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CPU o attesa</a:t>
            </a:r>
            <a:endParaRPr lang="en-US" sz="1500" dirty="0"/>
          </a:p>
        </p:txBody>
      </p:sp>
      <p:sp>
        <p:nvSpPr>
          <p:cNvPr id="11" name="Text 9"/>
          <p:cNvSpPr/>
          <p:nvPr/>
        </p:nvSpPr>
        <p:spPr>
          <a:xfrm>
            <a:off x="4588907" y="2659385"/>
            <a:ext cx="310461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DB Time = CPU + wait. ASH conserva le prove anche dopo l’incidente.</a:t>
            </a:r>
            <a:endParaRPr lang="en-US" sz="1200" dirty="0"/>
          </a:p>
        </p:txBody>
      </p:sp>
      <p:sp>
        <p:nvSpPr>
          <p:cNvPr id="12" name="Shape 10"/>
          <p:cNvSpPr/>
          <p:nvPr/>
        </p:nvSpPr>
        <p:spPr>
          <a:xfrm>
            <a:off x="7958693" y="1858020"/>
            <a:ext cx="3420507" cy="0"/>
          </a:xfrm>
          <a:prstGeom prst="line">
            <a:avLst/>
          </a:prstGeom>
          <a:noFill/>
          <a:ln w="12700">
            <a:solidFill>
              <a:srgbClr val="5B9BFF"/>
            </a:solidFill>
            <a:prstDash val="solid"/>
          </a:ln>
        </p:spPr>
        <p:txBody>
          <a:bodyPr/>
          <a:lstStyle/>
          <a:p>
            <a:endParaRPr lang="it-IT"/>
          </a:p>
        </p:txBody>
      </p:sp>
      <p:sp>
        <p:nvSpPr>
          <p:cNvPr id="13" name="Text 11"/>
          <p:cNvSpPr/>
          <p:nvPr/>
        </p:nvSpPr>
        <p:spPr>
          <a:xfrm>
            <a:off x="8161893" y="2065015"/>
            <a:ext cx="310453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03</a:t>
            </a:r>
            <a:endParaRPr lang="en-US" sz="1200" dirty="0"/>
          </a:p>
        </p:txBody>
      </p:sp>
      <p:sp>
        <p:nvSpPr>
          <p:cNvPr id="14" name="Text 12"/>
          <p:cNvSpPr/>
          <p:nvPr/>
        </p:nvSpPr>
        <p:spPr>
          <a:xfrm>
            <a:off x="8161893" y="2354585"/>
            <a:ext cx="310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Stima vs realtà</a:t>
            </a:r>
            <a:endParaRPr lang="en-US" sz="1500" dirty="0"/>
          </a:p>
        </p:txBody>
      </p:sp>
      <p:sp>
        <p:nvSpPr>
          <p:cNvPr id="15" name="Text 13"/>
          <p:cNvSpPr/>
          <p:nvPr/>
        </p:nvSpPr>
        <p:spPr>
          <a:xfrm>
            <a:off x="8161893" y="2659385"/>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Il CBO decide su statistiche: E-Rows contro A-Rows confront </a:t>
            </a:r>
            <a:r>
              <a:rPr lang="en-US" sz="1200" dirty="0" err="1">
                <a:solidFill>
                  <a:srgbClr val="C9D6E8"/>
                </a:solidFill>
                <a:latin typeface="Inter" pitchFamily="34" charset="0"/>
                <a:ea typeface="Inter" pitchFamily="34" charset="-122"/>
                <a:cs typeface="Inter" pitchFamily="34" charset="-120"/>
              </a:rPr>
              <a:t>tra</a:t>
            </a:r>
            <a:r>
              <a:rPr lang="en-US" sz="1200" dirty="0">
                <a:solidFill>
                  <a:srgbClr val="C9D6E8"/>
                </a:solidFill>
                <a:latin typeface="Inter" pitchFamily="34" charset="0"/>
                <a:ea typeface="Inter" pitchFamily="34" charset="-122"/>
                <a:cs typeface="Inter" pitchFamily="34" charset="-120"/>
              </a:rPr>
              <a:t> </a:t>
            </a:r>
            <a:r>
              <a:rPr lang="en-US" sz="1200" dirty="0" err="1">
                <a:solidFill>
                  <a:srgbClr val="C9D6E8"/>
                </a:solidFill>
                <a:latin typeface="Inter" pitchFamily="34" charset="0"/>
                <a:ea typeface="Inter" pitchFamily="34" charset="-122"/>
                <a:cs typeface="Inter" pitchFamily="34" charset="-120"/>
              </a:rPr>
              <a:t>stima</a:t>
            </a:r>
            <a:r>
              <a:rPr lang="en-US" sz="1200" dirty="0">
                <a:solidFill>
                  <a:srgbClr val="C9D6E8"/>
                </a:solidFill>
                <a:latin typeface="Inter" pitchFamily="34" charset="0"/>
                <a:ea typeface="Inter" pitchFamily="34" charset="-122"/>
                <a:cs typeface="Inter" pitchFamily="34" charset="-120"/>
              </a:rPr>
              <a:t> e </a:t>
            </a:r>
            <a:r>
              <a:rPr lang="en-US" sz="1200" dirty="0" err="1">
                <a:solidFill>
                  <a:srgbClr val="C9D6E8"/>
                </a:solidFill>
                <a:latin typeface="Inter" pitchFamily="34" charset="0"/>
                <a:ea typeface="Inter" pitchFamily="34" charset="-122"/>
                <a:cs typeface="Inter" pitchFamily="34" charset="-120"/>
              </a:rPr>
              <a:t>realtà</a:t>
            </a:r>
            <a:r>
              <a:rPr lang="en-US" sz="1200" dirty="0">
                <a:solidFill>
                  <a:srgbClr val="C9D6E8"/>
                </a:solidFill>
                <a:latin typeface="Inter" pitchFamily="34" charset="0"/>
                <a:ea typeface="Inter" pitchFamily="34" charset="-122"/>
                <a:cs typeface="Inter" pitchFamily="34" charset="-120"/>
              </a:rPr>
              <a:t>.</a:t>
            </a:r>
            <a:endParaRPr lang="en-US" sz="1200" dirty="0"/>
          </a:p>
        </p:txBody>
      </p:sp>
      <p:sp>
        <p:nvSpPr>
          <p:cNvPr id="16" name="Text 14"/>
          <p:cNvSpPr/>
          <p:nvPr/>
        </p:nvSpPr>
        <p:spPr>
          <a:xfrm>
            <a:off x="812800" y="3609355"/>
            <a:ext cx="10566400" cy="613410"/>
          </a:xfrm>
          <a:prstGeom prst="rect">
            <a:avLst/>
          </a:prstGeom>
          <a:solidFill>
            <a:srgbClr val="DCE5F2"/>
          </a:solidFill>
          <a:ln/>
        </p:spPr>
        <p:txBody>
          <a:bodyPr wrap="square" lIns="228600" tIns="177800" rIns="0" bIns="152400" rtlCol="0" anchor="t">
            <a:normAutofit/>
          </a:bodyPr>
          <a:lstStyle/>
          <a:p>
            <a:pPr marL="0" indent="0" algn="l">
              <a:lnSpc>
                <a:spcPts val="2030"/>
              </a:lnSpc>
              <a:buNone/>
            </a:pPr>
            <a:r>
              <a:rPr lang="en-US" sz="1400" b="1" dirty="0">
                <a:solidFill>
                  <a:srgbClr val="0F1B2D"/>
                </a:solidFill>
                <a:latin typeface="Inter" pitchFamily="34" charset="0"/>
                <a:ea typeface="Inter" pitchFamily="34" charset="-122"/>
                <a:cs typeface="Inter" pitchFamily="34" charset="-120"/>
              </a:rPr>
              <a:t>Giorno 2:</a:t>
            </a:r>
            <a:r>
              <a:rPr lang="en-US" sz="1400" dirty="0">
                <a:solidFill>
                  <a:srgbClr val="0F1B2D"/>
                </a:solidFill>
                <a:latin typeface="Inter" pitchFamily="34" charset="0"/>
                <a:ea typeface="Inter" pitchFamily="34" charset="-122"/>
                <a:cs typeface="Inter" pitchFamily="34" charset="-120"/>
              </a:rPr>
              <a:t> </a:t>
            </a:r>
            <a:r>
              <a:rPr lang="en-US" sz="1400" dirty="0" err="1">
                <a:solidFill>
                  <a:srgbClr val="0F1B2D"/>
                </a:solidFill>
                <a:latin typeface="Inter" pitchFamily="34" charset="0"/>
                <a:ea typeface="Inter" pitchFamily="34" charset="-122"/>
                <a:cs typeface="Inter" pitchFamily="34" charset="-120"/>
              </a:rPr>
              <a:t>ottimizzazione</a:t>
            </a:r>
            <a:r>
              <a:rPr lang="en-US" sz="1400" dirty="0">
                <a:solidFill>
                  <a:srgbClr val="0F1B2D"/>
                </a:solidFill>
                <a:latin typeface="Inter" pitchFamily="34" charset="0"/>
                <a:ea typeface="Inter" pitchFamily="34" charset="-122"/>
                <a:cs typeface="Inter" pitchFamily="34" charset="-120"/>
              </a:rPr>
              <a:t> del </a:t>
            </a:r>
            <a:r>
              <a:rPr lang="en-US" sz="1400" dirty="0" err="1">
                <a:solidFill>
                  <a:srgbClr val="0F1B2D"/>
                </a:solidFill>
                <a:latin typeface="Inter" pitchFamily="34" charset="0"/>
                <a:ea typeface="Inter" pitchFamily="34" charset="-122"/>
                <a:cs typeface="Inter" pitchFamily="34" charset="-120"/>
              </a:rPr>
              <a:t>codice</a:t>
            </a:r>
            <a:r>
              <a:rPr lang="en-US" sz="1400" dirty="0">
                <a:solidFill>
                  <a:srgbClr val="0F1B2D"/>
                </a:solidFill>
                <a:latin typeface="Inter" pitchFamily="34" charset="0"/>
                <a:ea typeface="Inter" pitchFamily="34" charset="-122"/>
                <a:cs typeface="Inter" pitchFamily="34" charset="-120"/>
              </a:rPr>
              <a:t>, </a:t>
            </a:r>
            <a:r>
              <a:rPr lang="en-US" sz="1400" dirty="0" err="1">
                <a:solidFill>
                  <a:srgbClr val="0F1B2D"/>
                </a:solidFill>
                <a:latin typeface="Inter" pitchFamily="34" charset="0"/>
                <a:ea typeface="Inter" pitchFamily="34" charset="-122"/>
                <a:cs typeface="Inter" pitchFamily="34" charset="-120"/>
              </a:rPr>
              <a:t>connessioni</a:t>
            </a:r>
            <a:r>
              <a:rPr lang="en-US" sz="1400" dirty="0">
                <a:solidFill>
                  <a:srgbClr val="0F1B2D"/>
                </a:solidFill>
                <a:latin typeface="Inter" pitchFamily="34" charset="0"/>
                <a:ea typeface="Inter" pitchFamily="34" charset="-122"/>
                <a:cs typeface="Inter" pitchFamily="34" charset="-120"/>
              </a:rPr>
              <a:t> e </a:t>
            </a:r>
            <a:r>
              <a:rPr lang="en-US" sz="1400">
                <a:solidFill>
                  <a:srgbClr val="0F1B2D"/>
                </a:solidFill>
                <a:latin typeface="Inter" pitchFamily="34" charset="0"/>
                <a:ea typeface="Inter" pitchFamily="34" charset="-122"/>
                <a:cs typeface="Inter" pitchFamily="34" charset="-120"/>
              </a:rPr>
              <a:t>introduzione</a:t>
            </a:r>
            <a:r>
              <a:rPr lang="en-US" sz="1400" dirty="0">
                <a:solidFill>
                  <a:srgbClr val="0F1B2D"/>
                </a:solidFill>
                <a:latin typeface="Inter" pitchFamily="34" charset="0"/>
                <a:ea typeface="Inter" pitchFamily="34" charset="-122"/>
                <a:cs typeface="Inter" pitchFamily="34" charset="-120"/>
              </a:rPr>
              <a:t> a JDBC</a:t>
            </a:r>
            <a:endParaRPr lang="en-US" sz="1400" dirty="0"/>
          </a:p>
        </p:txBody>
      </p:sp>
    </p:spTree>
  </p:cSld>
  <p:clrMapOvr>
    <a:masterClrMapping/>
  </p:clrMapOvr>
</p:sld>
</file>

<file path=ppt/theme/theme1.xml><?xml version="1.0" encoding="utf-8"?>
<a:theme xmlns:a="http://schemas.openxmlformats.org/drawingml/2006/main" name="Oracle Performance Monitoring &amp; Tuning – Giorno 1">
  <a:themeElements>
    <a:clrScheme name="Oracle Performance Monitoring &amp; Tuning – Giorno 1">
      <a:dk1>
        <a:srgbClr val="0F1B2D"/>
      </a:dk1>
      <a:lt1>
        <a:srgbClr val="F6F8FB"/>
      </a:lt1>
      <a:dk2>
        <a:srgbClr val="495261"/>
      </a:dk2>
      <a:lt2>
        <a:srgbClr val="DFE2E6"/>
      </a:lt2>
      <a:accent1>
        <a:srgbClr val="2E6BD1"/>
      </a:accent1>
      <a:accent2>
        <a:srgbClr val="1B4C9C"/>
      </a:accent2>
      <a:accent3>
        <a:srgbClr val="5B9BFF"/>
      </a:accent3>
      <a:accent4>
        <a:srgbClr val="3D4B5E"/>
      </a:accent4>
      <a:accent5>
        <a:srgbClr val="5B6B80"/>
      </a:accent5>
      <a:accent6>
        <a:srgbClr val="DCE5F2"/>
      </a:accent6>
      <a:hlink>
        <a:srgbClr val="0563C1"/>
      </a:hlink>
      <a:folHlink>
        <a:srgbClr val="954F72"/>
      </a:folHlink>
    </a:clrScheme>
    <a:fontScheme name="Oracle Performance Monitoring &amp; Tuning – Giorno 1">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600</TotalTime>
  <Words>7418</Words>
  <Application>Microsoft Office PowerPoint</Application>
  <PresentationFormat>Widescreen</PresentationFormat>
  <Paragraphs>760</Paragraphs>
  <Slides>44</Slides>
  <Notes>44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44</vt:i4>
      </vt:variant>
    </vt:vector>
  </HeadingPairs>
  <TitlesOfParts>
    <vt:vector size="49" baseType="lpstr">
      <vt:lpstr>Aptos</vt:lpstr>
      <vt:lpstr>Arial</vt:lpstr>
      <vt:lpstr>Inter</vt:lpstr>
      <vt:lpstr>JetBrains Mono</vt:lpstr>
      <vt:lpstr>Oracle Performance Monitoring &amp; Tuning – Giorno 1</vt:lpstr>
      <vt:lpstr>Monitoraggio e tuning delle prestazioni</vt:lpstr>
      <vt:lpstr>La giornata in due blocchi</vt:lpstr>
      <vt:lpstr>Architettura Oracle</vt:lpstr>
      <vt:lpstr>Istanza ≠ Database</vt:lpstr>
      <vt:lpstr>La memoria: SGA e PGA</vt:lpstr>
      <vt:lpstr>I processi di background</vt:lpstr>
      <vt:lpstr>Il database: i file su disco</vt:lpstr>
      <vt:lpstr>I 3 layer delle prestazioni</vt:lpstr>
      <vt:lpstr>Tre livelli, una sola domanda: dove si spende il tempo?</vt:lpstr>
      <vt:lpstr>OS e hardware</vt:lpstr>
      <vt:lpstr>Istanza DB</vt:lpstr>
      <vt:lpstr>DB Time = CPU + Wait</vt:lpstr>
      <vt:lpstr>Applicativo e SQL</vt:lpstr>
      <vt:lpstr>Metodologie di monitoraggio</vt:lpstr>
      <vt:lpstr>Data Dictionary vs viste dinamiche</vt:lpstr>
      <vt:lpstr>Le viste che useremo oggi</vt:lpstr>
      <vt:lpstr>Dal sintomo alla riga di codice</vt:lpstr>
      <vt:lpstr>Esplorazione guidata dell’architettura</vt:lpstr>
      <vt:lpstr>Oracle XE in Docker</vt:lpstr>
      <vt:lpstr>Schema e 500.000 ordini di test</vt:lpstr>
      <vt:lpstr>L’applicazione impazzita</vt:lpstr>
      <vt:lpstr>Generare il carico: la killer query</vt:lpstr>
      <vt:lpstr>Chi sta lavorando davvero?</vt:lpstr>
      <vt:lpstr>Misurare CPU e memoria</vt:lpstr>
      <vt:lpstr>Il codice colpevole e il kill</vt:lpstr>
      <vt:lpstr>Il database si “congela”: row lock contention</vt:lpstr>
      <vt:lpstr>Chi sta aspettando, e cosa?</vt:lpstr>
      <vt:lpstr>La vittima e il carnefice</vt:lpstr>
      <vt:lpstr>Analisi storica con ASH</vt:lpstr>
      <vt:lpstr>L’ottimizzatore e i tool di access plan</vt:lpstr>
      <vt:lpstr>Dal testo SQL al piano più economico</vt:lpstr>
      <vt:lpstr>Tutto parte dalla cardinalità</vt:lpstr>
      <vt:lpstr>I percorsi di accesso ai dati</vt:lpstr>
      <vt:lpstr>Metodi e ordine di join</vt:lpstr>
      <vt:lpstr>Tre strumenti, tre domande diverse</vt:lpstr>
      <vt:lpstr>Come si legge un piano</vt:lpstr>
      <vt:lpstr>DBMS_XPLAN: stima contro realtà</vt:lpstr>
      <vt:lpstr>Estrazione dei piani di esecuzione</vt:lpstr>
      <vt:lpstr>La tabella clienti</vt:lpstr>
      <vt:lpstr>EXPLAIN PLAN: la previsione</vt:lpstr>
      <vt:lpstr>Eseguire con l’hint: la realtà</vt:lpstr>
      <vt:lpstr>Dov’è finita la colonna Reads?</vt:lpstr>
      <vt:lpstr>La challenge: trovare il join inefficiente</vt:lpstr>
      <vt:lpstr>Cosa portiamo al Giorno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 Performance Monitoring &amp; Tuning – Giorno 1</dc:title>
  <dc:subject/>
  <dc:creator/>
  <cp:lastModifiedBy>Tommaso Maione</cp:lastModifiedBy>
  <cp:revision>13</cp:revision>
  <dcterms:created xsi:type="dcterms:W3CDTF">2026-10-15T08:31:27Z</dcterms:created>
  <dcterms:modified xsi:type="dcterms:W3CDTF">2026-10-22T12:35:03Z</dcterms:modified>
</cp:coreProperties>
</file>