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131" autoAdjust="0"/>
  </p:normalViewPr>
  <p:slideViewPr>
    <p:cSldViewPr snapToGrid="0" snapToObjects="1">
      <p:cViewPr varScale="1">
        <p:scale>
          <a:sx n="66" d="100"/>
          <a:sy n="66" d="100"/>
        </p:scale>
        <p:origin x="13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0899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Ieri abbiamo visto il problema: Full Table Scan su ORDINI. Oggi vediamo lo strumento principale per risolverlo, e quando invece l’indice non serve o peggiora le cose.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È l’indice di default: CREATE INDEX senza altre opzioni crea un B-Tree. Per trovare il cliente 450 Oracle legge root, un branch e una o più foglie: 3–4 letture di blocco invece di migliaia. Poi, con il ROWID, va a prendere la riga in tabella (TABLE ACCESS BY INDEX ROWID). Conseguenza dei NULL esclusi: WHERE colonna IS NULL non può usare un B-Tree a colonna singola. Vista utile: USER_INDEXES (BLEVEL, LEAF_BLOCKS, DISTINCT_KEYS).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Sintassi: CREATE BITMAP INDEX idx_ordini_stato_bm ON ordini(stato); La colonna STATO, con 2 valori distinti, è il classico candidato teorico. Ma in un sistema OLTP con molte UPDATE concorrenti sullo stato, il bitmap provoca contention: una singola voce di bitmap copre molte righe, quindi il lock non è più a livello di riga. Regola pratica: bitmap per reportistica e caricamenti batch, B-Tree per transazionale. La disponibilità dipende dall’edizione del database: verificatela prima del lab.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nostro schema di laboratorio, che simula un gestionale ordini (OLTP), useremo solo B-Tree. La tabella serve a fissare il criterio di scelta: la domanda non è “quale indice è più veloce” ma “qual è il carico che quella tabella subisce”.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lab useremo il B-Tree semplice (idx_ordini_cliente) e il function-based (idx_ordini_data_func). Indice composto: un indice su (cliente_id, stato) servirebbe sia WHERE cliente_id = :x sia WHERE cliente_id = :x AND stato = :y, ma non WHERE stato = :y da solo (salvo skip scan). Indice invisibile: ALTER INDEX … INVISIBLE; utile per verificare l’impatto della rimozione di un indice prima di cancellarlo.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nostra tabella ORDINI il cliente_id è generato con MOD(ROWNUM, 10000): le righe dello stesso cliente sono sparse su tutta la tabella, quindi il clustering factor dell’indice su cliente_id sarà alto (vicino al numero di righe). Lo verificheremo dopo aver creato l’indice. Per questo il CBO preferirà l’indice solo quando i clienti richiesti sono pochi: è esattamente quello che vedremo nella Fase 3 del lab.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Giorno 1 abbiamo introdotto i metodi di join in astratto. Oggi li vediamo in relazione agli indici: un Nested Loops senza indice sulla tabella interna è quasi sempre un disastro; con l’indice giusto diventa la scelta migliore per l’OLTP.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Piano schematico di quello che otterremo nel lab con il Metodo 1. Il doppio NESTED LOOPS è normale da Oracle 11g in poi (NLJ batching): il loop interno trova i ROWID nell’indice, quello esterno va a prendere le righe in tabella raggruppando le letture. Formula intuitiva del costo: se la tabella esterna restituisce N righe, il costo è circa N volte un accesso via indice. Con N piccolo vince sempre; con N grande perde contro l’Hash Join.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di incrocio dipende dalla cardinalità: nel lab lo troveremo sperimentalmente. Con 10 clienti il CBO sceglie Nested Loops; con 2.500 clienti (il 25%) sceglie Hash Join. Forzando il Nested Loops con un hint sui 2.500 clienti, vedremo i Buffers esplodere. Messaggio: un hint congela una scelta che i dati potrebbero rendere sbagliata domani.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tuning non è solo creare indici: è capire come il codice applicativo li rende inutili. Queste tre trappole spiegano una grossa parte dei Full Table Scan inattesi in produzione.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riscrittura a intervallo è la soluzione preferibile quando si può toccare il codice: usa l’indice normale e non richiede un secondo indice da mantenere. Il function-based index è la soluzione quando il codice non si può cambiare (applicazione di terze parti). Il caso “importo + 0” è un vecchio trucco usato apposta per disattivare un indice: riconoscerlo aiuta a leggere codice legacy. Nel lab lo vedremo dal vivo nelle Fasi 4 e 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tabella “codice_pratica” è un esempio generico, non è nello schema del lab. Il caso inverso (colonna NUMBER confrontata con una stringa '450') non è un problema: Oracle converte il letterale, non la colonna. Problema anche lato errori: se una riga contiene un valore non numerico, TO_NUMBER sulla colonna può causare ORA-01722. In Java un setString su una colonna NUMBER o un setLong su VARCHAR2 genera esattamente questa situazione: il collegamento con il pomeriggio. INTERNAL_FUNCTION nel predicato è un altro indizio di conversione (spesso tra DATE e TIMESTAMP).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statistiche sono considerate “stale” quando circa il 10% delle righe è cambiato (soglia STALE_PERCENT); il job automatico di manutenzione le raccoglie nelle finestre notturne. Il problema nasce quando un batch carica milioni di righe durante il giorno e subito dopo partono le query: il CBO lavora con numeri di ieri. Per vedere STALE_STATS aggiornato può servire DBMS_STATS.FLUSH_DATABASE_MONITORING_INFO. Raccogliendo le statistiche di una tabella, per default vengono raccolte anche quelle dei suoi indici. Nel lab c’è un esercizio extra per provocare il problema.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nostro schema di laboratorio la relazione è solo logica: non abbiamo dichiarato un vincolo FOREIGN KEY. Il problema del join è comunque identico. Il problema dei lock TM si presenta invece solo con il vincolo dichiarato: un DELETE sul padre, senza indice sulla colonna FK del figlio, prende un lock di tabella sul figlio e blocca le altre transazioni. È la Fase 2 del lab.</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Tempi indicativi: preparazione 10 minuti, Fasi 1–2 20 minuti, Fase 3 con le varianti 30–40 minuti, Fasi 4–5 20 minuti, esercizio extra sulle statistiche se avanza tempo. Tutto si esegue connessi come tuning_user sullo schema creato il Giorno 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Stesso metodo di ieri, ripetuto a ogni passo: eseguire la query con GATHER_PLAN_STATISTICS e un’etichetta, trovare lo SQL_ID in V$SQL, leggere il piano con DISPLAY_CURSOR e ALLSTATS LAST. Far annotare Cost, Buffers e A-Rows di ogni passo nella tabella riassuntiva alla fine del lab.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spiegazione della Fase 3 (chiusura transitiva) presuppone che CLIENTI sia acceduta tramite chiave primaria: lo schema creato il Giorno 1 non ha la PK, quindi la aggiungiamo ora. Senza PK il cartesiano 1×N può comunque comparire, ma CLIENTI viene letta con un Full Scan (10.000 righe, costo basso). Nel “kit” sostituire xxx con l’etichetta della query (START, FIX, NESTED…) e &lt;sql_id&gt; con il valore trovato, tra apici. Il filtro NOT LIKE esclude la query di ricerca stessa dai risultati.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Rieseguire la query per allineare tutti. Il cliente 450 ha 50 ordini, di cui 5 IN_ATTESA: A-Rows sarà intorno a 5, mentre i Buffers saranno nell’ordine delle migliaia (tutti i blocchi di ORDINI). Il piano mostrerà un HASH JOIN (oppure già un MERGE JOIN CARTESIAN, per la chiusura transitiva che spiegheremo dopo). Far annotare Cost e Buffers: sono il riferimento per tutto il lab.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creazione dell’indice raccoglie automaticamente le sue statistiche. Far guardare il CLUSTERING_FACTOR: sarà vicino al numero di righe (500.000) perché gli ordini dello stesso cliente sono sparsi in tutta la tabella. Teniamolo a mente: spiega perché, con molti clienti, il CBO preferirà ancora l’Hash Join. Creare un indice invalida i cursori che dipendono dalla tabella: la prossima esecuzione verrà riottimizzata.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Stessa query, cambia solo l’etichetta per non confondere i cursori. Di solito un MERGE JOIN CARTESIAN è un disastro (condizione di join dimenticata: ogni riga di A per ogni riga di B). Qui la </a:t>
            </a:r>
            <a:r>
              <a:rPr lang="en-US" dirty="0" err="1"/>
              <a:t>condizione</a:t>
            </a:r>
            <a:r>
              <a:rPr lang="en-US" dirty="0"/>
              <a:t> </a:t>
            </a:r>
            <a:r>
              <a:rPr lang="en-US" dirty="0" err="1"/>
              <a:t>c’era</a:t>
            </a:r>
            <a:r>
              <a:rPr lang="en-US" dirty="0"/>
              <a:t>. Il punto da sottolineare subito: l’indice sugli ordini viene usato, i Buffers passano da migliaia a poche decine.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slide “id” sta per cliente_id, abbreviato per spazio. Il ragionamento del CBO: riscrive la query aggiungendo o.cliente_id = 450 (lo si vede nella sezione Predicate Information, dove compare access("O"."CLIENTE_ID"=450)). Le due tabelle vengono filtrate in modo indipendente; poiché una delle due restituisce una sola riga, il prodotto cartesiano 1×N è l’operazione più economica possibile. Il cartesiano è pericoloso solo quando entrambi i lati hanno molte righe.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Ipotesi da far formulare alla classe: “ora che c’è l’indice vedremo un Nested Loops”. Il piano mostra invece ancora un HASH JOIN. Il filtro regione = 'Sud' seleziona il 25% dei clienti: 2.500 accessi casuali (random I/O, blocco singolo, con un clustering factor alto) costano più di due scansioni sequenziali multiblocco. Lezione chiave sulla selettività: Nested Loops vince quando si estraggono poche righe (OLTP), Hash Join sulle grandi moli (reportistica). È la dimostrazione di cosa significa “Cost-Based”.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10 AND 20 restituisce 11 clienti. Qui la chiusura transitiva produce anche o.cliente_id BETWEEN 10 AND 20, quindi a seconda delle stime potreste vedere il Nested Loops classico o una variante: l’importante è vedere l’INDEX RANGE SCAN su IDX_ORDINI_CLIENTE e i Buffers bassi. Far confrontare i Buffers con quelli dell’Hash Join della slide precedente, tenendo conto che le righe restituite sono molte meno.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USE_NL(c o) chiede di usare il Nested Loops per il join tra gli alias c e o. La dimostrazione: con lo stesso risultato, i Buffers del piano forzato saranno molto più alti di quelli dell’Hash Join. Messaggio per l’aula: inserire hint “alla cieca” per forzare l’uso degli indici spesso peggiora le prestazioni. Gli hint servono per diagnosticare (“cosa succederebbe se…”), non come soluzione permanente.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 sostituito la data fissa della traccia ('2023-10-01') con TRUNC(SYSDATE) - 30: i dati di ORDINI coprono l’ultimo anno a partire dal giorno in cui la tabella è stata creata, quindi una data del 2023 restituirebbe zero righe. Con il filtro relativo la query restituisce circa 1.370 righe (500.000 / 365), un caso perfetto per un indice. Il piano mostra TABLE ACCESS FULL nonostante l’indice su data_ordine. Nella sezione Predicate Information si vede filter(TRUNC(INTERNAL_FUNCTION("DATA_ORDINE"))=…): la funzione è applicata alla colonna.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function-based index crea una colonna virtuale nascosta su cui il CBO ha bisogno di statistiche per stimare bene: per questo rilanciamo GATHER_TABLE_STATS. Consiglio: usare un’etichetta nuova (LAB_DAY2_FBI) per la riesecuzione, così il confronto tra i due piani è immediato. La traccia originale riusava LAB_DAY2_TRAP: funziona lo stesso, perché la creazione dell’indice invalida il cursore, ma rischia di creare confusione. Discussione: FBI quando il codice non si può cambiare, riscrittura a intervallo quando si può.</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Tabella da compilare insieme alla classe a fine lab, magari alla lavagna. Le operazioni indicate sono quelle attese: se qualcuno ottiene un piano diverso, è un ottimo spunto di discussione (versione del database, statistiche, istogrammi). Confronti chiave: START contro FIX (l’effetto dell’indice), NESTED contro NL_FORZATO (perché non forzare gli hint), TRAP contro FBI (il costo di una funzione sulla colonna).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 di prospettiva: fino a stamattina abbiamo ottimizzato le query. Ma una query perfetta può essere lenta se ogni volta l’applicazione apre una connessione nuova. Questa è la “frontiera applicativa”: il punto in cui il codice Java incontra il database.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costo esatto di un logon dipende da rete, TLS, metodo di autenticazione, trigger di logon e carico del server: tipicamente si parla di millisecondi o decine di millisecondi, con picchi molto più alti sotto carico. Non diamo un numero fisso: lo misureremo nel laboratorio del pomeriggio. Su Linux, in modalità dedicated server, ogni connessione corrisponde a un processo del sistema operativo: crearlo e distruggerlo costa CPU sul server (Layer 1 del Giorno 1).</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DRCP (Database Resident Connection Pooling) è utile soprattutto per linguaggi senza pool persistente (PHP, script) o per molte istanze applicative piccole. Per Java il modello tipico resta dedicated server + pool lato applicazione. Query utile: SELECT resource_name, current_utilization, max_utilization, limit_value FROM v$resource_limit WHERE resource_name IN ('processes','sessions'); MAX_UTILIZATION vicino al limite è il segno che c’è stata una logon storm.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numeri (200 thread, 20 connessioni) sono un esempio illustrativo. Il punto: i thread applicativi non hanno bisogno ciascuno di una connessione, perché la tengono solo per il tempo della transazione. Un pool troppo grande sposta solo la coda dentro il database, con più contention su CPU, latch e lock. Implementazioni comuni in Java: Oracle UCP (Universal Connection Pool) e HikariCP; negli application server il pool è configurato come DataSource.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Corrispondenze in Oracle UCP: setMinPoolSize / setMaxPoolSize, setConnectionWaitTimeout, setInactiveConnectionTimeout, setMaxConnectionReuseTime, setValidateConnectionOnBorrow, setAbandonedConnectionTimeout (per i leak). Consiglio pratico per i sistemi OLTP: dimensione minima uguale alla massima (pool fisso), così il pool non crea connessioni proprio nel momento di picco. La vita massima va tenuta sotto i timeout di firewall e database, altrimenti l’applicazione riceve connessioni già chiuse dall’altra parte. Verificate i nomi esatti sulla versione della libreria che usate.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Collegamento con il Giorno 1 (Lab 2): il “colpevole” del row lock era una sessione INACTIVE con una transazione aperta. Un leak con una transazione non chiusa produce esattamente quella situazione in produzione. LAST_CALL_ET in V$SESSION indica da quanti secondi la sessione è nello stato attuale: una sessione INACTIVE da ore, appartenente al pool, è un forte indizio di leak. Lato applicazione il rilevamento leak del pool stampa lo stack trace di chi ha preso la connessione: è il modo più rapido per trovare la riga di codice responsabile.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circolo vizioso è il cuore della slide: un pool elastico, pensato per “aiutare” nei picchi, amplifica il problema proprio quando il database è in difficoltà. Sintomi sul database: picco di “logons cumulative” in V$SYSSTAT, MAX_UTILIZATION di PROCESSES vicino al limite in V$RESOURCE_LIMIT, errori di connessione come ORA-00020 (maximum number of processes) o ORA-12519/ORA-12520 dal listener. Il rate limit sul listener (parametro RATE_LIMIT in listener.ora) limita i nuovi logon al secondo.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JDBC è l’API standard Java per parlare con un database. Non serve essere sviluppatori Java per questa parte: l’obiettivo è riconoscere nel codice i pattern che abbiamo visto dal lato database (parse, cursori, connessioni).</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driver “thin” è scritto interamente in Java (ojdbc11.jar per Java 11 e successivi) e non richiede client Oracle installato. DriverManager.getConnection apre ogni volta una connessione fisica: va bene per un test, non per un’applicazione. In un’applicazione reale si usa un DataSource dietro cui c’è un pool. Fetch size: per default il driver Oracle legge 10 righe per round trip; per query che restituiscono molte righe alzarlo (ps.setFetchSize) riduce i round trip di rete (Layer 1: rete). Notare setLong su una colonna NUMBER: tipo coerente, nessuna conversione implicita.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Collegamento diretto con il Giorno 1, Layer 3 (parsing eccessivo): dal lato database lo riconoscete in V$SQL come migliaia di istruzioni quasi identiche che differiscono solo per il letterale. Query di diagnosi: SELECT force_matching_signature, COUNT(*) FROM v$sql GROUP BY force_matching_signature HAVING COUNT(*) &gt; 100 ORDER BY 2 DESC; Il parametro CURSOR_SHARING=FORCE è un palliativo lato database, non sostituisce la correzione del codice.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lo statement cache, quando il codice chiama ps.close() il driver non chiude davvero il cursore sul server: lo tiene in una cache per connessione. Alla prossima prepareStatement con lo stesso testo SQL lo riprende senza nessuna chiamata di parse. Funziona bene proprio insieme al pool, perché le connessioni durano a lungo. Alternative di configurazione: la proprietà di connessione oracle.jdbc.implicitStatementCacheSize, oppure setMaxStatements su un pool UCP. HikariCP non ha uno statement cache proprio: si configura quello del driver. Attenzione: ogni cursore in cache resta aperto sul server e conta per OPEN_CURSORS.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Leggere “logons cumulative” due volte a distanza di un minuto e fare la differenza dà i logon al minuto: in un’applicazione con pool sano il valore è vicino a zero. Una buona pratica lato applicazione: impostare MODULE e ACTION (ad esempio con DBMS_APPLICATION_INFO o con le proprietà della connessione) per riconoscere in V$SESSION e in ASH quale componente fa cosa. Per i parse, le statistiche 'parse count (total)', 'parse count (hard)' e 'session cursor cache hits' in V$SYSSTAT o V$SESSTAT: le useremo nel lab.</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laboratorio non era nella traccia fornita: è una proposta da validare sul vostro ambiente prima del corso. Servono un JDK 17 o successivo e il driver ojdbc11.jar. Se le macchine dei partecipanti non hanno Java, gli esercizi si possono fare come dimostrazione dal docente, con la classe che osserva dal database con le query V$.</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driver si scarica da Maven Central (com.oracle.database.jdbc:ojdbc11) o dalla pagina dei driver JDBC di Oracle. Da Java 11 il comando java esegue direttamente un singolo file sorgente, quindi non serve javac: basta mettere il file .java e il jar nella stessa cartella. Tenere aperto anche SQL Developer o DBeaver connesso come tuning_user o system per le query di osservazione. Tutti e tre i programmi si connettono a localhost:1521/XEPDB1 con tuning_user/tuning_pwd.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e dopo l’esecuzione leggere dal terminale SQL: SELECT value FROM v$sysstat WHERE name = 'logons cumulative'; La differenza sarà di circa 101 logon. Confrontare i due tempi stampati: la differenza è il costo dei 99 logon in più. Il valore dipende molto dall’ambiente (Docker su laptop, rete locale): l’importante è l’ordine di grandezza tra le due righe, non il numero assoluto. Domanda alla classe: cosa succederebbe con 1.000 utenti al secondo che aprono ciascuno una connessione? È esattamente il motivo per cui esiste il pool. Nota: nel codice i Statement non vengono chiusi esplicitamente per brevità; si chiudono con la connessione.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Mentre il programma dorme, far eseguire la query di osservazione: compariranno 20 sessioni INACTIVE in più con PROGRAM = 'JDBC Thin Client' e LAST_CALL_ET che cresce. Con un pool vero queste 20 connessioni sarebbero “perse” per il pool: con maximumPoolSize = 20 la richiesta successiva resterebbe in attesa fino al timeout. Variante: interrompere il programma con Ctrl+C e far vedere che le sessioni spariscono, perché la JVM chiude i socket. Discussione: come si corregge? try-with-resources (slide del connection leak). Se avanza tempo: aggiungere una UPDATE senza COMMIT su una delle connessioni e ritrovare il blocco come nel Lab 2 del Giorno 1.</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Eseguire due volte: java -cp ojdbc11.jar Cache.java (senza cache) e java -cp ojdbc11.jar Cache.java on (con cache). Risultato atteso: senza cache “parse count (total)” intorno a 5.000, perché ogni prepareStatement invia un parse; con la cache implicita il valore scende a poche unità, perché il driver riusa lo stesso cursore. In entrambi i casi “parse count (hard)” resta basso: grazie al bind il piano è sempre lo stesso. Lezione: le bind variable eliminano gli hard parse, lo statement cache elimina anche i soft parse. La query usa la chiave primaria su CLIENTI creata stamattina. V$MYSTAT riporta le statistiche della sessione corrente; tuning_user ha il ruolo DBA e può leggerla. I numeri esatti vanno verificati sulla vostra versione del driver.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B2D"/>
                </a:solidFill>
                <a:latin typeface="Inter" pitchFamily="34" charset="0"/>
                <a:ea typeface="Inter" pitchFamily="34" charset="-122"/>
                <a:cs typeface="Inter"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51661"/>
            <a:ext cx="10566400" cy="419353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B2D"/>
                </a:solidFill>
                <a:latin typeface="Inter" pitchFamily="34" charset="0"/>
                <a:ea typeface="Inter" pitchFamily="34" charset="-122"/>
                <a:cs typeface="Inter"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51661"/>
            <a:ext cx="10566400" cy="419353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6" r="-6"/>
          <a:stretch/>
        </p:blipFill>
        <p:spPr>
          <a:xfrm>
            <a:off x="7366000" y="0"/>
            <a:ext cx="4826000" cy="6858000"/>
          </a:xfrm>
          <a:prstGeom prst="rect">
            <a:avLst/>
          </a:prstGeom>
        </p:spPr>
      </p:pic>
      <p:sp>
        <p:nvSpPr>
          <p:cNvPr id="3" name="Text 0"/>
          <p:cNvSpPr/>
          <p:nvPr/>
        </p:nvSpPr>
        <p:spPr>
          <a:xfrm>
            <a:off x="812800" y="1621076"/>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10" dirty="0">
                <a:solidFill>
                  <a:srgbClr val="2E6BD1"/>
                </a:solidFill>
                <a:latin typeface="Inter" pitchFamily="34" charset="0"/>
                <a:ea typeface="Inter" pitchFamily="34" charset="-122"/>
                <a:cs typeface="Inter" pitchFamily="34" charset="-120"/>
              </a:rPr>
              <a:t>CORSO ORACLE · GIORNO 2 DI 3</a:t>
            </a:r>
            <a:endParaRPr lang="en-US" sz="1400" dirty="0"/>
          </a:p>
        </p:txBody>
      </p:sp>
      <p:sp>
        <p:nvSpPr>
          <p:cNvPr id="4" name="Text 1"/>
          <p:cNvSpPr>
            <a:spLocks noGrp="1"/>
          </p:cNvSpPr>
          <p:nvPr>
            <p:ph type="title"/>
          </p:nvPr>
        </p:nvSpPr>
        <p:spPr>
          <a:xfrm>
            <a:off x="812800" y="2123996"/>
            <a:ext cx="7848600" cy="2244249"/>
          </a:xfrm>
          <a:prstGeom prst="rect">
            <a:avLst/>
          </a:prstGeom>
          <a:noFill/>
          <a:ln/>
        </p:spPr>
        <p:txBody>
          <a:bodyPr wrap="square" lIns="0" tIns="0" rIns="0" bIns="0" rtlCol="0" anchor="t">
            <a:normAutofit/>
          </a:bodyPr>
          <a:lstStyle/>
          <a:p>
            <a:pPr marL="0" indent="0" algn="l">
              <a:lnSpc>
                <a:spcPts val="5824"/>
              </a:lnSpc>
              <a:buNone/>
            </a:pPr>
            <a:r>
              <a:rPr lang="en-US" sz="5600" b="1" i="0" kern="0" spc="-110" dirty="0">
                <a:solidFill>
                  <a:srgbClr val="2E6BD1"/>
                </a:solidFill>
                <a:latin typeface="Inter" pitchFamily="34" charset="0"/>
                <a:ea typeface="Inter" pitchFamily="34" charset="-122"/>
                <a:cs typeface="Inter" pitchFamily="34" charset="-120"/>
              </a:rPr>
              <a:t>Ottimizzazione del codice</a:t>
            </a:r>
            <a:endParaRPr lang="en-US" sz="5600" dirty="0"/>
          </a:p>
          <a:p>
            <a:pPr marL="0" indent="0" algn="l">
              <a:lnSpc>
                <a:spcPts val="5824"/>
              </a:lnSpc>
              <a:buNone/>
            </a:pPr>
            <a:r>
              <a:rPr lang="en-US" sz="5600" b="1" i="0" kern="0" spc="-110" dirty="0">
                <a:solidFill>
                  <a:srgbClr val="0F1B2D"/>
                </a:solidFill>
                <a:latin typeface="Inter" pitchFamily="34" charset="0"/>
                <a:ea typeface="Inter" pitchFamily="34" charset="-122"/>
                <a:cs typeface="Inter" pitchFamily="34" charset="-120"/>
              </a:rPr>
              <a:t>e frontiera applicativa</a:t>
            </a:r>
            <a:endParaRPr lang="en-US" sz="5600" dirty="0"/>
          </a:p>
        </p:txBody>
      </p:sp>
      <p:sp>
        <p:nvSpPr>
          <p:cNvPr id="5" name="Text 2"/>
          <p:cNvSpPr/>
          <p:nvPr/>
        </p:nvSpPr>
        <p:spPr>
          <a:xfrm>
            <a:off x="812800" y="4596845"/>
            <a:ext cx="719455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B5A6E"/>
                </a:solidFill>
                <a:latin typeface="Inter" pitchFamily="34" charset="0"/>
                <a:ea typeface="Inter" pitchFamily="34" charset="-122"/>
                <a:cs typeface="Inter" pitchFamily="34" charset="-120"/>
              </a:rPr>
              <a:t>Indici e metodi di join, trappole comuni, connessioni, connection pool e JDBC</a:t>
            </a:r>
            <a:endParaRPr lang="en-US" sz="1800" dirty="0"/>
          </a:p>
        </p:txBody>
      </p:sp>
      <p:sp>
        <p:nvSpPr>
          <p:cNvPr id="6" name="Text 3"/>
          <p:cNvSpPr/>
          <p:nvPr/>
        </p:nvSpPr>
        <p:spPr>
          <a:xfrm>
            <a:off x="812800" y="6035040"/>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E"/>
                </a:solidFill>
                <a:latin typeface="Inter" pitchFamily="34" charset="0"/>
                <a:ea typeface="Inter" pitchFamily="34" charset="-122"/>
                <a:cs typeface="Inter" pitchFamily="34" charset="-120"/>
              </a:rPr>
              <a:t>Teoria + laboratorio su Oracle Database XE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AGENDA</a:t>
            </a:r>
            <a:endParaRPr lang="en-US" sz="1200" dirty="0"/>
          </a:p>
        </p:txBody>
      </p:sp>
      <p:sp>
        <p:nvSpPr>
          <p:cNvPr id="3" name="Text 1"/>
          <p:cNvSpPr>
            <a:spLocks noGrp="1"/>
          </p:cNvSpPr>
          <p:nvPr>
            <p:ph type="title"/>
          </p:nvPr>
        </p:nvSpPr>
        <p:spPr>
          <a:xfrm>
            <a:off x="812800" y="112776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Dal database </a:t>
            </a:r>
            <a:r>
              <a:rPr lang="en-US" sz="3000" b="1" i="0" kern="0" spc="-60" dirty="0">
                <a:solidFill>
                  <a:srgbClr val="2E6BD1"/>
                </a:solidFill>
                <a:latin typeface="Inter" pitchFamily="34" charset="0"/>
                <a:ea typeface="Inter" pitchFamily="34" charset="-122"/>
                <a:cs typeface="Inter" pitchFamily="34" charset="-120"/>
              </a:rPr>
              <a:t>all’applicazione</a:t>
            </a:r>
            <a:endParaRPr lang="en-US" sz="3000" dirty="0"/>
          </a:p>
        </p:txBody>
      </p:sp>
      <p:sp>
        <p:nvSpPr>
          <p:cNvPr id="4" name="Shape 2"/>
          <p:cNvSpPr/>
          <p:nvPr/>
        </p:nvSpPr>
        <p:spPr>
          <a:xfrm>
            <a:off x="812800" y="1851660"/>
            <a:ext cx="5130800" cy="3990340"/>
          </a:xfrm>
          <a:prstGeom prst="rect">
            <a:avLst/>
          </a:prstGeom>
          <a:solidFill>
            <a:srgbClr val="FFFFFF"/>
          </a:solidFill>
          <a:ln/>
        </p:spPr>
        <p:txBody>
          <a:bodyPr/>
          <a:lstStyle/>
          <a:p>
            <a:endParaRPr lang="it-IT"/>
          </a:p>
        </p:txBody>
      </p:sp>
      <p:sp>
        <p:nvSpPr>
          <p:cNvPr id="5" name="Shape 3"/>
          <p:cNvSpPr/>
          <p:nvPr/>
        </p:nvSpPr>
        <p:spPr>
          <a:xfrm>
            <a:off x="812800" y="1864360"/>
            <a:ext cx="5130800" cy="0"/>
          </a:xfrm>
          <a:prstGeom prst="line">
            <a:avLst/>
          </a:prstGeom>
          <a:noFill/>
          <a:ln w="25400">
            <a:solidFill>
              <a:srgbClr val="2E6BD1"/>
            </a:solidFill>
            <a:prstDash val="solid"/>
          </a:ln>
        </p:spPr>
        <p:txBody>
          <a:bodyPr/>
          <a:lstStyle/>
          <a:p>
            <a:endParaRPr lang="it-IT"/>
          </a:p>
        </p:txBody>
      </p:sp>
      <p:sp>
        <p:nvSpPr>
          <p:cNvPr id="6" name="Text 4"/>
          <p:cNvSpPr/>
          <p:nvPr/>
        </p:nvSpPr>
        <p:spPr>
          <a:xfrm>
            <a:off x="1066800" y="2131060"/>
            <a:ext cx="476148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MATTINA</a:t>
            </a:r>
            <a:endParaRPr lang="en-US" sz="1200" dirty="0"/>
          </a:p>
        </p:txBody>
      </p:sp>
      <p:sp>
        <p:nvSpPr>
          <p:cNvPr id="7" name="Text 5"/>
          <p:cNvSpPr/>
          <p:nvPr/>
        </p:nvSpPr>
        <p:spPr>
          <a:xfrm>
            <a:off x="1066800" y="2471420"/>
            <a:ext cx="476148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nter" pitchFamily="34" charset="0"/>
                <a:ea typeface="Inter" pitchFamily="34" charset="-122"/>
                <a:cs typeface="Inter" pitchFamily="34" charset="-120"/>
              </a:rPr>
              <a:t>Ottimizzazione indici</a:t>
            </a:r>
            <a:endParaRPr lang="en-US" sz="1800" dirty="0"/>
          </a:p>
        </p:txBody>
      </p:sp>
      <p:sp>
        <p:nvSpPr>
          <p:cNvPr id="8" name="Shape 6"/>
          <p:cNvSpPr/>
          <p:nvPr/>
        </p:nvSpPr>
        <p:spPr>
          <a:xfrm>
            <a:off x="1073150" y="2872740"/>
            <a:ext cx="0" cy="706120"/>
          </a:xfrm>
          <a:prstGeom prst="line">
            <a:avLst/>
          </a:prstGeom>
          <a:noFill/>
          <a:ln w="12700">
            <a:solidFill>
              <a:srgbClr val="DCE5F2"/>
            </a:solidFill>
            <a:prstDash val="solid"/>
          </a:ln>
        </p:spPr>
        <p:txBody>
          <a:bodyPr/>
          <a:lstStyle/>
          <a:p>
            <a:endParaRPr lang="it-IT"/>
          </a:p>
        </p:txBody>
      </p:sp>
      <p:sp>
        <p:nvSpPr>
          <p:cNvPr id="9" name="Text 7"/>
          <p:cNvSpPr/>
          <p:nvPr/>
        </p:nvSpPr>
        <p:spPr>
          <a:xfrm>
            <a:off x="1229360" y="2872740"/>
            <a:ext cx="45940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Teoria · 2–3 h</a:t>
            </a:r>
            <a:endParaRPr lang="en-US" sz="1200" dirty="0"/>
          </a:p>
        </p:txBody>
      </p:sp>
      <p:sp>
        <p:nvSpPr>
          <p:cNvPr id="10" name="Text 8"/>
          <p:cNvSpPr/>
          <p:nvPr/>
        </p:nvSpPr>
        <p:spPr>
          <a:xfrm>
            <a:off x="1229360" y="3136900"/>
            <a:ext cx="459404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B5A6E"/>
                </a:solidFill>
                <a:latin typeface="Inter" pitchFamily="34" charset="0"/>
                <a:ea typeface="Inter" pitchFamily="34" charset="-122"/>
                <a:cs typeface="Inter" pitchFamily="34" charset="-120"/>
              </a:rPr>
              <a:t>B-Tree e Bitmap · Nested Loops e Hash Join · Trappole: funzioni, conversioni implicite, statistiche</a:t>
            </a:r>
            <a:endParaRPr lang="en-US" sz="1200" dirty="0"/>
          </a:p>
        </p:txBody>
      </p:sp>
      <p:sp>
        <p:nvSpPr>
          <p:cNvPr id="11" name="Shape 9"/>
          <p:cNvSpPr/>
          <p:nvPr/>
        </p:nvSpPr>
        <p:spPr>
          <a:xfrm>
            <a:off x="1073150" y="3705860"/>
            <a:ext cx="0" cy="706120"/>
          </a:xfrm>
          <a:prstGeom prst="line">
            <a:avLst/>
          </a:prstGeom>
          <a:noFill/>
          <a:ln w="12700">
            <a:solidFill>
              <a:srgbClr val="2E6BD1"/>
            </a:solidFill>
            <a:prstDash val="solid"/>
          </a:ln>
        </p:spPr>
        <p:txBody>
          <a:bodyPr/>
          <a:lstStyle/>
          <a:p>
            <a:endParaRPr lang="it-IT"/>
          </a:p>
        </p:txBody>
      </p:sp>
      <p:sp>
        <p:nvSpPr>
          <p:cNvPr id="12" name="Text 10"/>
          <p:cNvSpPr/>
          <p:nvPr/>
        </p:nvSpPr>
        <p:spPr>
          <a:xfrm>
            <a:off x="1229360" y="3705860"/>
            <a:ext cx="45940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Hands-on · 1–2 h</a:t>
            </a:r>
            <a:endParaRPr lang="en-US" sz="1200" dirty="0"/>
          </a:p>
        </p:txBody>
      </p:sp>
      <p:sp>
        <p:nvSpPr>
          <p:cNvPr id="13" name="Text 11"/>
          <p:cNvSpPr/>
          <p:nvPr/>
        </p:nvSpPr>
        <p:spPr>
          <a:xfrm>
            <a:off x="1229360" y="3970020"/>
            <a:ext cx="459404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B5A6E"/>
                </a:solidFill>
                <a:latin typeface="Inter" pitchFamily="34" charset="0"/>
                <a:ea typeface="Inter" pitchFamily="34" charset="-122"/>
                <a:cs typeface="Inter" pitchFamily="34" charset="-120"/>
              </a:rPr>
              <a:t>Correzione delle query del Giorno 1 con gli indici giusti e verifica sul nuovo access plan</a:t>
            </a:r>
            <a:endParaRPr lang="en-US" sz="1200" dirty="0"/>
          </a:p>
        </p:txBody>
      </p:sp>
      <p:sp>
        <p:nvSpPr>
          <p:cNvPr id="14" name="Shape 12"/>
          <p:cNvSpPr/>
          <p:nvPr/>
        </p:nvSpPr>
        <p:spPr>
          <a:xfrm>
            <a:off x="6248400" y="1851660"/>
            <a:ext cx="5130800" cy="3990340"/>
          </a:xfrm>
          <a:prstGeom prst="rect">
            <a:avLst/>
          </a:prstGeom>
          <a:solidFill>
            <a:srgbClr val="FFFFFF"/>
          </a:solidFill>
          <a:ln/>
        </p:spPr>
        <p:txBody>
          <a:bodyPr/>
          <a:lstStyle/>
          <a:p>
            <a:endParaRPr lang="it-IT"/>
          </a:p>
        </p:txBody>
      </p:sp>
      <p:sp>
        <p:nvSpPr>
          <p:cNvPr id="15" name="Shape 13"/>
          <p:cNvSpPr/>
          <p:nvPr/>
        </p:nvSpPr>
        <p:spPr>
          <a:xfrm>
            <a:off x="6248400" y="1864360"/>
            <a:ext cx="5130800" cy="0"/>
          </a:xfrm>
          <a:prstGeom prst="line">
            <a:avLst/>
          </a:prstGeom>
          <a:noFill/>
          <a:ln w="25400">
            <a:solidFill>
              <a:srgbClr val="0F1B2D"/>
            </a:solidFill>
            <a:prstDash val="solid"/>
          </a:ln>
        </p:spPr>
        <p:txBody>
          <a:bodyPr/>
          <a:lstStyle/>
          <a:p>
            <a:endParaRPr lang="it-IT"/>
          </a:p>
        </p:txBody>
      </p:sp>
      <p:sp>
        <p:nvSpPr>
          <p:cNvPr id="16" name="Text 14"/>
          <p:cNvSpPr/>
          <p:nvPr/>
        </p:nvSpPr>
        <p:spPr>
          <a:xfrm>
            <a:off x="6502400" y="2131060"/>
            <a:ext cx="476148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0F1B2D"/>
                </a:solidFill>
                <a:latin typeface="Inter" pitchFamily="34" charset="0"/>
                <a:ea typeface="Inter" pitchFamily="34" charset="-122"/>
                <a:cs typeface="Inter" pitchFamily="34" charset="-120"/>
              </a:rPr>
              <a:t>POMERIGGIO</a:t>
            </a:r>
            <a:endParaRPr lang="en-US" sz="1200" dirty="0"/>
          </a:p>
        </p:txBody>
      </p:sp>
      <p:sp>
        <p:nvSpPr>
          <p:cNvPr id="17" name="Text 15"/>
          <p:cNvSpPr/>
          <p:nvPr/>
        </p:nvSpPr>
        <p:spPr>
          <a:xfrm>
            <a:off x="6502400" y="2471420"/>
            <a:ext cx="476148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nter" pitchFamily="34" charset="0"/>
                <a:ea typeface="Inter" pitchFamily="34" charset="-122"/>
                <a:cs typeface="Inter" pitchFamily="34" charset="-120"/>
              </a:rPr>
              <a:t>Connessioni e introduzione a JDBC</a:t>
            </a:r>
            <a:endParaRPr lang="en-US" sz="1800" dirty="0"/>
          </a:p>
        </p:txBody>
      </p:sp>
      <p:sp>
        <p:nvSpPr>
          <p:cNvPr id="18" name="Shape 16"/>
          <p:cNvSpPr/>
          <p:nvPr/>
        </p:nvSpPr>
        <p:spPr>
          <a:xfrm>
            <a:off x="6508750" y="2872740"/>
            <a:ext cx="0" cy="706120"/>
          </a:xfrm>
          <a:prstGeom prst="line">
            <a:avLst/>
          </a:prstGeom>
          <a:noFill/>
          <a:ln w="12700">
            <a:solidFill>
              <a:srgbClr val="DCE5F2"/>
            </a:solidFill>
            <a:prstDash val="solid"/>
          </a:ln>
        </p:spPr>
        <p:txBody>
          <a:bodyPr/>
          <a:lstStyle/>
          <a:p>
            <a:endParaRPr lang="it-IT"/>
          </a:p>
        </p:txBody>
      </p:sp>
      <p:sp>
        <p:nvSpPr>
          <p:cNvPr id="19" name="Text 17"/>
          <p:cNvSpPr/>
          <p:nvPr/>
        </p:nvSpPr>
        <p:spPr>
          <a:xfrm>
            <a:off x="6664960" y="2872740"/>
            <a:ext cx="45940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Teoria · 2–3 h</a:t>
            </a:r>
            <a:endParaRPr lang="en-US" sz="1200" dirty="0"/>
          </a:p>
        </p:txBody>
      </p:sp>
      <p:sp>
        <p:nvSpPr>
          <p:cNvPr id="20" name="Text 18"/>
          <p:cNvSpPr/>
          <p:nvPr/>
        </p:nvSpPr>
        <p:spPr>
          <a:xfrm>
            <a:off x="6664960" y="3136900"/>
            <a:ext cx="459404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B5A6E"/>
                </a:solidFill>
                <a:latin typeface="Inter" pitchFamily="34" charset="0"/>
                <a:ea typeface="Inter" pitchFamily="34" charset="-122"/>
                <a:cs typeface="Inter" pitchFamily="34" charset="-120"/>
              </a:rPr>
              <a:t>Costo di una connessione fisica · Connection pool, leak e logon storm · Statement caching</a:t>
            </a:r>
            <a:endParaRPr lang="en-US" sz="1200" dirty="0"/>
          </a:p>
        </p:txBody>
      </p:sp>
      <p:sp>
        <p:nvSpPr>
          <p:cNvPr id="21" name="Shape 19"/>
          <p:cNvSpPr/>
          <p:nvPr/>
        </p:nvSpPr>
        <p:spPr>
          <a:xfrm>
            <a:off x="6508750" y="3705860"/>
            <a:ext cx="0" cy="706120"/>
          </a:xfrm>
          <a:prstGeom prst="line">
            <a:avLst/>
          </a:prstGeom>
          <a:noFill/>
          <a:ln w="12700">
            <a:solidFill>
              <a:srgbClr val="2E6BD1"/>
            </a:solidFill>
            <a:prstDash val="solid"/>
          </a:ln>
        </p:spPr>
        <p:txBody>
          <a:bodyPr/>
          <a:lstStyle/>
          <a:p>
            <a:endParaRPr lang="it-IT"/>
          </a:p>
        </p:txBody>
      </p:sp>
      <p:sp>
        <p:nvSpPr>
          <p:cNvPr id="22" name="Text 20"/>
          <p:cNvSpPr/>
          <p:nvPr/>
        </p:nvSpPr>
        <p:spPr>
          <a:xfrm>
            <a:off x="6664960" y="3705860"/>
            <a:ext cx="45940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Inter" pitchFamily="34" charset="0"/>
                <a:ea typeface="Inter" pitchFamily="34" charset="-122"/>
                <a:cs typeface="Inter" pitchFamily="34" charset="-120"/>
              </a:rPr>
              <a:t>Hands-on · 1–2 h (proposta)</a:t>
            </a:r>
            <a:endParaRPr lang="en-US" sz="1200" dirty="0"/>
          </a:p>
        </p:txBody>
      </p:sp>
      <p:sp>
        <p:nvSpPr>
          <p:cNvPr id="23" name="Text 21"/>
          <p:cNvSpPr/>
          <p:nvPr/>
        </p:nvSpPr>
        <p:spPr>
          <a:xfrm>
            <a:off x="6664960" y="3970020"/>
            <a:ext cx="4594047"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B5A6E"/>
                </a:solidFill>
                <a:latin typeface="Inter" pitchFamily="34" charset="0"/>
                <a:ea typeface="Inter" pitchFamily="34" charset="-122"/>
                <a:cs typeface="Inter" pitchFamily="34" charset="-120"/>
              </a:rPr>
              <a:t>Misurare il costo del logon, provocare un leak, confrontare i parse con e senza cache</a:t>
            </a:r>
            <a:endParaRPr lang="en-US" sz="1200" dirty="0"/>
          </a:p>
        </p:txBody>
      </p:sp>
      <p:sp>
        <p:nvSpPr>
          <p:cNvPr id="24" name="Text 22"/>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050813"/>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01</a:t>
            </a:r>
            <a:endParaRPr lang="en-US" sz="1400" dirty="0"/>
          </a:p>
        </p:txBody>
      </p:sp>
      <p:sp>
        <p:nvSpPr>
          <p:cNvPr id="3" name="Text 1"/>
          <p:cNvSpPr/>
          <p:nvPr/>
        </p:nvSpPr>
        <p:spPr>
          <a:xfrm>
            <a:off x="812800" y="250293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MATTINA · TEORIA</a:t>
            </a:r>
            <a:endParaRPr lang="en-US" sz="1200" dirty="0"/>
          </a:p>
        </p:txBody>
      </p:sp>
      <p:sp>
        <p:nvSpPr>
          <p:cNvPr id="4" name="Text 2"/>
          <p:cNvSpPr>
            <a:spLocks noGrp="1"/>
          </p:cNvSpPr>
          <p:nvPr>
            <p:ph type="title"/>
          </p:nvPr>
        </p:nvSpPr>
        <p:spPr>
          <a:xfrm>
            <a:off x="812800" y="2919492"/>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5B9BFF"/>
                </a:solidFill>
                <a:latin typeface="Inter" pitchFamily="34" charset="0"/>
                <a:ea typeface="Inter" pitchFamily="34" charset="-122"/>
                <a:cs typeface="Inter" pitchFamily="34" charset="-120"/>
              </a:rPr>
              <a:t>Tipologie</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di indici</a:t>
            </a:r>
            <a:endParaRPr lang="en-US" sz="5200" dirty="0"/>
          </a:p>
        </p:txBody>
      </p:sp>
      <p:sp>
        <p:nvSpPr>
          <p:cNvPr id="5" name="Text 3"/>
          <p:cNvSpPr/>
          <p:nvPr/>
        </p:nvSpPr>
        <p:spPr>
          <a:xfrm>
            <a:off x="812800" y="4522708"/>
            <a:ext cx="78486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B-Tree, Bitmap e le varianti che servono davvero nel lavoro quotidiano</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INDICI</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L’indice </a:t>
            </a:r>
            <a:r>
              <a:rPr lang="en-US" sz="3000" b="1" i="0" kern="0" spc="-60" dirty="0">
                <a:solidFill>
                  <a:srgbClr val="2E6BD1"/>
                </a:solidFill>
                <a:latin typeface="Inter" pitchFamily="34" charset="0"/>
                <a:ea typeface="Inter" pitchFamily="34" charset="-122"/>
                <a:cs typeface="Inter" pitchFamily="34" charset="-120"/>
              </a:rPr>
              <a:t>B-Tree</a:t>
            </a:r>
            <a:endParaRPr lang="en-US" sz="3000" dirty="0"/>
          </a:p>
        </p:txBody>
      </p:sp>
      <p:sp>
        <p:nvSpPr>
          <p:cNvPr id="4" name="Shape 2"/>
          <p:cNvSpPr/>
          <p:nvPr/>
        </p:nvSpPr>
        <p:spPr>
          <a:xfrm>
            <a:off x="812800" y="1800861"/>
            <a:ext cx="6319520" cy="2092960"/>
          </a:xfrm>
          <a:prstGeom prst="rect">
            <a:avLst/>
          </a:prstGeom>
          <a:solidFill>
            <a:srgbClr val="FFFFFF"/>
          </a:solidFill>
          <a:ln/>
        </p:spPr>
        <p:txBody>
          <a:bodyPr/>
          <a:lstStyle/>
          <a:p>
            <a:endParaRPr lang="it-IT"/>
          </a:p>
        </p:txBody>
      </p:sp>
      <p:sp>
        <p:nvSpPr>
          <p:cNvPr id="5" name="Text 3"/>
          <p:cNvSpPr/>
          <p:nvPr/>
        </p:nvSpPr>
        <p:spPr>
          <a:xfrm>
            <a:off x="3579971" y="2004061"/>
            <a:ext cx="785178" cy="365760"/>
          </a:xfrm>
          <a:prstGeom prst="rect">
            <a:avLst/>
          </a:prstGeom>
          <a:solidFill>
            <a:srgbClr val="0F1B2D"/>
          </a:solidFill>
          <a:ln/>
        </p:spPr>
        <p:txBody>
          <a:bodyPr wrap="none" lIns="0" tIns="0" rIns="0" bIns="0" rtlCol="0" anchor="ctr">
            <a:normAutofit/>
          </a:bodyPr>
          <a:lstStyle/>
          <a:p>
            <a:pPr marL="0" indent="0" algn="ctr">
              <a:lnSpc>
                <a:spcPts val="1680"/>
              </a:lnSpc>
              <a:buNone/>
            </a:pPr>
            <a:r>
              <a:rPr lang="en-US" sz="1200" b="1" dirty="0">
                <a:solidFill>
                  <a:srgbClr val="F6F8FB"/>
                </a:solidFill>
                <a:latin typeface="Inter" pitchFamily="34" charset="0"/>
                <a:ea typeface="Inter" pitchFamily="34" charset="-122"/>
                <a:cs typeface="Inter" pitchFamily="34" charset="-120"/>
              </a:rPr>
              <a:t>ROOT</a:t>
            </a:r>
            <a:endParaRPr lang="en-US" sz="1200" dirty="0"/>
          </a:p>
        </p:txBody>
      </p:sp>
      <p:sp>
        <p:nvSpPr>
          <p:cNvPr id="6" name="Text 4"/>
          <p:cNvSpPr/>
          <p:nvPr/>
        </p:nvSpPr>
        <p:spPr>
          <a:xfrm>
            <a:off x="1939449" y="2496820"/>
            <a:ext cx="1525111" cy="365760"/>
          </a:xfrm>
          <a:prstGeom prst="rect">
            <a:avLst/>
          </a:prstGeom>
          <a:solidFill>
            <a:srgbClr val="DCE5F2"/>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Inter" pitchFamily="34" charset="0"/>
                <a:ea typeface="Inter" pitchFamily="34" charset="-122"/>
                <a:cs typeface="Inter" pitchFamily="34" charset="-120"/>
              </a:rPr>
              <a:t>BRANCH 1–3.000</a:t>
            </a:r>
            <a:endParaRPr lang="en-US" sz="1200" dirty="0"/>
          </a:p>
        </p:txBody>
      </p:sp>
      <p:sp>
        <p:nvSpPr>
          <p:cNvPr id="7" name="Text 5"/>
          <p:cNvSpPr/>
          <p:nvPr/>
        </p:nvSpPr>
        <p:spPr>
          <a:xfrm>
            <a:off x="3566160" y="2496820"/>
            <a:ext cx="1172448" cy="365760"/>
          </a:xfrm>
          <a:prstGeom prst="rect">
            <a:avLst/>
          </a:prstGeom>
          <a:solidFill>
            <a:srgbClr val="DCE5F2"/>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Inter" pitchFamily="34" charset="0"/>
                <a:ea typeface="Inter" pitchFamily="34" charset="-122"/>
                <a:cs typeface="Inter" pitchFamily="34" charset="-120"/>
              </a:rPr>
              <a:t>3.001–6.000</a:t>
            </a:r>
            <a:endParaRPr lang="en-US" sz="1200" dirty="0"/>
          </a:p>
        </p:txBody>
      </p:sp>
      <p:sp>
        <p:nvSpPr>
          <p:cNvPr id="8" name="Text 6"/>
          <p:cNvSpPr/>
          <p:nvPr/>
        </p:nvSpPr>
        <p:spPr>
          <a:xfrm>
            <a:off x="4840208" y="2496820"/>
            <a:ext cx="1165463" cy="365760"/>
          </a:xfrm>
          <a:prstGeom prst="rect">
            <a:avLst/>
          </a:prstGeom>
          <a:solidFill>
            <a:srgbClr val="DCE5F2"/>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Inter" pitchFamily="34" charset="0"/>
                <a:ea typeface="Inter" pitchFamily="34" charset="-122"/>
                <a:cs typeface="Inter" pitchFamily="34" charset="-120"/>
              </a:rPr>
              <a:t>6.001–9.999</a:t>
            </a:r>
            <a:endParaRPr lang="en-US" sz="1200" dirty="0"/>
          </a:p>
        </p:txBody>
      </p:sp>
      <p:sp>
        <p:nvSpPr>
          <p:cNvPr id="9" name="Text 7"/>
          <p:cNvSpPr/>
          <p:nvPr/>
        </p:nvSpPr>
        <p:spPr>
          <a:xfrm>
            <a:off x="2096611" y="2995930"/>
            <a:ext cx="1191339" cy="347980"/>
          </a:xfrm>
          <a:prstGeom prst="rect">
            <a:avLst/>
          </a:prstGeom>
          <a:noFill/>
          <a:ln w="12700">
            <a:solidFill>
              <a:srgbClr val="2E6BD1"/>
            </a:solidFill>
            <a:prstDash val="solid"/>
          </a:ln>
        </p:spPr>
        <p:txBody>
          <a:bodyPr wrap="none" lIns="0" tIns="0" rIns="0" bIns="0" rtlCol="0" anchor="ctr">
            <a:normAutofit/>
          </a:bodyPr>
          <a:lstStyle/>
          <a:p>
            <a:pPr marL="0" indent="0" algn="ctr">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449 → rowid</a:t>
            </a:r>
            <a:endParaRPr lang="en-US" sz="1200" dirty="0"/>
          </a:p>
        </p:txBody>
      </p:sp>
      <p:sp>
        <p:nvSpPr>
          <p:cNvPr id="10" name="Text 8"/>
          <p:cNvSpPr/>
          <p:nvPr/>
        </p:nvSpPr>
        <p:spPr>
          <a:xfrm>
            <a:off x="3376851" y="2995930"/>
            <a:ext cx="1191339" cy="347980"/>
          </a:xfrm>
          <a:prstGeom prst="rect">
            <a:avLst/>
          </a:prstGeom>
          <a:noFill/>
          <a:ln w="12700">
            <a:solidFill>
              <a:srgbClr val="2E6BD1"/>
            </a:solidFill>
            <a:prstDash val="solid"/>
          </a:ln>
        </p:spPr>
        <p:txBody>
          <a:bodyPr wrap="none" lIns="0" tIns="0" rIns="0" bIns="0" rtlCol="0" anchor="ctr">
            <a:normAutofit/>
          </a:bodyPr>
          <a:lstStyle/>
          <a:p>
            <a:pPr marL="0" indent="0" algn="ctr">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450 → rowid</a:t>
            </a:r>
            <a:endParaRPr lang="en-US" sz="1200" dirty="0"/>
          </a:p>
        </p:txBody>
      </p:sp>
      <p:sp>
        <p:nvSpPr>
          <p:cNvPr id="11" name="Text 9"/>
          <p:cNvSpPr/>
          <p:nvPr/>
        </p:nvSpPr>
        <p:spPr>
          <a:xfrm>
            <a:off x="4657090" y="2995930"/>
            <a:ext cx="1191339" cy="347980"/>
          </a:xfrm>
          <a:prstGeom prst="rect">
            <a:avLst/>
          </a:prstGeom>
          <a:noFill/>
          <a:ln w="12700">
            <a:solidFill>
              <a:srgbClr val="2E6BD1"/>
            </a:solidFill>
            <a:prstDash val="solid"/>
          </a:ln>
        </p:spPr>
        <p:txBody>
          <a:bodyPr wrap="none" lIns="0" tIns="0" rIns="0" bIns="0" rtlCol="0" anchor="ctr">
            <a:normAutofit/>
          </a:bodyPr>
          <a:lstStyle/>
          <a:p>
            <a:pPr marL="0" indent="0" algn="ctr">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450 → rowid</a:t>
            </a:r>
            <a:endParaRPr lang="en-US" sz="1200" dirty="0"/>
          </a:p>
        </p:txBody>
      </p:sp>
      <p:sp>
        <p:nvSpPr>
          <p:cNvPr id="12" name="Text 10"/>
          <p:cNvSpPr/>
          <p:nvPr/>
        </p:nvSpPr>
        <p:spPr>
          <a:xfrm>
            <a:off x="1945640" y="3477261"/>
            <a:ext cx="40538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B5A6E"/>
                </a:solidFill>
                <a:latin typeface="Inter" pitchFamily="34" charset="0"/>
                <a:ea typeface="Inter" pitchFamily="34" charset="-122"/>
                <a:cs typeface="Inter" pitchFamily="34" charset="-120"/>
              </a:rPr>
              <a:t>LEAF: valori ordinati + ROWID, collegati tra loro</a:t>
            </a:r>
            <a:endParaRPr lang="en-US" sz="1200" dirty="0"/>
          </a:p>
        </p:txBody>
      </p:sp>
      <p:sp>
        <p:nvSpPr>
          <p:cNvPr id="13" name="Text 11"/>
          <p:cNvSpPr/>
          <p:nvPr/>
        </p:nvSpPr>
        <p:spPr>
          <a:xfrm>
            <a:off x="7437120" y="1800861"/>
            <a:ext cx="4060342" cy="504190"/>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3D4B5E"/>
                </a:solidFill>
                <a:latin typeface="Inter" pitchFamily="34" charset="0"/>
                <a:ea typeface="Inter" pitchFamily="34" charset="-122"/>
                <a:cs typeface="Inter" pitchFamily="34" charset="-120"/>
              </a:rPr>
              <a:t>Bilanciato</a:t>
            </a:r>
            <a:r>
              <a:rPr lang="en-US" sz="1300" dirty="0">
                <a:solidFill>
                  <a:srgbClr val="3D4B5E"/>
                </a:solidFill>
                <a:latin typeface="Inter" pitchFamily="34" charset="0"/>
                <a:ea typeface="Inter" pitchFamily="34" charset="-122"/>
                <a:cs typeface="Inter" pitchFamily="34" charset="-120"/>
              </a:rPr>
              <a:t>: ogni foglia è alla stessa profondità, di solito 2–3 livelli anche su milioni di righe.</a:t>
            </a:r>
            <a:endParaRPr lang="en-US" sz="1300" dirty="0"/>
          </a:p>
        </p:txBody>
      </p:sp>
      <p:sp>
        <p:nvSpPr>
          <p:cNvPr id="14" name="Text 12"/>
          <p:cNvSpPr/>
          <p:nvPr/>
        </p:nvSpPr>
        <p:spPr>
          <a:xfrm>
            <a:off x="7437120" y="2393950"/>
            <a:ext cx="4060342" cy="504190"/>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3D4B5E"/>
                </a:solidFill>
                <a:latin typeface="Inter" pitchFamily="34" charset="0"/>
                <a:ea typeface="Inter" pitchFamily="34" charset="-122"/>
                <a:cs typeface="Inter" pitchFamily="34" charset="-120"/>
              </a:rPr>
              <a:t>Ordinato</a:t>
            </a:r>
            <a:r>
              <a:rPr lang="en-US" sz="1300" dirty="0">
                <a:solidFill>
                  <a:srgbClr val="3D4B5E"/>
                </a:solidFill>
                <a:latin typeface="Inter" pitchFamily="34" charset="0"/>
                <a:ea typeface="Inter" pitchFamily="34" charset="-122"/>
                <a:cs typeface="Inter" pitchFamily="34" charset="-120"/>
              </a:rPr>
              <a:t>: le foglie collegate permettono il range scan.</a:t>
            </a:r>
            <a:endParaRPr lang="en-US" sz="1300" dirty="0"/>
          </a:p>
        </p:txBody>
      </p:sp>
      <p:sp>
        <p:nvSpPr>
          <p:cNvPr id="15" name="Text 13"/>
          <p:cNvSpPr/>
          <p:nvPr/>
        </p:nvSpPr>
        <p:spPr>
          <a:xfrm>
            <a:off x="7437120" y="2987041"/>
            <a:ext cx="4060342" cy="504190"/>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3D4B5E"/>
                </a:solidFill>
                <a:latin typeface="Inter" pitchFamily="34" charset="0"/>
                <a:ea typeface="Inter" pitchFamily="34" charset="-122"/>
                <a:cs typeface="Inter" pitchFamily="34" charset="-120"/>
              </a:rPr>
              <a:t>NULL esclusi</a:t>
            </a:r>
            <a:r>
              <a:rPr lang="en-US" sz="1300" dirty="0">
                <a:solidFill>
                  <a:srgbClr val="3D4B5E"/>
                </a:solidFill>
                <a:latin typeface="Inter" pitchFamily="34" charset="0"/>
                <a:ea typeface="Inter" pitchFamily="34" charset="-122"/>
                <a:cs typeface="Inter" pitchFamily="34" charset="-120"/>
              </a:rPr>
              <a:t> se tutte le colonne indicizzate sono nulle.</a:t>
            </a:r>
            <a:endParaRPr lang="en-US" sz="1300" dirty="0"/>
          </a:p>
        </p:txBody>
      </p:sp>
      <p:sp>
        <p:nvSpPr>
          <p:cNvPr id="16" name="Text 14"/>
          <p:cNvSpPr/>
          <p:nvPr/>
        </p:nvSpPr>
        <p:spPr>
          <a:xfrm>
            <a:off x="7437120" y="3580130"/>
            <a:ext cx="4060342" cy="264795"/>
          </a:xfrm>
          <a:prstGeom prst="rect">
            <a:avLst/>
          </a:prstGeom>
          <a:noFill/>
          <a:ln/>
        </p:spPr>
        <p:txBody>
          <a:bodyPr wrap="square" lIns="0" tIns="0" rIns="0" bIns="0" rtlCol="0" anchor="t">
            <a:noAutofit/>
          </a:bodyPr>
          <a:lstStyle/>
          <a:p>
            <a:r>
              <a:rPr lang="en-US" sz="1300" dirty="0" err="1">
                <a:solidFill>
                  <a:srgbClr val="3D4B5E"/>
                </a:solidFill>
                <a:latin typeface="Inter" pitchFamily="34" charset="0"/>
                <a:ea typeface="Inter" pitchFamily="34" charset="-122"/>
              </a:rPr>
              <a:t>Ideale</a:t>
            </a:r>
            <a:r>
              <a:rPr lang="en-US" sz="1300" dirty="0">
                <a:solidFill>
                  <a:srgbClr val="3D4B5E"/>
                </a:solidFill>
                <a:latin typeface="Inter" pitchFamily="34" charset="0"/>
                <a:ea typeface="Inter" pitchFamily="34" charset="-122"/>
              </a:rPr>
              <a:t> per </a:t>
            </a:r>
            <a:r>
              <a:rPr lang="en-US" sz="1300" dirty="0" err="1">
                <a:solidFill>
                  <a:srgbClr val="3D4B5E"/>
                </a:solidFill>
                <a:latin typeface="Inter" pitchFamily="34" charset="0"/>
                <a:ea typeface="Inter" pitchFamily="34" charset="-122"/>
              </a:rPr>
              <a:t>alta</a:t>
            </a:r>
            <a:r>
              <a:rPr lang="en-US" sz="1300" dirty="0">
                <a:solidFill>
                  <a:srgbClr val="3D4B5E"/>
                </a:solidFill>
                <a:latin typeface="Inter" pitchFamily="34" charset="0"/>
                <a:ea typeface="Inter" pitchFamily="34" charset="-122"/>
              </a:rPr>
              <a:t> </a:t>
            </a:r>
            <a:r>
              <a:rPr lang="en-US" sz="1300" dirty="0" err="1">
                <a:solidFill>
                  <a:srgbClr val="3D4B5E"/>
                </a:solidFill>
                <a:latin typeface="Inter" pitchFamily="34" charset="0"/>
                <a:ea typeface="Inter" pitchFamily="34" charset="-122"/>
              </a:rPr>
              <a:t>cardinalità</a:t>
            </a:r>
            <a:r>
              <a:rPr lang="en-US" sz="1300" dirty="0">
                <a:solidFill>
                  <a:srgbClr val="3D4B5E"/>
                </a:solidFill>
                <a:latin typeface="Inter" pitchFamily="34" charset="0"/>
                <a:ea typeface="Inter" pitchFamily="34" charset="-122"/>
              </a:rPr>
              <a:t> </a:t>
            </a:r>
            <a:r>
              <a:rPr lang="it-IT" sz="1300" dirty="0">
                <a:solidFill>
                  <a:srgbClr val="3D4B5E"/>
                </a:solidFill>
                <a:latin typeface="Inter" pitchFamily="34" charset="0"/>
                <a:ea typeface="Inter" pitchFamily="34" charset="-122"/>
              </a:rPr>
              <a:t>come identificativi, codici e date</a:t>
            </a:r>
            <a:r>
              <a:rPr lang="en-US" sz="1300" dirty="0">
                <a:solidFill>
                  <a:srgbClr val="3D4B5E"/>
                </a:solidFill>
                <a:latin typeface="Inter" pitchFamily="34" charset="0"/>
                <a:ea typeface="Inter" pitchFamily="34" charset="-122"/>
              </a:rPr>
              <a:t> e carichi OLTP.</a:t>
            </a:r>
          </a:p>
        </p:txBody>
      </p:sp>
      <p:sp>
        <p:nvSpPr>
          <p:cNvPr id="17" name="Text 15"/>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INDICI</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L’indice </a:t>
            </a:r>
            <a:r>
              <a:rPr lang="en-US" sz="3000" b="1" i="0" kern="0" spc="-60" dirty="0">
                <a:solidFill>
                  <a:srgbClr val="2E6BD1"/>
                </a:solidFill>
                <a:latin typeface="Inter" pitchFamily="34" charset="0"/>
                <a:ea typeface="Inter" pitchFamily="34" charset="-122"/>
                <a:cs typeface="Inter" pitchFamily="34" charset="-120"/>
              </a:rPr>
              <a:t>Bitmap</a:t>
            </a:r>
            <a:endParaRPr lang="en-US" sz="3000" dirty="0"/>
          </a:p>
        </p:txBody>
      </p:sp>
      <p:sp>
        <p:nvSpPr>
          <p:cNvPr id="4" name="Text 2"/>
          <p:cNvSpPr/>
          <p:nvPr/>
        </p:nvSpPr>
        <p:spPr>
          <a:xfrm>
            <a:off x="812800" y="1800861"/>
            <a:ext cx="6341669"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UNA MAPPA DI BIT PER OGNI VALORE DISTINTO</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125981"/>
          <a:ext cx="6146800" cy="990600"/>
        </p:xfrm>
        <a:graphic>
          <a:graphicData uri="http://schemas.openxmlformats.org/drawingml/2006/table">
            <a:tbl>
              <a:tblPr/>
              <a:tblGrid>
                <a:gridCol w="1721104">
                  <a:extLst>
                    <a:ext uri="{9D8B030D-6E8A-4147-A177-3AD203B41FA5}">
                      <a16:colId xmlns:a16="http://schemas.microsoft.com/office/drawing/2014/main" val="20000"/>
                    </a:ext>
                  </a:extLst>
                </a:gridCol>
                <a:gridCol w="737616">
                  <a:extLst>
                    <a:ext uri="{9D8B030D-6E8A-4147-A177-3AD203B41FA5}">
                      <a16:colId xmlns:a16="http://schemas.microsoft.com/office/drawing/2014/main" val="20001"/>
                    </a:ext>
                  </a:extLst>
                </a:gridCol>
                <a:gridCol w="737616">
                  <a:extLst>
                    <a:ext uri="{9D8B030D-6E8A-4147-A177-3AD203B41FA5}">
                      <a16:colId xmlns:a16="http://schemas.microsoft.com/office/drawing/2014/main" val="20002"/>
                    </a:ext>
                  </a:extLst>
                </a:gridCol>
                <a:gridCol w="737616">
                  <a:extLst>
                    <a:ext uri="{9D8B030D-6E8A-4147-A177-3AD203B41FA5}">
                      <a16:colId xmlns:a16="http://schemas.microsoft.com/office/drawing/2014/main" val="20003"/>
                    </a:ext>
                  </a:extLst>
                </a:gridCol>
                <a:gridCol w="737616">
                  <a:extLst>
                    <a:ext uri="{9D8B030D-6E8A-4147-A177-3AD203B41FA5}">
                      <a16:colId xmlns:a16="http://schemas.microsoft.com/office/drawing/2014/main" val="20004"/>
                    </a:ext>
                  </a:extLst>
                </a:gridCol>
                <a:gridCol w="737616">
                  <a:extLst>
                    <a:ext uri="{9D8B030D-6E8A-4147-A177-3AD203B41FA5}">
                      <a16:colId xmlns:a16="http://schemas.microsoft.com/office/drawing/2014/main" val="20005"/>
                    </a:ext>
                  </a:extLst>
                </a:gridCol>
                <a:gridCol w="737616">
                  <a:extLst>
                    <a:ext uri="{9D8B030D-6E8A-4147-A177-3AD203B41FA5}">
                      <a16:colId xmlns:a16="http://schemas.microsoft.com/office/drawing/2014/main" val="20006"/>
                    </a:ext>
                  </a:extLst>
                </a:gridCol>
              </a:tblGrid>
              <a:tr h="330200">
                <a:tc>
                  <a:txBody>
                    <a:bodyPr/>
                    <a:lstStyle/>
                    <a:p>
                      <a:pPr marL="0" indent="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stato</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r1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r2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r3</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r4</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r5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COMPLETATO</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IN_ATTESA</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3"/>
          <p:cNvSpPr/>
          <p:nvPr/>
        </p:nvSpPr>
        <p:spPr>
          <a:xfrm>
            <a:off x="812800" y="3218182"/>
            <a:ext cx="6341669"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Più bitmap si combinano con AND / OR prima di toccare la tabella.</a:t>
            </a:r>
            <a:endParaRPr lang="en-US" sz="1200" dirty="0"/>
          </a:p>
        </p:txBody>
      </p:sp>
      <p:sp>
        <p:nvSpPr>
          <p:cNvPr id="7" name="Shape 4"/>
          <p:cNvSpPr/>
          <p:nvPr/>
        </p:nvSpPr>
        <p:spPr>
          <a:xfrm>
            <a:off x="7274560" y="1800861"/>
            <a:ext cx="4104640" cy="1046480"/>
          </a:xfrm>
          <a:prstGeom prst="rect">
            <a:avLst/>
          </a:prstGeom>
          <a:solidFill>
            <a:srgbClr val="FFFFFF"/>
          </a:solidFill>
          <a:ln/>
        </p:spPr>
        <p:txBody>
          <a:bodyPr/>
          <a:lstStyle/>
          <a:p>
            <a:endParaRPr lang="it-IT"/>
          </a:p>
        </p:txBody>
      </p:sp>
      <p:sp>
        <p:nvSpPr>
          <p:cNvPr id="8" name="Shape 5"/>
          <p:cNvSpPr/>
          <p:nvPr/>
        </p:nvSpPr>
        <p:spPr>
          <a:xfrm>
            <a:off x="7287260" y="1800861"/>
            <a:ext cx="0" cy="1046480"/>
          </a:xfrm>
          <a:prstGeom prst="line">
            <a:avLst/>
          </a:prstGeom>
          <a:noFill/>
          <a:ln w="25400">
            <a:solidFill>
              <a:srgbClr val="2E6BD1"/>
            </a:solidFill>
            <a:prstDash val="solid"/>
          </a:ln>
        </p:spPr>
        <p:txBody>
          <a:bodyPr/>
          <a:lstStyle/>
          <a:p>
            <a:endParaRPr lang="it-IT"/>
          </a:p>
        </p:txBody>
      </p:sp>
      <p:sp>
        <p:nvSpPr>
          <p:cNvPr id="9" name="Text 6"/>
          <p:cNvSpPr/>
          <p:nvPr/>
        </p:nvSpPr>
        <p:spPr>
          <a:xfrm>
            <a:off x="7477760" y="1978661"/>
            <a:ext cx="383534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Quando sì</a:t>
            </a:r>
            <a:endParaRPr lang="en-US" sz="1400" dirty="0"/>
          </a:p>
        </p:txBody>
      </p:sp>
      <p:sp>
        <p:nvSpPr>
          <p:cNvPr id="10" name="Text 7"/>
          <p:cNvSpPr/>
          <p:nvPr/>
        </p:nvSpPr>
        <p:spPr>
          <a:xfrm>
            <a:off x="7477760" y="2242821"/>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Bassa cardinalità, data warehouse, query ad hoc su più filtri</a:t>
            </a:r>
            <a:endParaRPr lang="en-US" sz="1200" dirty="0"/>
          </a:p>
        </p:txBody>
      </p:sp>
      <p:sp>
        <p:nvSpPr>
          <p:cNvPr id="11" name="Shape 8"/>
          <p:cNvSpPr/>
          <p:nvPr/>
        </p:nvSpPr>
        <p:spPr>
          <a:xfrm>
            <a:off x="7274560" y="2948939"/>
            <a:ext cx="4104640" cy="1046480"/>
          </a:xfrm>
          <a:prstGeom prst="rect">
            <a:avLst/>
          </a:prstGeom>
          <a:solidFill>
            <a:srgbClr val="FFFFFF"/>
          </a:solidFill>
          <a:ln/>
        </p:spPr>
        <p:txBody>
          <a:bodyPr/>
          <a:lstStyle/>
          <a:p>
            <a:endParaRPr lang="it-IT"/>
          </a:p>
        </p:txBody>
      </p:sp>
      <p:sp>
        <p:nvSpPr>
          <p:cNvPr id="12" name="Shape 9"/>
          <p:cNvSpPr/>
          <p:nvPr/>
        </p:nvSpPr>
        <p:spPr>
          <a:xfrm>
            <a:off x="7287260" y="2948939"/>
            <a:ext cx="0" cy="1046480"/>
          </a:xfrm>
          <a:prstGeom prst="line">
            <a:avLst/>
          </a:prstGeom>
          <a:noFill/>
          <a:ln w="25400">
            <a:solidFill>
              <a:srgbClr val="0F1B2D"/>
            </a:solidFill>
            <a:prstDash val="solid"/>
          </a:ln>
        </p:spPr>
        <p:txBody>
          <a:bodyPr/>
          <a:lstStyle/>
          <a:p>
            <a:endParaRPr lang="it-IT"/>
          </a:p>
        </p:txBody>
      </p:sp>
      <p:sp>
        <p:nvSpPr>
          <p:cNvPr id="13" name="Text 10"/>
          <p:cNvSpPr/>
          <p:nvPr/>
        </p:nvSpPr>
        <p:spPr>
          <a:xfrm>
            <a:off x="7477760" y="3126739"/>
            <a:ext cx="383534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Quando no</a:t>
            </a:r>
            <a:endParaRPr lang="en-US" sz="1400" dirty="0"/>
          </a:p>
        </p:txBody>
      </p:sp>
      <p:sp>
        <p:nvSpPr>
          <p:cNvPr id="14" name="Text 11"/>
          <p:cNvSpPr/>
          <p:nvPr/>
        </p:nvSpPr>
        <p:spPr>
          <a:xfrm>
            <a:off x="7477760" y="3390900"/>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OLTP con DML concorrente: un aggiornamento blocca molte righe insieme</a:t>
            </a:r>
            <a:endParaRPr lang="en-US" sz="1200" dirty="0"/>
          </a:p>
        </p:txBody>
      </p:sp>
      <p:sp>
        <p:nvSpPr>
          <p:cNvPr id="15" name="Text 12"/>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INDICI</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B-Tree </a:t>
            </a:r>
            <a:r>
              <a:rPr lang="en-US" sz="3000" b="1" i="0" kern="0" spc="-60" dirty="0">
                <a:solidFill>
                  <a:srgbClr val="2E6BD1"/>
                </a:solidFill>
                <a:latin typeface="Inter" pitchFamily="34" charset="0"/>
                <a:ea typeface="Inter" pitchFamily="34" charset="-122"/>
                <a:cs typeface="Inter" pitchFamily="34" charset="-120"/>
              </a:rPr>
              <a:t>o Bitmap?</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1021"/>
          <a:ext cx="10556240" cy="2498090"/>
        </p:xfrm>
        <a:graphic>
          <a:graphicData uri="http://schemas.openxmlformats.org/drawingml/2006/table">
            <a:tbl>
              <a:tblPr/>
              <a:tblGrid>
                <a:gridCol w="3166872">
                  <a:extLst>
                    <a:ext uri="{9D8B030D-6E8A-4147-A177-3AD203B41FA5}">
                      <a16:colId xmlns:a16="http://schemas.microsoft.com/office/drawing/2014/main" val="20000"/>
                    </a:ext>
                  </a:extLst>
                </a:gridCol>
                <a:gridCol w="3694684">
                  <a:extLst>
                    <a:ext uri="{9D8B030D-6E8A-4147-A177-3AD203B41FA5}">
                      <a16:colId xmlns:a16="http://schemas.microsoft.com/office/drawing/2014/main" val="20001"/>
                    </a:ext>
                  </a:extLst>
                </a:gridCol>
                <a:gridCol w="3694684">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Criterio</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B-Tree</a:t>
                      </a:r>
                      <a:endParaRPr lang="en-US" sz="1300" dirty="0">
                        <a:latin typeface="Inter" charset="0"/>
                        <a:ea typeface="Inter" charset="0"/>
                        <a:cs typeface="Inter" charset="0"/>
                      </a:endParaRPr>
                    </a:p>
                  </a:txBody>
                  <a:tcPr marL="57785" marR="57785" marT="57785" marB="57785">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Bitmap</a:t>
                      </a:r>
                      <a:endParaRPr lang="en-US" sz="1300" dirty="0">
                        <a:latin typeface="Inter" charset="0"/>
                        <a:ea typeface="Inter" charset="0"/>
                        <a:cs typeface="Inter" charset="0"/>
                      </a:endParaRPr>
                    </a:p>
                  </a:txBody>
                  <a:tcPr marL="57785" marR="57785" marT="57785" marB="57785">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Cardinalità ideale</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Alta (ID, codici, date)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Bassa (stato, flag, regione)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Carico tipico</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OLTP</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Data warehouse, report</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DML concorrente</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Lock a livello di riga</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Contention su molte righe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Dimensione</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Cresce con le righe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Molto compatto</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Valori NULL</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Non indicizzati</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Indicizzati</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Filtri combinati</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Indice composto dedicato</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AND / OR tra bitmap</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INDICI</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Le varianti </a:t>
            </a:r>
            <a:r>
              <a:rPr lang="en-US" sz="3000" b="1" i="0" kern="0" spc="-60" dirty="0">
                <a:solidFill>
                  <a:srgbClr val="2E6BD1"/>
                </a:solidFill>
                <a:latin typeface="Inter" pitchFamily="34" charset="0"/>
                <a:ea typeface="Inter" pitchFamily="34" charset="-122"/>
                <a:cs typeface="Inter" pitchFamily="34" charset="-120"/>
              </a:rPr>
              <a:t>del B-Tree</a:t>
            </a:r>
            <a:endParaRPr lang="en-US" sz="3000" dirty="0"/>
          </a:p>
        </p:txBody>
      </p:sp>
      <p:sp>
        <p:nvSpPr>
          <p:cNvPr id="4" name="Shape 2"/>
          <p:cNvSpPr/>
          <p:nvPr/>
        </p:nvSpPr>
        <p:spPr>
          <a:xfrm>
            <a:off x="812800" y="1800861"/>
            <a:ext cx="3420507" cy="1084580"/>
          </a:xfrm>
          <a:prstGeom prst="rect">
            <a:avLst/>
          </a:prstGeom>
          <a:solidFill>
            <a:srgbClr val="FFFFFF"/>
          </a:solidFill>
          <a:ln/>
        </p:spPr>
        <p:txBody>
          <a:bodyPr/>
          <a:lstStyle/>
          <a:p>
            <a:endParaRPr lang="it-IT"/>
          </a:p>
        </p:txBody>
      </p:sp>
      <p:sp>
        <p:nvSpPr>
          <p:cNvPr id="5" name="Shape 3"/>
          <p:cNvSpPr/>
          <p:nvPr/>
        </p:nvSpPr>
        <p:spPr>
          <a:xfrm>
            <a:off x="812800" y="1813561"/>
            <a:ext cx="3420507" cy="0"/>
          </a:xfrm>
          <a:prstGeom prst="line">
            <a:avLst/>
          </a:prstGeom>
          <a:noFill/>
          <a:ln w="25400">
            <a:solidFill>
              <a:srgbClr val="2E6BD1"/>
            </a:solidFill>
            <a:prstDash val="solid"/>
          </a:ln>
        </p:spPr>
        <p:txBody>
          <a:bodyPr/>
          <a:lstStyle/>
          <a:p>
            <a:endParaRPr lang="it-IT"/>
          </a:p>
        </p:txBody>
      </p:sp>
      <p:sp>
        <p:nvSpPr>
          <p:cNvPr id="6" name="Text 4"/>
          <p:cNvSpPr/>
          <p:nvPr/>
        </p:nvSpPr>
        <p:spPr>
          <a:xfrm>
            <a:off x="990600" y="2004061"/>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Composto</a:t>
            </a:r>
            <a:endParaRPr lang="en-US" sz="1400" dirty="0"/>
          </a:p>
        </p:txBody>
      </p:sp>
      <p:sp>
        <p:nvSpPr>
          <p:cNvPr id="7" name="Text 5"/>
          <p:cNvSpPr/>
          <p:nvPr/>
        </p:nvSpPr>
        <p:spPr>
          <a:xfrm>
            <a:off x="990600" y="2280921"/>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Più colonne. L’ordine conta: la colonna iniziale guida l’accesso.</a:t>
            </a:r>
            <a:endParaRPr lang="en-US" sz="1200" dirty="0"/>
          </a:p>
        </p:txBody>
      </p:sp>
      <p:sp>
        <p:nvSpPr>
          <p:cNvPr id="8" name="Shape 6"/>
          <p:cNvSpPr/>
          <p:nvPr/>
        </p:nvSpPr>
        <p:spPr>
          <a:xfrm>
            <a:off x="4385707" y="1800861"/>
            <a:ext cx="3420507" cy="1084580"/>
          </a:xfrm>
          <a:prstGeom prst="rect">
            <a:avLst/>
          </a:prstGeom>
          <a:solidFill>
            <a:srgbClr val="FFFFFF"/>
          </a:solidFill>
          <a:ln/>
        </p:spPr>
        <p:txBody>
          <a:bodyPr/>
          <a:lstStyle/>
          <a:p>
            <a:endParaRPr lang="it-IT"/>
          </a:p>
        </p:txBody>
      </p:sp>
      <p:sp>
        <p:nvSpPr>
          <p:cNvPr id="9" name="Shape 7"/>
          <p:cNvSpPr/>
          <p:nvPr/>
        </p:nvSpPr>
        <p:spPr>
          <a:xfrm>
            <a:off x="4385707" y="1813561"/>
            <a:ext cx="3420507" cy="0"/>
          </a:xfrm>
          <a:prstGeom prst="line">
            <a:avLst/>
          </a:prstGeom>
          <a:noFill/>
          <a:ln w="25400">
            <a:solidFill>
              <a:srgbClr val="2E6BD1"/>
            </a:solidFill>
            <a:prstDash val="solid"/>
          </a:ln>
        </p:spPr>
        <p:txBody>
          <a:bodyPr/>
          <a:lstStyle/>
          <a:p>
            <a:endParaRPr lang="it-IT"/>
          </a:p>
        </p:txBody>
      </p:sp>
      <p:sp>
        <p:nvSpPr>
          <p:cNvPr id="10" name="Text 8"/>
          <p:cNvSpPr/>
          <p:nvPr/>
        </p:nvSpPr>
        <p:spPr>
          <a:xfrm>
            <a:off x="4563507" y="2004061"/>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Unique</a:t>
            </a:r>
            <a:endParaRPr lang="en-US" sz="1400" dirty="0"/>
          </a:p>
        </p:txBody>
      </p:sp>
      <p:sp>
        <p:nvSpPr>
          <p:cNvPr id="11" name="Text 9"/>
          <p:cNvSpPr/>
          <p:nvPr/>
        </p:nvSpPr>
        <p:spPr>
          <a:xfrm>
            <a:off x="4563507" y="2280921"/>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Garantisce l’unicità. Creato con PRIMARY KEY e UNIQUE.</a:t>
            </a:r>
            <a:endParaRPr lang="en-US" sz="1200" dirty="0"/>
          </a:p>
        </p:txBody>
      </p:sp>
      <p:sp>
        <p:nvSpPr>
          <p:cNvPr id="12" name="Shape 10"/>
          <p:cNvSpPr/>
          <p:nvPr/>
        </p:nvSpPr>
        <p:spPr>
          <a:xfrm>
            <a:off x="7958614" y="1800861"/>
            <a:ext cx="3420507" cy="1084580"/>
          </a:xfrm>
          <a:prstGeom prst="rect">
            <a:avLst/>
          </a:prstGeom>
          <a:solidFill>
            <a:srgbClr val="FFFFFF"/>
          </a:solidFill>
          <a:ln/>
        </p:spPr>
        <p:txBody>
          <a:bodyPr/>
          <a:lstStyle/>
          <a:p>
            <a:endParaRPr lang="it-IT"/>
          </a:p>
        </p:txBody>
      </p:sp>
      <p:sp>
        <p:nvSpPr>
          <p:cNvPr id="13" name="Shape 11"/>
          <p:cNvSpPr/>
          <p:nvPr/>
        </p:nvSpPr>
        <p:spPr>
          <a:xfrm>
            <a:off x="7958614" y="1813561"/>
            <a:ext cx="3420507" cy="0"/>
          </a:xfrm>
          <a:prstGeom prst="line">
            <a:avLst/>
          </a:prstGeom>
          <a:noFill/>
          <a:ln w="25400">
            <a:solidFill>
              <a:srgbClr val="2E6BD1"/>
            </a:solidFill>
            <a:prstDash val="solid"/>
          </a:ln>
        </p:spPr>
        <p:txBody>
          <a:bodyPr/>
          <a:lstStyle/>
          <a:p>
            <a:endParaRPr lang="it-IT"/>
          </a:p>
        </p:txBody>
      </p:sp>
      <p:sp>
        <p:nvSpPr>
          <p:cNvPr id="14" name="Text 12"/>
          <p:cNvSpPr/>
          <p:nvPr/>
        </p:nvSpPr>
        <p:spPr>
          <a:xfrm>
            <a:off x="8136414" y="2004061"/>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Function-based</a:t>
            </a:r>
            <a:endParaRPr lang="en-US" sz="1400" dirty="0"/>
          </a:p>
        </p:txBody>
      </p:sp>
      <p:sp>
        <p:nvSpPr>
          <p:cNvPr id="15" name="Text 13"/>
          <p:cNvSpPr/>
          <p:nvPr/>
        </p:nvSpPr>
        <p:spPr>
          <a:xfrm>
            <a:off x="8136414" y="2280921"/>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Indicizza il risultato di un’espressione, es. TRUNC(data).</a:t>
            </a:r>
            <a:endParaRPr lang="en-US" sz="1200" dirty="0"/>
          </a:p>
        </p:txBody>
      </p:sp>
      <p:sp>
        <p:nvSpPr>
          <p:cNvPr id="16" name="Shape 14"/>
          <p:cNvSpPr/>
          <p:nvPr/>
        </p:nvSpPr>
        <p:spPr>
          <a:xfrm>
            <a:off x="812800" y="3037839"/>
            <a:ext cx="3420507" cy="1084580"/>
          </a:xfrm>
          <a:prstGeom prst="rect">
            <a:avLst/>
          </a:prstGeom>
          <a:solidFill>
            <a:srgbClr val="FFFFFF"/>
          </a:solidFill>
          <a:ln/>
        </p:spPr>
        <p:txBody>
          <a:bodyPr/>
          <a:lstStyle/>
          <a:p>
            <a:endParaRPr lang="it-IT"/>
          </a:p>
        </p:txBody>
      </p:sp>
      <p:sp>
        <p:nvSpPr>
          <p:cNvPr id="17" name="Shape 15"/>
          <p:cNvSpPr/>
          <p:nvPr/>
        </p:nvSpPr>
        <p:spPr>
          <a:xfrm>
            <a:off x="812800" y="3050539"/>
            <a:ext cx="3420507" cy="0"/>
          </a:xfrm>
          <a:prstGeom prst="line">
            <a:avLst/>
          </a:prstGeom>
          <a:noFill/>
          <a:ln w="25400">
            <a:solidFill>
              <a:srgbClr val="94A3B8"/>
            </a:solidFill>
            <a:prstDash val="solid"/>
          </a:ln>
        </p:spPr>
        <p:txBody>
          <a:bodyPr/>
          <a:lstStyle/>
          <a:p>
            <a:endParaRPr lang="it-IT"/>
          </a:p>
        </p:txBody>
      </p:sp>
      <p:sp>
        <p:nvSpPr>
          <p:cNvPr id="18" name="Text 16"/>
          <p:cNvSpPr/>
          <p:nvPr/>
        </p:nvSpPr>
        <p:spPr>
          <a:xfrm>
            <a:off x="990600" y="3241039"/>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Reverse key</a:t>
            </a:r>
            <a:endParaRPr lang="en-US" sz="1400" dirty="0"/>
          </a:p>
        </p:txBody>
      </p:sp>
      <p:sp>
        <p:nvSpPr>
          <p:cNvPr id="19" name="Text 17"/>
          <p:cNvSpPr/>
          <p:nvPr/>
        </p:nvSpPr>
        <p:spPr>
          <a:xfrm>
            <a:off x="990600" y="3517900"/>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Distribuisce chiavi sequenziali, ma rinuncia al range scan.</a:t>
            </a:r>
            <a:endParaRPr lang="en-US" sz="1200" dirty="0"/>
          </a:p>
        </p:txBody>
      </p:sp>
      <p:sp>
        <p:nvSpPr>
          <p:cNvPr id="20" name="Shape 18"/>
          <p:cNvSpPr/>
          <p:nvPr/>
        </p:nvSpPr>
        <p:spPr>
          <a:xfrm>
            <a:off x="4385707" y="3037839"/>
            <a:ext cx="3420507" cy="1084580"/>
          </a:xfrm>
          <a:prstGeom prst="rect">
            <a:avLst/>
          </a:prstGeom>
          <a:solidFill>
            <a:srgbClr val="FFFFFF"/>
          </a:solidFill>
          <a:ln/>
        </p:spPr>
        <p:txBody>
          <a:bodyPr/>
          <a:lstStyle/>
          <a:p>
            <a:endParaRPr lang="it-IT"/>
          </a:p>
        </p:txBody>
      </p:sp>
      <p:sp>
        <p:nvSpPr>
          <p:cNvPr id="21" name="Shape 19"/>
          <p:cNvSpPr/>
          <p:nvPr/>
        </p:nvSpPr>
        <p:spPr>
          <a:xfrm>
            <a:off x="4385707" y="3050539"/>
            <a:ext cx="3420507" cy="0"/>
          </a:xfrm>
          <a:prstGeom prst="line">
            <a:avLst/>
          </a:prstGeom>
          <a:noFill/>
          <a:ln w="25400">
            <a:solidFill>
              <a:srgbClr val="94A3B8"/>
            </a:solidFill>
            <a:prstDash val="solid"/>
          </a:ln>
        </p:spPr>
        <p:txBody>
          <a:bodyPr/>
          <a:lstStyle/>
          <a:p>
            <a:endParaRPr lang="it-IT"/>
          </a:p>
        </p:txBody>
      </p:sp>
      <p:sp>
        <p:nvSpPr>
          <p:cNvPr id="22" name="Text 20"/>
          <p:cNvSpPr/>
          <p:nvPr/>
        </p:nvSpPr>
        <p:spPr>
          <a:xfrm>
            <a:off x="4563507" y="3241039"/>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Index-organized</a:t>
            </a:r>
            <a:endParaRPr lang="en-US" sz="1400" dirty="0"/>
          </a:p>
        </p:txBody>
      </p:sp>
      <p:sp>
        <p:nvSpPr>
          <p:cNvPr id="23" name="Text 21"/>
          <p:cNvSpPr/>
          <p:nvPr/>
        </p:nvSpPr>
        <p:spPr>
          <a:xfrm>
            <a:off x="4563507" y="3517900"/>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La tabella stessa è un B-Tree ordinato per chiave.</a:t>
            </a:r>
            <a:endParaRPr lang="en-US" sz="1200" dirty="0"/>
          </a:p>
        </p:txBody>
      </p:sp>
      <p:sp>
        <p:nvSpPr>
          <p:cNvPr id="24" name="Shape 22"/>
          <p:cNvSpPr/>
          <p:nvPr/>
        </p:nvSpPr>
        <p:spPr>
          <a:xfrm>
            <a:off x="7958614" y="3037839"/>
            <a:ext cx="3420507" cy="1084580"/>
          </a:xfrm>
          <a:prstGeom prst="rect">
            <a:avLst/>
          </a:prstGeom>
          <a:solidFill>
            <a:srgbClr val="FFFFFF"/>
          </a:solidFill>
          <a:ln/>
        </p:spPr>
        <p:txBody>
          <a:bodyPr/>
          <a:lstStyle/>
          <a:p>
            <a:endParaRPr lang="it-IT"/>
          </a:p>
        </p:txBody>
      </p:sp>
      <p:sp>
        <p:nvSpPr>
          <p:cNvPr id="25" name="Shape 23"/>
          <p:cNvSpPr/>
          <p:nvPr/>
        </p:nvSpPr>
        <p:spPr>
          <a:xfrm>
            <a:off x="7958614" y="3050539"/>
            <a:ext cx="3420507" cy="0"/>
          </a:xfrm>
          <a:prstGeom prst="line">
            <a:avLst/>
          </a:prstGeom>
          <a:noFill/>
          <a:ln w="25400">
            <a:solidFill>
              <a:srgbClr val="94A3B8"/>
            </a:solidFill>
            <a:prstDash val="solid"/>
          </a:ln>
        </p:spPr>
        <p:txBody>
          <a:bodyPr/>
          <a:lstStyle/>
          <a:p>
            <a:endParaRPr lang="it-IT"/>
          </a:p>
        </p:txBody>
      </p:sp>
      <p:sp>
        <p:nvSpPr>
          <p:cNvPr id="26" name="Text 24"/>
          <p:cNvSpPr/>
          <p:nvPr/>
        </p:nvSpPr>
        <p:spPr>
          <a:xfrm>
            <a:off x="8136414" y="3241039"/>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Invisible</a:t>
            </a:r>
            <a:endParaRPr lang="en-US" sz="1400" dirty="0"/>
          </a:p>
        </p:txBody>
      </p:sp>
      <p:sp>
        <p:nvSpPr>
          <p:cNvPr id="27" name="Text 25"/>
          <p:cNvSpPr/>
          <p:nvPr/>
        </p:nvSpPr>
        <p:spPr>
          <a:xfrm>
            <a:off x="8136414" y="3517900"/>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Mantenuto ma ignorato dal CBO: per testare senza rischi.</a:t>
            </a:r>
            <a:endParaRPr lang="en-US" sz="1200" dirty="0"/>
          </a:p>
        </p:txBody>
      </p:sp>
      <p:sp>
        <p:nvSpPr>
          <p:cNvPr id="28" name="Text 26"/>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01 · INDICI</a:t>
            </a:r>
            <a:endParaRPr lang="en-US" sz="1200" dirty="0"/>
          </a:p>
        </p:txBody>
      </p:sp>
      <p:sp>
        <p:nvSpPr>
          <p:cNvPr id="3" name="Text 1"/>
          <p:cNvSpPr>
            <a:spLocks noGrp="1"/>
          </p:cNvSpPr>
          <p:nvPr>
            <p:ph type="title"/>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Quando il CBO </a:t>
            </a:r>
            <a:r>
              <a:rPr lang="en-US" sz="3000" b="1" i="0" kern="0" spc="-60" dirty="0" err="1">
                <a:solidFill>
                  <a:srgbClr val="2E6BD1"/>
                </a:solidFill>
                <a:latin typeface="Inter" pitchFamily="34" charset="0"/>
                <a:ea typeface="Inter" pitchFamily="34" charset="-122"/>
                <a:cs typeface="Inter" pitchFamily="34" charset="-120"/>
              </a:rPr>
              <a:t>sceglie</a:t>
            </a:r>
            <a:r>
              <a:rPr lang="en-US" sz="3000" b="1" i="0" kern="0" spc="-60" dirty="0">
                <a:solidFill>
                  <a:srgbClr val="2E6BD1"/>
                </a:solidFill>
                <a:latin typeface="Inter" pitchFamily="34" charset="0"/>
                <a:ea typeface="Inter" pitchFamily="34" charset="-122"/>
                <a:cs typeface="Inter" pitchFamily="34" charset="-120"/>
              </a:rPr>
              <a:t> </a:t>
            </a:r>
            <a:r>
              <a:rPr lang="en-US" sz="3000" b="1" i="0" kern="0" spc="-60" dirty="0" err="1">
                <a:solidFill>
                  <a:srgbClr val="2E6BD1"/>
                </a:solidFill>
                <a:latin typeface="Inter" pitchFamily="34" charset="0"/>
                <a:ea typeface="Inter" pitchFamily="34" charset="-122"/>
                <a:cs typeface="Inter" pitchFamily="34" charset="-120"/>
              </a:rPr>
              <a:t>l’indice</a:t>
            </a:r>
            <a:endParaRPr lang="en-US" sz="3000" dirty="0"/>
          </a:p>
        </p:txBody>
      </p:sp>
      <p:sp>
        <p:nvSpPr>
          <p:cNvPr id="4" name="Shape 2"/>
          <p:cNvSpPr/>
          <p:nvPr/>
        </p:nvSpPr>
        <p:spPr>
          <a:xfrm>
            <a:off x="812800" y="1800861"/>
            <a:ext cx="5156200" cy="1925320"/>
          </a:xfrm>
          <a:prstGeom prst="rect">
            <a:avLst/>
          </a:prstGeom>
          <a:solidFill>
            <a:srgbClr val="0F1B2D"/>
          </a:solidFill>
          <a:ln/>
        </p:spPr>
        <p:txBody>
          <a:bodyPr/>
          <a:lstStyle/>
          <a:p>
            <a:endParaRPr lang="it-IT"/>
          </a:p>
        </p:txBody>
      </p:sp>
      <p:sp>
        <p:nvSpPr>
          <p:cNvPr id="5" name="Text 3"/>
          <p:cNvSpPr/>
          <p:nvPr/>
        </p:nvSpPr>
        <p:spPr>
          <a:xfrm>
            <a:off x="1066800" y="2054861"/>
            <a:ext cx="4787646"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9BFF"/>
                </a:solidFill>
                <a:latin typeface="Inter" pitchFamily="34" charset="0"/>
                <a:ea typeface="Inter" pitchFamily="34" charset="-122"/>
                <a:cs typeface="Inter" pitchFamily="34" charset="-120"/>
              </a:rPr>
              <a:t>SELETTIVITÀ</a:t>
            </a:r>
            <a:endParaRPr lang="en-US" sz="1200" dirty="0"/>
          </a:p>
        </p:txBody>
      </p:sp>
      <p:sp>
        <p:nvSpPr>
          <p:cNvPr id="6" name="Text 4"/>
          <p:cNvSpPr/>
          <p:nvPr/>
        </p:nvSpPr>
        <p:spPr>
          <a:xfrm>
            <a:off x="1066800" y="2369821"/>
            <a:ext cx="478764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8FB"/>
                </a:solidFill>
                <a:latin typeface="Inter" pitchFamily="34" charset="0"/>
                <a:ea typeface="Inter" pitchFamily="34" charset="-122"/>
                <a:cs typeface="Inter" pitchFamily="34" charset="-120"/>
              </a:rPr>
              <a:t>Poche righe lette rispetto al totale → indice.</a:t>
            </a:r>
            <a:endParaRPr lang="en-US" sz="1500" dirty="0"/>
          </a:p>
        </p:txBody>
      </p:sp>
      <p:sp>
        <p:nvSpPr>
          <p:cNvPr id="7" name="Text 5"/>
          <p:cNvSpPr/>
          <p:nvPr/>
        </p:nvSpPr>
        <p:spPr>
          <a:xfrm>
            <a:off x="1066800" y="2738121"/>
            <a:ext cx="4787646"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Molte righe → il Full Scan a letture multiblocco costa meno.</a:t>
            </a:r>
            <a:endParaRPr lang="en-US" sz="1200" dirty="0"/>
          </a:p>
        </p:txBody>
      </p:sp>
      <p:sp>
        <p:nvSpPr>
          <p:cNvPr id="8" name="Shape 6"/>
          <p:cNvSpPr/>
          <p:nvPr/>
        </p:nvSpPr>
        <p:spPr>
          <a:xfrm>
            <a:off x="6223000" y="1800861"/>
            <a:ext cx="5156200" cy="1925320"/>
          </a:xfrm>
          <a:prstGeom prst="rect">
            <a:avLst/>
          </a:prstGeom>
          <a:solidFill>
            <a:srgbClr val="FFFFFF"/>
          </a:solidFill>
          <a:ln/>
        </p:spPr>
        <p:txBody>
          <a:bodyPr/>
          <a:lstStyle/>
          <a:p>
            <a:endParaRPr lang="it-IT"/>
          </a:p>
        </p:txBody>
      </p:sp>
      <p:sp>
        <p:nvSpPr>
          <p:cNvPr id="9" name="Shape 7"/>
          <p:cNvSpPr/>
          <p:nvPr/>
        </p:nvSpPr>
        <p:spPr>
          <a:xfrm>
            <a:off x="6223000" y="1813561"/>
            <a:ext cx="5156200" cy="0"/>
          </a:xfrm>
          <a:prstGeom prst="line">
            <a:avLst/>
          </a:prstGeom>
          <a:noFill/>
          <a:ln w="25400">
            <a:solidFill>
              <a:srgbClr val="2E6BD1"/>
            </a:solidFill>
            <a:prstDash val="solid"/>
          </a:ln>
        </p:spPr>
        <p:txBody>
          <a:bodyPr/>
          <a:lstStyle/>
          <a:p>
            <a:endParaRPr lang="it-IT"/>
          </a:p>
        </p:txBody>
      </p:sp>
      <p:sp>
        <p:nvSpPr>
          <p:cNvPr id="10" name="Text 8"/>
          <p:cNvSpPr/>
          <p:nvPr/>
        </p:nvSpPr>
        <p:spPr>
          <a:xfrm>
            <a:off x="6477000" y="2080261"/>
            <a:ext cx="4787646"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CLUSTERING FACTOR</a:t>
            </a:r>
            <a:endParaRPr lang="en-US" sz="1200" dirty="0"/>
          </a:p>
        </p:txBody>
      </p:sp>
      <p:sp>
        <p:nvSpPr>
          <p:cNvPr id="11" name="Text 9"/>
          <p:cNvSpPr/>
          <p:nvPr/>
        </p:nvSpPr>
        <p:spPr>
          <a:xfrm>
            <a:off x="6477000" y="2395221"/>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D"/>
                </a:solidFill>
                <a:latin typeface="Inter" pitchFamily="34" charset="0"/>
                <a:ea typeface="Inter" pitchFamily="34" charset="-122"/>
                <a:cs typeface="Inter" pitchFamily="34" charset="-120"/>
              </a:rPr>
              <a:t>Quanto l’ordine dell’indice somiglia all’ordine fisico della tabella.</a:t>
            </a:r>
            <a:endParaRPr lang="en-US" sz="1500" dirty="0"/>
          </a:p>
        </p:txBody>
      </p:sp>
      <p:sp>
        <p:nvSpPr>
          <p:cNvPr id="12" name="Text 10"/>
          <p:cNvSpPr/>
          <p:nvPr/>
        </p:nvSpPr>
        <p:spPr>
          <a:xfrm>
            <a:off x="6477000" y="3030221"/>
            <a:ext cx="4787646"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Vicino ai blocchi: ottimo. Vicino alle righe: ogni ROWID è un </a:t>
            </a:r>
            <a:r>
              <a:rPr lang="en-US" sz="1200" dirty="0" err="1">
                <a:solidFill>
                  <a:srgbClr val="3D4B5E"/>
                </a:solidFill>
                <a:latin typeface="Inter" pitchFamily="34" charset="0"/>
                <a:ea typeface="Inter" pitchFamily="34" charset="-122"/>
                <a:cs typeface="Inter" pitchFamily="34" charset="-120"/>
              </a:rPr>
              <a:t>blocco</a:t>
            </a:r>
            <a:r>
              <a:rPr lang="en-US" sz="1200" dirty="0">
                <a:solidFill>
                  <a:srgbClr val="3D4B5E"/>
                </a:solidFill>
                <a:latin typeface="Inter" pitchFamily="34" charset="0"/>
                <a:ea typeface="Inter" pitchFamily="34" charset="-122"/>
                <a:cs typeface="Inter" pitchFamily="34" charset="-120"/>
              </a:rPr>
              <a:t> </a:t>
            </a:r>
            <a:r>
              <a:rPr lang="en-US" sz="1200" dirty="0" err="1">
                <a:solidFill>
                  <a:srgbClr val="3D4B5E"/>
                </a:solidFill>
                <a:latin typeface="Inter" pitchFamily="34" charset="0"/>
                <a:ea typeface="Inter" pitchFamily="34" charset="-122"/>
                <a:cs typeface="Inter" pitchFamily="34" charset="-120"/>
              </a:rPr>
              <a:t>diverso</a:t>
            </a:r>
            <a:r>
              <a:rPr lang="en-US" sz="1200" dirty="0">
                <a:solidFill>
                  <a:srgbClr val="3D4B5E"/>
                </a:solidFill>
                <a:latin typeface="Inter" pitchFamily="34" charset="0"/>
                <a:ea typeface="Inter" pitchFamily="34" charset="-122"/>
                <a:cs typeface="Inter" pitchFamily="34" charset="-120"/>
              </a:rPr>
              <a:t>.</a:t>
            </a:r>
            <a:endParaRPr lang="en-US" sz="1200" dirty="0"/>
          </a:p>
        </p:txBody>
      </p:sp>
      <p:sp>
        <p:nvSpPr>
          <p:cNvPr id="13" name="Text 11"/>
          <p:cNvSpPr/>
          <p:nvPr/>
        </p:nvSpPr>
        <p:spPr>
          <a:xfrm>
            <a:off x="812800" y="3980182"/>
            <a:ext cx="10566400" cy="695960"/>
          </a:xfrm>
          <a:prstGeom prst="rect">
            <a:avLst/>
          </a:prstGeom>
          <a:solidFill>
            <a:srgbClr val="0F1B2D"/>
          </a:solidFill>
          <a:ln/>
        </p:spPr>
        <p:txBody>
          <a:bodyPr wrap="square" lIns="203200" tIns="127000" rIns="0" bIns="1016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index_name, blevel, leaf_blocks, distinct_keys, clustering_factor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user_indexes WHERE table_name = 'ORDINI';</a:t>
            </a:r>
            <a:endParaRPr lang="en-US" sz="1200" dirty="0"/>
          </a:p>
        </p:txBody>
      </p:sp>
      <p:sp>
        <p:nvSpPr>
          <p:cNvPr id="14" name="Text 1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05081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02</a:t>
            </a:r>
            <a:endParaRPr lang="en-US" sz="1400" dirty="0"/>
          </a:p>
        </p:txBody>
      </p:sp>
      <p:sp>
        <p:nvSpPr>
          <p:cNvPr id="3" name="Text 1"/>
          <p:cNvSpPr/>
          <p:nvPr/>
        </p:nvSpPr>
        <p:spPr>
          <a:xfrm>
            <a:off x="812800" y="2502936"/>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MATTINA · TEORIA</a:t>
            </a:r>
            <a:endParaRPr lang="en-US" sz="1200" dirty="0"/>
          </a:p>
        </p:txBody>
      </p:sp>
      <p:sp>
        <p:nvSpPr>
          <p:cNvPr id="4" name="Text 2"/>
          <p:cNvSpPr>
            <a:spLocks noGrp="1"/>
          </p:cNvSpPr>
          <p:nvPr>
            <p:ph type="title"/>
          </p:nvPr>
        </p:nvSpPr>
        <p:spPr>
          <a:xfrm>
            <a:off x="812800" y="2919493"/>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5B9BFF"/>
                </a:solidFill>
                <a:latin typeface="Inter" pitchFamily="34" charset="0"/>
                <a:ea typeface="Inter" pitchFamily="34" charset="-122"/>
                <a:cs typeface="Inter" pitchFamily="34" charset="-120"/>
              </a:rPr>
              <a:t>Metodi di join</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e indici</a:t>
            </a:r>
            <a:endParaRPr lang="en-US" sz="5200" dirty="0"/>
          </a:p>
        </p:txBody>
      </p:sp>
      <p:sp>
        <p:nvSpPr>
          <p:cNvPr id="5" name="Text 3"/>
          <p:cNvSpPr/>
          <p:nvPr/>
        </p:nvSpPr>
        <p:spPr>
          <a:xfrm>
            <a:off x="812800" y="4522707"/>
            <a:ext cx="91440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Nested Loops e Hash Join: come un indice cambia la strategia dell’ottimizzatore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02 · JOIN</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Nested Loops </a:t>
            </a:r>
            <a:r>
              <a:rPr lang="en-US" sz="3000" b="1" i="0" kern="0" spc="-60" dirty="0">
                <a:solidFill>
                  <a:srgbClr val="2E6BD1"/>
                </a:solidFill>
                <a:latin typeface="Inter" pitchFamily="34" charset="0"/>
                <a:ea typeface="Inter" pitchFamily="34" charset="-122"/>
                <a:cs typeface="Inter" pitchFamily="34" charset="-120"/>
              </a:rPr>
              <a:t>guidato dall’indice</a:t>
            </a:r>
            <a:endParaRPr lang="en-US" sz="3000" dirty="0"/>
          </a:p>
        </p:txBody>
      </p:sp>
      <p:sp>
        <p:nvSpPr>
          <p:cNvPr id="4" name="Text 2"/>
          <p:cNvSpPr/>
          <p:nvPr/>
        </p:nvSpPr>
        <p:spPr>
          <a:xfrm>
            <a:off x="812800" y="1800864"/>
            <a:ext cx="10566400" cy="1902460"/>
          </a:xfrm>
          <a:prstGeom prst="rect">
            <a:avLst/>
          </a:prstGeom>
          <a:solidFill>
            <a:srgbClr val="0F1B2D"/>
          </a:solidFill>
          <a:ln/>
        </p:spPr>
        <p:txBody>
          <a:bodyPr wrap="square" lIns="203200" tIns="177800" rIns="0"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Id | Operation                    | Name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0 | SELECT STATEMENT             |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1 |  </a:t>
            </a:r>
            <a:r>
              <a:rPr lang="en-US" sz="1200" dirty="0">
                <a:solidFill>
                  <a:srgbClr val="8DB8FF"/>
                </a:solidFill>
                <a:latin typeface="JetBrains Mono" pitchFamily="49" charset="0"/>
                <a:ea typeface="JetBrains Mono" pitchFamily="49" charset="-122"/>
                <a:cs typeface="JetBrains Mono" pitchFamily="49" charset="-120"/>
              </a:rPr>
              <a:t>NESTED LOOPS</a:t>
            </a:r>
            <a:r>
              <a:rPr lang="en-US" sz="1200" dirty="0">
                <a:solidFill>
                  <a:srgbClr val="F6F8FB"/>
                </a:solidFill>
                <a:latin typeface="JetBrains Mono" pitchFamily="49" charset="0"/>
                <a:ea typeface="JetBrains Mono" pitchFamily="49" charset="-122"/>
                <a:cs typeface="JetBrains Mono" pitchFamily="49" charset="-120"/>
              </a:rPr>
              <a:t>               |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2 |   NESTED LOOPS              |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3 |    TABLE ACCESS FULL         | CLIENTI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4 |    </a:t>
            </a:r>
            <a:r>
              <a:rPr lang="en-US" sz="1200" dirty="0">
                <a:solidFill>
                  <a:srgbClr val="8DB8FF"/>
                </a:solidFill>
                <a:latin typeface="JetBrains Mono" pitchFamily="49" charset="0"/>
                <a:ea typeface="JetBrains Mono" pitchFamily="49" charset="-122"/>
                <a:cs typeface="JetBrains Mono" pitchFamily="49" charset="-120"/>
              </a:rPr>
              <a:t>INDEX RANGE SCAN</a:t>
            </a:r>
            <a:r>
              <a:rPr lang="en-US" sz="1200" dirty="0">
                <a:solidFill>
                  <a:srgbClr val="F6F8FB"/>
                </a:solidFill>
                <a:latin typeface="JetBrains Mono" pitchFamily="49" charset="0"/>
                <a:ea typeface="JetBrains Mono" pitchFamily="49" charset="-122"/>
                <a:cs typeface="JetBrains Mono" pitchFamily="49" charset="-120"/>
              </a:rPr>
              <a:t>          | IDX_ORDINI_CLIENTE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5 |   TABLE ACCESS BY INDEX ROWID | ORDINI             |</a:t>
            </a:r>
            <a:endParaRPr lang="en-US" sz="1200" dirty="0"/>
          </a:p>
        </p:txBody>
      </p:sp>
      <p:sp>
        <p:nvSpPr>
          <p:cNvPr id="5" name="Shape 3"/>
          <p:cNvSpPr/>
          <p:nvPr/>
        </p:nvSpPr>
        <p:spPr>
          <a:xfrm>
            <a:off x="812800" y="3957321"/>
            <a:ext cx="3420507" cy="1084580"/>
          </a:xfrm>
          <a:prstGeom prst="rect">
            <a:avLst/>
          </a:prstGeom>
          <a:solidFill>
            <a:srgbClr val="FFFFFF"/>
          </a:solidFill>
          <a:ln/>
        </p:spPr>
        <p:txBody>
          <a:bodyPr/>
          <a:lstStyle/>
          <a:p>
            <a:endParaRPr lang="it-IT"/>
          </a:p>
        </p:txBody>
      </p:sp>
      <p:sp>
        <p:nvSpPr>
          <p:cNvPr id="6" name="Shape 4"/>
          <p:cNvSpPr/>
          <p:nvPr/>
        </p:nvSpPr>
        <p:spPr>
          <a:xfrm>
            <a:off x="812800" y="3970021"/>
            <a:ext cx="3420507" cy="0"/>
          </a:xfrm>
          <a:prstGeom prst="line">
            <a:avLst/>
          </a:prstGeom>
          <a:noFill/>
          <a:ln w="25400">
            <a:solidFill>
              <a:srgbClr val="2E6BD1"/>
            </a:solidFill>
            <a:prstDash val="solid"/>
          </a:ln>
        </p:spPr>
        <p:txBody>
          <a:bodyPr/>
          <a:lstStyle/>
          <a:p>
            <a:endParaRPr lang="it-IT"/>
          </a:p>
        </p:txBody>
      </p:sp>
      <p:sp>
        <p:nvSpPr>
          <p:cNvPr id="7" name="Text 5"/>
          <p:cNvSpPr/>
          <p:nvPr/>
        </p:nvSpPr>
        <p:spPr>
          <a:xfrm>
            <a:off x="990600" y="4160521"/>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Tabella esterna</a:t>
            </a:r>
            <a:endParaRPr lang="en-US" sz="1400" dirty="0"/>
          </a:p>
        </p:txBody>
      </p:sp>
      <p:sp>
        <p:nvSpPr>
          <p:cNvPr id="8" name="Text 6"/>
          <p:cNvSpPr/>
          <p:nvPr/>
        </p:nvSpPr>
        <p:spPr>
          <a:xfrm>
            <a:off x="990600" y="4437379"/>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CLIENTI filtrata: ogni riga avvia un giro del loop.</a:t>
            </a:r>
            <a:endParaRPr lang="en-US" sz="1200" dirty="0"/>
          </a:p>
        </p:txBody>
      </p:sp>
      <p:sp>
        <p:nvSpPr>
          <p:cNvPr id="9" name="Shape 7"/>
          <p:cNvSpPr/>
          <p:nvPr/>
        </p:nvSpPr>
        <p:spPr>
          <a:xfrm>
            <a:off x="4385707" y="3957321"/>
            <a:ext cx="3420586" cy="1084580"/>
          </a:xfrm>
          <a:prstGeom prst="rect">
            <a:avLst/>
          </a:prstGeom>
          <a:solidFill>
            <a:srgbClr val="FFFFFF"/>
          </a:solidFill>
          <a:ln/>
        </p:spPr>
        <p:txBody>
          <a:bodyPr/>
          <a:lstStyle/>
          <a:p>
            <a:endParaRPr lang="it-IT"/>
          </a:p>
        </p:txBody>
      </p:sp>
      <p:sp>
        <p:nvSpPr>
          <p:cNvPr id="10" name="Shape 8"/>
          <p:cNvSpPr/>
          <p:nvPr/>
        </p:nvSpPr>
        <p:spPr>
          <a:xfrm>
            <a:off x="4385707" y="3970021"/>
            <a:ext cx="3420586" cy="0"/>
          </a:xfrm>
          <a:prstGeom prst="line">
            <a:avLst/>
          </a:prstGeom>
          <a:noFill/>
          <a:ln w="25400">
            <a:solidFill>
              <a:srgbClr val="2E6BD1"/>
            </a:solidFill>
            <a:prstDash val="solid"/>
          </a:ln>
        </p:spPr>
        <p:txBody>
          <a:bodyPr/>
          <a:lstStyle/>
          <a:p>
            <a:endParaRPr lang="it-IT"/>
          </a:p>
        </p:txBody>
      </p:sp>
      <p:sp>
        <p:nvSpPr>
          <p:cNvPr id="11" name="Text 9"/>
          <p:cNvSpPr/>
          <p:nvPr/>
        </p:nvSpPr>
        <p:spPr>
          <a:xfrm>
            <a:off x="4563507" y="4160521"/>
            <a:ext cx="315693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Accesso interno</a:t>
            </a:r>
            <a:endParaRPr lang="en-US" sz="1400" dirty="0"/>
          </a:p>
        </p:txBody>
      </p:sp>
      <p:sp>
        <p:nvSpPr>
          <p:cNvPr id="12" name="Text 10"/>
          <p:cNvSpPr/>
          <p:nvPr/>
        </p:nvSpPr>
        <p:spPr>
          <a:xfrm>
            <a:off x="4563507" y="4437379"/>
            <a:ext cx="315693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Per ogni cliente, l’indice trova solo i suoi ordini.</a:t>
            </a:r>
            <a:endParaRPr lang="en-US" sz="1200" dirty="0"/>
          </a:p>
        </p:txBody>
      </p:sp>
      <p:sp>
        <p:nvSpPr>
          <p:cNvPr id="13" name="Shape 11"/>
          <p:cNvSpPr/>
          <p:nvPr/>
        </p:nvSpPr>
        <p:spPr>
          <a:xfrm>
            <a:off x="7958693" y="3957321"/>
            <a:ext cx="3420507" cy="1084580"/>
          </a:xfrm>
          <a:prstGeom prst="rect">
            <a:avLst/>
          </a:prstGeom>
          <a:solidFill>
            <a:srgbClr val="FFFFFF"/>
          </a:solidFill>
          <a:ln/>
        </p:spPr>
        <p:txBody>
          <a:bodyPr/>
          <a:lstStyle/>
          <a:p>
            <a:endParaRPr lang="it-IT"/>
          </a:p>
        </p:txBody>
      </p:sp>
      <p:sp>
        <p:nvSpPr>
          <p:cNvPr id="14" name="Shape 12"/>
          <p:cNvSpPr/>
          <p:nvPr/>
        </p:nvSpPr>
        <p:spPr>
          <a:xfrm>
            <a:off x="7958693" y="3970021"/>
            <a:ext cx="3420507" cy="0"/>
          </a:xfrm>
          <a:prstGeom prst="line">
            <a:avLst/>
          </a:prstGeom>
          <a:noFill/>
          <a:ln w="25400">
            <a:solidFill>
              <a:srgbClr val="2E6BD1"/>
            </a:solidFill>
            <a:prstDash val="solid"/>
          </a:ln>
        </p:spPr>
        <p:txBody>
          <a:bodyPr/>
          <a:lstStyle/>
          <a:p>
            <a:endParaRPr lang="it-IT"/>
          </a:p>
        </p:txBody>
      </p:sp>
      <p:sp>
        <p:nvSpPr>
          <p:cNvPr id="15" name="Text 13"/>
          <p:cNvSpPr/>
          <p:nvPr/>
        </p:nvSpPr>
        <p:spPr>
          <a:xfrm>
            <a:off x="8136493" y="4160521"/>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Costo</a:t>
            </a:r>
            <a:endParaRPr lang="en-US" sz="1400" dirty="0"/>
          </a:p>
        </p:txBody>
      </p:sp>
      <p:sp>
        <p:nvSpPr>
          <p:cNvPr id="16" name="Text 14"/>
          <p:cNvSpPr/>
          <p:nvPr/>
        </p:nvSpPr>
        <p:spPr>
          <a:xfrm>
            <a:off x="8136493" y="4437379"/>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Righe esterne × costo di un accesso via indice.</a:t>
            </a:r>
            <a:endParaRPr lang="en-US" sz="1200" dirty="0"/>
          </a:p>
        </p:txBody>
      </p:sp>
      <p:sp>
        <p:nvSpPr>
          <p:cNvPr id="17" name="Text 15"/>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02 · JOIN</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Nested Loops </a:t>
            </a:r>
            <a:r>
              <a:rPr lang="en-US" sz="3000" b="1" i="0" kern="0" spc="-60" dirty="0">
                <a:solidFill>
                  <a:srgbClr val="2E6BD1"/>
                </a:solidFill>
                <a:latin typeface="Inter" pitchFamily="34" charset="0"/>
                <a:ea typeface="Inter" pitchFamily="34" charset="-122"/>
                <a:cs typeface="Inter" pitchFamily="34" charset="-120"/>
              </a:rPr>
              <a:t>o Hash Join?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1024"/>
          <a:ext cx="10556239" cy="2498090"/>
        </p:xfrm>
        <a:graphic>
          <a:graphicData uri="http://schemas.openxmlformats.org/drawingml/2006/table">
            <a:tbl>
              <a:tblPr/>
              <a:tblGrid>
                <a:gridCol w="2955747">
                  <a:extLst>
                    <a:ext uri="{9D8B030D-6E8A-4147-A177-3AD203B41FA5}">
                      <a16:colId xmlns:a16="http://schemas.microsoft.com/office/drawing/2014/main" val="20000"/>
                    </a:ext>
                  </a:extLst>
                </a:gridCol>
                <a:gridCol w="3800246">
                  <a:extLst>
                    <a:ext uri="{9D8B030D-6E8A-4147-A177-3AD203B41FA5}">
                      <a16:colId xmlns:a16="http://schemas.microsoft.com/office/drawing/2014/main" val="20001"/>
                    </a:ext>
                  </a:extLst>
                </a:gridCol>
                <a:gridCol w="3800246">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Criterio</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Nested Loops</a:t>
                      </a:r>
                      <a:endParaRPr lang="en-US" sz="1300" dirty="0">
                        <a:latin typeface="Inter" charset="0"/>
                        <a:ea typeface="Inter" charset="0"/>
                        <a:cs typeface="Inter" charset="0"/>
                      </a:endParaRPr>
                    </a:p>
                  </a:txBody>
                  <a:tcPr marL="57785" marR="57785" marT="57785" marB="57785">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Hash Join</a:t>
                      </a:r>
                      <a:endParaRPr lang="en-US" sz="1300" dirty="0">
                        <a:latin typeface="Inter" charset="0"/>
                        <a:ea typeface="Inter" charset="0"/>
                        <a:cs typeface="Inter" charset="0"/>
                      </a:endParaRPr>
                    </a:p>
                  </a:txBody>
                  <a:tcPr marL="57785" marR="57785" marT="57785" marB="57785">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Righe guida</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Poche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Molte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Accesso</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Indice sulla tabella interna</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Full scan di entrambe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Tipo di I/O</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Random, blocco singolo</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Sequenziale, multiblocco</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Memoria</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Minima</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Hash table in PGA</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Prima riga</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Subito</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Dopo la build</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Carico tipico</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OLTP</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Report, batch</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563114"/>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Hint come USE_NL e USE_HASH esistono, ma servono per diagnosticare, non per correggere.</a:t>
            </a:r>
            <a:endParaRPr lang="en-US" sz="1300" dirty="0"/>
          </a:p>
        </p:txBody>
      </p:sp>
      <p:sp>
        <p:nvSpPr>
          <p:cNvPr id="6" name="Text 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05081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03</a:t>
            </a:r>
            <a:endParaRPr lang="en-US" sz="1400" dirty="0"/>
          </a:p>
        </p:txBody>
      </p:sp>
      <p:sp>
        <p:nvSpPr>
          <p:cNvPr id="3" name="Text 1"/>
          <p:cNvSpPr/>
          <p:nvPr/>
        </p:nvSpPr>
        <p:spPr>
          <a:xfrm>
            <a:off x="812800" y="2502936"/>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MATTINA · TEORIA</a:t>
            </a:r>
            <a:endParaRPr lang="en-US" sz="1200" dirty="0"/>
          </a:p>
        </p:txBody>
      </p:sp>
      <p:sp>
        <p:nvSpPr>
          <p:cNvPr id="4" name="Text 2"/>
          <p:cNvSpPr>
            <a:spLocks noGrp="1"/>
          </p:cNvSpPr>
          <p:nvPr>
            <p:ph type="title"/>
          </p:nvPr>
        </p:nvSpPr>
        <p:spPr>
          <a:xfrm>
            <a:off x="812800" y="2919493"/>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5B9BFF"/>
                </a:solidFill>
                <a:latin typeface="Inter" pitchFamily="34" charset="0"/>
                <a:ea typeface="Inter" pitchFamily="34" charset="-122"/>
                <a:cs typeface="Inter" pitchFamily="34" charset="-120"/>
              </a:rPr>
              <a:t>Trappole</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comuni</a:t>
            </a:r>
            <a:endParaRPr lang="en-US" sz="5200" dirty="0"/>
          </a:p>
        </p:txBody>
      </p:sp>
      <p:sp>
        <p:nvSpPr>
          <p:cNvPr id="5" name="Text 3"/>
          <p:cNvSpPr/>
          <p:nvPr/>
        </p:nvSpPr>
        <p:spPr>
          <a:xfrm>
            <a:off x="812800" y="4522707"/>
            <a:ext cx="78486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Quando l’indice c’è ma l’ottimizzatore non può usarlo</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03 · TRAPPOLA 1</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Funzioni </a:t>
            </a:r>
            <a:r>
              <a:rPr lang="en-US" sz="3000" b="1" i="0" kern="0" spc="-60" dirty="0">
                <a:solidFill>
                  <a:srgbClr val="2E6BD1"/>
                </a:solidFill>
                <a:latin typeface="Inter" pitchFamily="34" charset="0"/>
                <a:ea typeface="Inter" pitchFamily="34" charset="-122"/>
                <a:cs typeface="Inter" pitchFamily="34" charset="-120"/>
              </a:rPr>
              <a:t>sulle colonne</a:t>
            </a:r>
            <a:endParaRPr lang="en-US" sz="3000" dirty="0"/>
          </a:p>
        </p:txBody>
      </p:sp>
      <p:sp>
        <p:nvSpPr>
          <p:cNvPr id="4" name="Text 2"/>
          <p:cNvSpPr/>
          <p:nvPr/>
        </p:nvSpPr>
        <p:spPr>
          <a:xfrm>
            <a:off x="812800" y="1800864"/>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INDICE IGNORATO</a:t>
            </a:r>
            <a:endParaRPr lang="en-US" sz="1200" dirty="0"/>
          </a:p>
        </p:txBody>
      </p:sp>
      <p:sp>
        <p:nvSpPr>
          <p:cNvPr id="5" name="Text 3"/>
          <p:cNvSpPr/>
          <p:nvPr/>
        </p:nvSpPr>
        <p:spPr>
          <a:xfrm>
            <a:off x="812800" y="2115821"/>
            <a:ext cx="5181600" cy="96774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TRUNC(data_ordine) = :giorno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UPPER(nome) = 'CLIENTE_450'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importo + 0 &gt; 900</a:t>
            </a:r>
            <a:endParaRPr lang="en-US" sz="1200" dirty="0"/>
          </a:p>
        </p:txBody>
      </p:sp>
      <p:sp>
        <p:nvSpPr>
          <p:cNvPr id="6" name="Text 4"/>
          <p:cNvSpPr/>
          <p:nvPr/>
        </p:nvSpPr>
        <p:spPr>
          <a:xfrm>
            <a:off x="812800" y="3185164"/>
            <a:ext cx="533704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L’indice contiene i valori originali: Oracle dovrebbe trasformare ogni riga prima di confrontarla.</a:t>
            </a:r>
            <a:endParaRPr lang="en-US" sz="1200" dirty="0"/>
          </a:p>
        </p:txBody>
      </p:sp>
      <p:sp>
        <p:nvSpPr>
          <p:cNvPr id="7" name="Text 5"/>
          <p:cNvSpPr/>
          <p:nvPr/>
        </p:nvSpPr>
        <p:spPr>
          <a:xfrm>
            <a:off x="6197600" y="1800864"/>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DUE SOLUZIONI</a:t>
            </a:r>
            <a:endParaRPr lang="en-US" sz="1200" dirty="0"/>
          </a:p>
        </p:txBody>
      </p:sp>
      <p:sp>
        <p:nvSpPr>
          <p:cNvPr id="8" name="Text 6"/>
          <p:cNvSpPr/>
          <p:nvPr/>
        </p:nvSpPr>
        <p:spPr>
          <a:xfrm>
            <a:off x="6197600" y="2115821"/>
            <a:ext cx="5181600" cy="163068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-- 1. Riscrivere come intervallo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data_ordine &gt;= :giorno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data_ordine &lt;  :giorno + 1</a:t>
            </a:r>
            <a:endParaRPr lang="en-US" sz="1200" dirty="0"/>
          </a:p>
          <a:p>
            <a:pPr marL="0" indent="0" algn="l">
              <a:lnSpc>
                <a:spcPts val="1740"/>
              </a:lnSpc>
              <a:buNone/>
            </a:pP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-- 2. Function-based index</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CREATE INDEX ... ON ordini(TRUNC(data_ordine));</a:t>
            </a:r>
            <a:endParaRPr lang="en-US" sz="12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03 · TRAPPOLA 2</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Conversioni </a:t>
            </a:r>
            <a:r>
              <a:rPr lang="en-US" sz="3000" b="1" i="0" kern="0" spc="-60" dirty="0">
                <a:solidFill>
                  <a:srgbClr val="2E6BD1"/>
                </a:solidFill>
                <a:latin typeface="Inter" pitchFamily="34" charset="0"/>
                <a:ea typeface="Inter" pitchFamily="34" charset="-122"/>
                <a:cs typeface="Inter" pitchFamily="34" charset="-120"/>
              </a:rPr>
              <a:t>implicite</a:t>
            </a:r>
            <a:endParaRPr lang="en-US" sz="3000" dirty="0"/>
          </a:p>
        </p:txBody>
      </p:sp>
      <p:sp>
        <p:nvSpPr>
          <p:cNvPr id="4" name="Text 2"/>
          <p:cNvSpPr/>
          <p:nvPr/>
        </p:nvSpPr>
        <p:spPr>
          <a:xfrm>
            <a:off x="812800" y="1800864"/>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IL CODICE SCRITTO</a:t>
            </a:r>
            <a:endParaRPr lang="en-US" sz="1200" dirty="0"/>
          </a:p>
        </p:txBody>
      </p:sp>
      <p:sp>
        <p:nvSpPr>
          <p:cNvPr id="5" name="Text 3"/>
          <p:cNvSpPr/>
          <p:nvPr/>
        </p:nvSpPr>
        <p:spPr>
          <a:xfrm>
            <a:off x="812800" y="2115821"/>
            <a:ext cx="5181600" cy="74676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codice_pratica è VARCHAR2</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codice_pratica = 12345</a:t>
            </a:r>
            <a:endParaRPr lang="en-US" sz="1200" dirty="0"/>
          </a:p>
        </p:txBody>
      </p:sp>
      <p:sp>
        <p:nvSpPr>
          <p:cNvPr id="6" name="Text 4"/>
          <p:cNvSpPr/>
          <p:nvPr/>
        </p:nvSpPr>
        <p:spPr>
          <a:xfrm>
            <a:off x="812800" y="2964179"/>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QUELLO CHE ESEGUE ORACLE</a:t>
            </a:r>
            <a:endParaRPr lang="en-US" sz="1200" dirty="0"/>
          </a:p>
        </p:txBody>
      </p:sp>
      <p:sp>
        <p:nvSpPr>
          <p:cNvPr id="7" name="Text 5"/>
          <p:cNvSpPr/>
          <p:nvPr/>
        </p:nvSpPr>
        <p:spPr>
          <a:xfrm>
            <a:off x="812800" y="3279142"/>
            <a:ext cx="5181600" cy="52578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filter(TO_NUMBER("CODICE_PRATICA")=12345)</a:t>
            </a:r>
            <a:endParaRPr lang="en-US" sz="1200" dirty="0"/>
          </a:p>
        </p:txBody>
      </p:sp>
      <p:sp>
        <p:nvSpPr>
          <p:cNvPr id="8" name="Shape 6"/>
          <p:cNvSpPr/>
          <p:nvPr/>
        </p:nvSpPr>
        <p:spPr>
          <a:xfrm>
            <a:off x="6197600" y="1800864"/>
            <a:ext cx="5181600" cy="1046480"/>
          </a:xfrm>
          <a:prstGeom prst="rect">
            <a:avLst/>
          </a:prstGeom>
          <a:solidFill>
            <a:srgbClr val="FFFFFF"/>
          </a:solidFill>
          <a:ln/>
        </p:spPr>
        <p:txBody>
          <a:bodyPr/>
          <a:lstStyle/>
          <a:p>
            <a:endParaRPr lang="it-IT"/>
          </a:p>
        </p:txBody>
      </p:sp>
      <p:sp>
        <p:nvSpPr>
          <p:cNvPr id="9" name="Shape 7"/>
          <p:cNvSpPr/>
          <p:nvPr/>
        </p:nvSpPr>
        <p:spPr>
          <a:xfrm>
            <a:off x="6210300" y="1800864"/>
            <a:ext cx="0" cy="1046480"/>
          </a:xfrm>
          <a:prstGeom prst="line">
            <a:avLst/>
          </a:prstGeom>
          <a:noFill/>
          <a:ln w="25400">
            <a:solidFill>
              <a:srgbClr val="2E6BD1"/>
            </a:solidFill>
            <a:prstDash val="solid"/>
          </a:ln>
        </p:spPr>
        <p:txBody>
          <a:bodyPr/>
          <a:lstStyle/>
          <a:p>
            <a:endParaRPr lang="it-IT"/>
          </a:p>
        </p:txBody>
      </p:sp>
      <p:sp>
        <p:nvSpPr>
          <p:cNvPr id="10" name="Text 8"/>
          <p:cNvSpPr/>
          <p:nvPr/>
        </p:nvSpPr>
        <p:spPr>
          <a:xfrm>
            <a:off x="6400800" y="1978664"/>
            <a:ext cx="494461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La regola</a:t>
            </a:r>
            <a:endParaRPr lang="en-US" sz="1400" dirty="0"/>
          </a:p>
        </p:txBody>
      </p:sp>
      <p:sp>
        <p:nvSpPr>
          <p:cNvPr id="11" name="Text 9"/>
          <p:cNvSpPr/>
          <p:nvPr/>
        </p:nvSpPr>
        <p:spPr>
          <a:xfrm>
            <a:off x="6400800" y="2242821"/>
            <a:ext cx="49446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Confrontando stringa e numero Oracle converte la stringa: se è la </a:t>
            </a:r>
            <a:r>
              <a:rPr lang="en-US" sz="1200" dirty="0" err="1">
                <a:solidFill>
                  <a:srgbClr val="3D4B5E"/>
                </a:solidFill>
                <a:latin typeface="Inter" pitchFamily="34" charset="0"/>
                <a:ea typeface="Inter" pitchFamily="34" charset="-122"/>
                <a:cs typeface="Inter" pitchFamily="34" charset="-120"/>
              </a:rPr>
              <a:t>colonna</a:t>
            </a:r>
            <a:r>
              <a:rPr lang="en-US" sz="1200" dirty="0">
                <a:solidFill>
                  <a:srgbClr val="3D4B5E"/>
                </a:solidFill>
                <a:latin typeface="Inter" pitchFamily="34" charset="0"/>
                <a:ea typeface="Inter" pitchFamily="34" charset="-122"/>
                <a:cs typeface="Inter" pitchFamily="34" charset="-120"/>
              </a:rPr>
              <a:t>, l’indice salta.</a:t>
            </a:r>
            <a:endParaRPr lang="en-US" sz="1200" dirty="0"/>
          </a:p>
        </p:txBody>
      </p:sp>
      <p:sp>
        <p:nvSpPr>
          <p:cNvPr id="12" name="Shape 10"/>
          <p:cNvSpPr/>
          <p:nvPr/>
        </p:nvSpPr>
        <p:spPr>
          <a:xfrm>
            <a:off x="6197600" y="2948942"/>
            <a:ext cx="5181600" cy="1046480"/>
          </a:xfrm>
          <a:prstGeom prst="rect">
            <a:avLst/>
          </a:prstGeom>
          <a:solidFill>
            <a:srgbClr val="FFFFFF"/>
          </a:solidFill>
          <a:ln/>
        </p:spPr>
        <p:txBody>
          <a:bodyPr/>
          <a:lstStyle/>
          <a:p>
            <a:endParaRPr lang="it-IT"/>
          </a:p>
        </p:txBody>
      </p:sp>
      <p:sp>
        <p:nvSpPr>
          <p:cNvPr id="13" name="Shape 11"/>
          <p:cNvSpPr/>
          <p:nvPr/>
        </p:nvSpPr>
        <p:spPr>
          <a:xfrm>
            <a:off x="6210300" y="2948942"/>
            <a:ext cx="0" cy="1046480"/>
          </a:xfrm>
          <a:prstGeom prst="line">
            <a:avLst/>
          </a:prstGeom>
          <a:noFill/>
          <a:ln w="25400">
            <a:solidFill>
              <a:srgbClr val="2E6BD1"/>
            </a:solidFill>
            <a:prstDash val="solid"/>
          </a:ln>
        </p:spPr>
        <p:txBody>
          <a:bodyPr/>
          <a:lstStyle/>
          <a:p>
            <a:endParaRPr lang="it-IT"/>
          </a:p>
        </p:txBody>
      </p:sp>
      <p:sp>
        <p:nvSpPr>
          <p:cNvPr id="14" name="Text 12"/>
          <p:cNvSpPr/>
          <p:nvPr/>
        </p:nvSpPr>
        <p:spPr>
          <a:xfrm>
            <a:off x="6400800" y="3126742"/>
            <a:ext cx="494461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Dove nasce</a:t>
            </a:r>
            <a:endParaRPr lang="en-US" sz="1400" dirty="0"/>
          </a:p>
        </p:txBody>
      </p:sp>
      <p:sp>
        <p:nvSpPr>
          <p:cNvPr id="15" name="Text 13"/>
          <p:cNvSpPr/>
          <p:nvPr/>
        </p:nvSpPr>
        <p:spPr>
          <a:xfrm>
            <a:off x="6400800" y="3390900"/>
            <a:ext cx="49446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Bind del tipo sbagliato da JDBC/ORM, letterali senza apici, date come stringhe.</a:t>
            </a:r>
            <a:endParaRPr lang="en-US" sz="1200" dirty="0"/>
          </a:p>
        </p:txBody>
      </p:sp>
      <p:sp>
        <p:nvSpPr>
          <p:cNvPr id="16" name="Shape 14"/>
          <p:cNvSpPr/>
          <p:nvPr/>
        </p:nvSpPr>
        <p:spPr>
          <a:xfrm>
            <a:off x="6197600" y="4097021"/>
            <a:ext cx="5181600" cy="1046480"/>
          </a:xfrm>
          <a:prstGeom prst="rect">
            <a:avLst/>
          </a:prstGeom>
          <a:solidFill>
            <a:srgbClr val="FFFFFF"/>
          </a:solidFill>
          <a:ln/>
        </p:spPr>
        <p:txBody>
          <a:bodyPr/>
          <a:lstStyle/>
          <a:p>
            <a:endParaRPr lang="it-IT"/>
          </a:p>
        </p:txBody>
      </p:sp>
      <p:sp>
        <p:nvSpPr>
          <p:cNvPr id="17" name="Shape 15"/>
          <p:cNvSpPr/>
          <p:nvPr/>
        </p:nvSpPr>
        <p:spPr>
          <a:xfrm>
            <a:off x="6210300" y="4097021"/>
            <a:ext cx="0" cy="1046480"/>
          </a:xfrm>
          <a:prstGeom prst="line">
            <a:avLst/>
          </a:prstGeom>
          <a:noFill/>
          <a:ln w="25400">
            <a:solidFill>
              <a:srgbClr val="2E6BD1"/>
            </a:solidFill>
            <a:prstDash val="solid"/>
          </a:ln>
        </p:spPr>
        <p:txBody>
          <a:bodyPr/>
          <a:lstStyle/>
          <a:p>
            <a:endParaRPr lang="it-IT"/>
          </a:p>
        </p:txBody>
      </p:sp>
      <p:sp>
        <p:nvSpPr>
          <p:cNvPr id="18" name="Text 16"/>
          <p:cNvSpPr/>
          <p:nvPr/>
        </p:nvSpPr>
        <p:spPr>
          <a:xfrm>
            <a:off x="6400800" y="4274821"/>
            <a:ext cx="494461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Come scovarla</a:t>
            </a:r>
            <a:endParaRPr lang="en-US" sz="1400" dirty="0"/>
          </a:p>
        </p:txBody>
      </p:sp>
      <p:sp>
        <p:nvSpPr>
          <p:cNvPr id="19" name="Text 17"/>
          <p:cNvSpPr/>
          <p:nvPr/>
        </p:nvSpPr>
        <p:spPr>
          <a:xfrm>
            <a:off x="6400800" y="4538979"/>
            <a:ext cx="49446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Predicate Information di DBMS_XPLAN: cercate TO_NUMBER, TO_CHAR, INTERNAL_FUNCTION.</a:t>
            </a:r>
            <a:endParaRPr lang="en-US" sz="1200" dirty="0"/>
          </a:p>
        </p:txBody>
      </p:sp>
      <p:sp>
        <p:nvSpPr>
          <p:cNvPr id="20" name="Text 1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03 · TRAPPOLA 3</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Statistiche </a:t>
            </a:r>
            <a:r>
              <a:rPr lang="en-US" sz="3000" b="1" i="0" kern="0" spc="-60" dirty="0">
                <a:solidFill>
                  <a:srgbClr val="2E6BD1"/>
                </a:solidFill>
                <a:latin typeface="Inter" pitchFamily="34" charset="0"/>
                <a:ea typeface="Inter" pitchFamily="34" charset="-122"/>
                <a:cs typeface="Inter" pitchFamily="34" charset="-120"/>
              </a:rPr>
              <a:t>non aggiornate</a:t>
            </a:r>
            <a:endParaRPr lang="en-US" sz="3000" dirty="0"/>
          </a:p>
        </p:txBody>
      </p:sp>
      <p:sp>
        <p:nvSpPr>
          <p:cNvPr id="4" name="Shape 2"/>
          <p:cNvSpPr/>
          <p:nvPr/>
        </p:nvSpPr>
        <p:spPr>
          <a:xfrm>
            <a:off x="812800" y="1800864"/>
            <a:ext cx="3420507" cy="1084580"/>
          </a:xfrm>
          <a:prstGeom prst="rect">
            <a:avLst/>
          </a:prstGeom>
          <a:solidFill>
            <a:srgbClr val="FFFFFF"/>
          </a:solidFill>
          <a:ln/>
        </p:spPr>
        <p:txBody>
          <a:bodyPr/>
          <a:lstStyle/>
          <a:p>
            <a:endParaRPr lang="it-IT"/>
          </a:p>
        </p:txBody>
      </p:sp>
      <p:sp>
        <p:nvSpPr>
          <p:cNvPr id="5" name="Shape 3"/>
          <p:cNvSpPr/>
          <p:nvPr/>
        </p:nvSpPr>
        <p:spPr>
          <a:xfrm>
            <a:off x="812800" y="1813564"/>
            <a:ext cx="3420507" cy="0"/>
          </a:xfrm>
          <a:prstGeom prst="line">
            <a:avLst/>
          </a:prstGeom>
          <a:noFill/>
          <a:ln w="25400">
            <a:solidFill>
              <a:srgbClr val="2E6BD1"/>
            </a:solidFill>
            <a:prstDash val="solid"/>
          </a:ln>
        </p:spPr>
        <p:txBody>
          <a:bodyPr/>
          <a:lstStyle/>
          <a:p>
            <a:endParaRPr lang="it-IT"/>
          </a:p>
        </p:txBody>
      </p:sp>
      <p:sp>
        <p:nvSpPr>
          <p:cNvPr id="6" name="Text 4"/>
          <p:cNvSpPr/>
          <p:nvPr/>
        </p:nvSpPr>
        <p:spPr>
          <a:xfrm>
            <a:off x="990600" y="2004064"/>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Sintomo</a:t>
            </a:r>
            <a:endParaRPr lang="en-US" sz="1400" dirty="0"/>
          </a:p>
        </p:txBody>
      </p:sp>
      <p:sp>
        <p:nvSpPr>
          <p:cNvPr id="7" name="Text 5"/>
          <p:cNvSpPr/>
          <p:nvPr/>
        </p:nvSpPr>
        <p:spPr>
          <a:xfrm>
            <a:off x="990600" y="2280921"/>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E-Rows molto lontano da A-Rows; il piano cambia dopo un caricamento.</a:t>
            </a:r>
            <a:endParaRPr lang="en-US" sz="1200" dirty="0"/>
          </a:p>
        </p:txBody>
      </p:sp>
      <p:sp>
        <p:nvSpPr>
          <p:cNvPr id="8" name="Shape 6"/>
          <p:cNvSpPr/>
          <p:nvPr/>
        </p:nvSpPr>
        <p:spPr>
          <a:xfrm>
            <a:off x="4385707" y="1800864"/>
            <a:ext cx="3420586" cy="1084580"/>
          </a:xfrm>
          <a:prstGeom prst="rect">
            <a:avLst/>
          </a:prstGeom>
          <a:solidFill>
            <a:srgbClr val="FFFFFF"/>
          </a:solidFill>
          <a:ln/>
        </p:spPr>
        <p:txBody>
          <a:bodyPr/>
          <a:lstStyle/>
          <a:p>
            <a:endParaRPr lang="it-IT"/>
          </a:p>
        </p:txBody>
      </p:sp>
      <p:sp>
        <p:nvSpPr>
          <p:cNvPr id="9" name="Shape 7"/>
          <p:cNvSpPr/>
          <p:nvPr/>
        </p:nvSpPr>
        <p:spPr>
          <a:xfrm>
            <a:off x="4385707" y="1813564"/>
            <a:ext cx="3420586" cy="0"/>
          </a:xfrm>
          <a:prstGeom prst="line">
            <a:avLst/>
          </a:prstGeom>
          <a:noFill/>
          <a:ln w="25400">
            <a:solidFill>
              <a:srgbClr val="2E6BD1"/>
            </a:solidFill>
            <a:prstDash val="solid"/>
          </a:ln>
        </p:spPr>
        <p:txBody>
          <a:bodyPr/>
          <a:lstStyle/>
          <a:p>
            <a:endParaRPr lang="it-IT"/>
          </a:p>
        </p:txBody>
      </p:sp>
      <p:sp>
        <p:nvSpPr>
          <p:cNvPr id="10" name="Text 8"/>
          <p:cNvSpPr/>
          <p:nvPr/>
        </p:nvSpPr>
        <p:spPr>
          <a:xfrm>
            <a:off x="4563507" y="2004064"/>
            <a:ext cx="315693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Causa tipica</a:t>
            </a:r>
            <a:endParaRPr lang="en-US" sz="1400" dirty="0"/>
          </a:p>
        </p:txBody>
      </p:sp>
      <p:sp>
        <p:nvSpPr>
          <p:cNvPr id="11" name="Text 9"/>
          <p:cNvSpPr/>
          <p:nvPr/>
        </p:nvSpPr>
        <p:spPr>
          <a:xfrm>
            <a:off x="4563507" y="2280921"/>
            <a:ext cx="315693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Caricamenti massivi o tabelle svuotate tra una raccolta e l’altra.</a:t>
            </a:r>
            <a:endParaRPr lang="en-US" sz="1200" dirty="0"/>
          </a:p>
        </p:txBody>
      </p:sp>
      <p:sp>
        <p:nvSpPr>
          <p:cNvPr id="12" name="Shape 10"/>
          <p:cNvSpPr/>
          <p:nvPr/>
        </p:nvSpPr>
        <p:spPr>
          <a:xfrm>
            <a:off x="7958693" y="1800864"/>
            <a:ext cx="3420507" cy="1084580"/>
          </a:xfrm>
          <a:prstGeom prst="rect">
            <a:avLst/>
          </a:prstGeom>
          <a:solidFill>
            <a:srgbClr val="FFFFFF"/>
          </a:solidFill>
          <a:ln/>
        </p:spPr>
        <p:txBody>
          <a:bodyPr/>
          <a:lstStyle/>
          <a:p>
            <a:endParaRPr lang="it-IT"/>
          </a:p>
        </p:txBody>
      </p:sp>
      <p:sp>
        <p:nvSpPr>
          <p:cNvPr id="13" name="Shape 11"/>
          <p:cNvSpPr/>
          <p:nvPr/>
        </p:nvSpPr>
        <p:spPr>
          <a:xfrm>
            <a:off x="7958693" y="1813564"/>
            <a:ext cx="3420507" cy="0"/>
          </a:xfrm>
          <a:prstGeom prst="line">
            <a:avLst/>
          </a:prstGeom>
          <a:noFill/>
          <a:ln w="25400">
            <a:solidFill>
              <a:srgbClr val="2E6BD1"/>
            </a:solidFill>
            <a:prstDash val="solid"/>
          </a:ln>
        </p:spPr>
        <p:txBody>
          <a:bodyPr/>
          <a:lstStyle/>
          <a:p>
            <a:endParaRPr lang="it-IT"/>
          </a:p>
        </p:txBody>
      </p:sp>
      <p:sp>
        <p:nvSpPr>
          <p:cNvPr id="14" name="Text 12"/>
          <p:cNvSpPr/>
          <p:nvPr/>
        </p:nvSpPr>
        <p:spPr>
          <a:xfrm>
            <a:off x="8136493" y="2004064"/>
            <a:ext cx="315685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Rimedio</a:t>
            </a:r>
            <a:endParaRPr lang="en-US" sz="1400" dirty="0"/>
          </a:p>
        </p:txBody>
      </p:sp>
      <p:sp>
        <p:nvSpPr>
          <p:cNvPr id="15" name="Text 13"/>
          <p:cNvSpPr/>
          <p:nvPr/>
        </p:nvSpPr>
        <p:spPr>
          <a:xfrm>
            <a:off x="8136493" y="2280921"/>
            <a:ext cx="31568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Raccolta dopo i caricamenti, job automatico verificato.</a:t>
            </a:r>
            <a:endParaRPr lang="en-US" sz="1200" dirty="0"/>
          </a:p>
        </p:txBody>
      </p:sp>
      <p:sp>
        <p:nvSpPr>
          <p:cNvPr id="16" name="Text 14"/>
          <p:cNvSpPr/>
          <p:nvPr/>
        </p:nvSpPr>
        <p:spPr>
          <a:xfrm>
            <a:off x="812800" y="3139442"/>
            <a:ext cx="10566400" cy="1409700"/>
          </a:xfrm>
          <a:prstGeom prst="rect">
            <a:avLst/>
          </a:prstGeom>
          <a:solidFill>
            <a:srgbClr val="0F1B2D"/>
          </a:solidFill>
          <a:ln/>
        </p:spPr>
        <p:txBody>
          <a:bodyPr wrap="square" lIns="203200" tIns="152400" rIns="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Quali statistiche sono vecchie?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table_name, num_rows, last_analyzed, stale_stats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user_tab_statistics;</a:t>
            </a:r>
            <a:endParaRPr lang="en-US" sz="1200" dirty="0"/>
          </a:p>
          <a:p>
            <a:pPr marL="0" indent="0" algn="l">
              <a:lnSpc>
                <a:spcPts val="1740"/>
              </a:lnSpc>
              <a:buNone/>
            </a:pPr>
            <a:endParaRPr lang="en-US" sz="1200" dirty="0"/>
          </a:p>
          <a:p>
            <a:pPr>
              <a:lnSpc>
                <a:spcPts val="1740"/>
              </a:lnSpc>
            </a:pPr>
            <a:r>
              <a:rPr lang="en-US" sz="1200" dirty="0">
                <a:solidFill>
                  <a:srgbClr val="F6F8FB"/>
                </a:solidFill>
                <a:latin typeface="JetBrains Mono" pitchFamily="49" charset="0"/>
                <a:ea typeface="JetBrains Mono" pitchFamily="49" charset="-122"/>
                <a:cs typeface="JetBrains Mono" pitchFamily="49" charset="-120"/>
              </a:rPr>
              <a:t>EXEC DBMS_STATS.GATHER_TABLE_STATS(‘TUNING_USER’, 'ORDINI');</a:t>
            </a:r>
            <a:endParaRPr lang="en-US" sz="1200" dirty="0"/>
          </a:p>
        </p:txBody>
      </p:sp>
      <p:sp>
        <p:nvSpPr>
          <p:cNvPr id="17" name="Text 15"/>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03 · LA REGOLA D’ORO</a:t>
            </a:r>
            <a:endParaRPr lang="en-US" sz="1200" dirty="0"/>
          </a:p>
        </p:txBody>
      </p:sp>
      <p:sp>
        <p:nvSpPr>
          <p:cNvPr id="3" name="Text 1"/>
          <p:cNvSpPr>
            <a:spLocks noGrp="1"/>
          </p:cNvSpPr>
          <p:nvPr>
            <p:ph type="title"/>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Indicizzare </a:t>
            </a:r>
            <a:r>
              <a:rPr lang="en-US" sz="3000" b="1" i="0" kern="0" spc="-60" dirty="0">
                <a:solidFill>
                  <a:srgbClr val="2E6BD1"/>
                </a:solidFill>
                <a:latin typeface="Inter" pitchFamily="34" charset="0"/>
                <a:ea typeface="Inter" pitchFamily="34" charset="-122"/>
                <a:cs typeface="Inter" pitchFamily="34" charset="-120"/>
              </a:rPr>
              <a:t>le foreign key</a:t>
            </a:r>
            <a:endParaRPr lang="en-US" sz="3000" dirty="0"/>
          </a:p>
        </p:txBody>
      </p:sp>
      <p:sp>
        <p:nvSpPr>
          <p:cNvPr id="4" name="Shape 2"/>
          <p:cNvSpPr/>
          <p:nvPr/>
        </p:nvSpPr>
        <p:spPr>
          <a:xfrm>
            <a:off x="812800" y="1800858"/>
            <a:ext cx="5156200" cy="1903730"/>
          </a:xfrm>
          <a:prstGeom prst="rect">
            <a:avLst/>
          </a:prstGeom>
          <a:solidFill>
            <a:srgbClr val="0F1B2D"/>
          </a:solidFill>
          <a:ln/>
        </p:spPr>
        <p:txBody>
          <a:bodyPr/>
          <a:lstStyle/>
          <a:p>
            <a:endParaRPr lang="it-IT"/>
          </a:p>
        </p:txBody>
      </p:sp>
      <p:sp>
        <p:nvSpPr>
          <p:cNvPr id="5" name="Text 3"/>
          <p:cNvSpPr/>
          <p:nvPr/>
        </p:nvSpPr>
        <p:spPr>
          <a:xfrm>
            <a:off x="1066800" y="2054858"/>
            <a:ext cx="4787646"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9BFF"/>
                </a:solidFill>
                <a:latin typeface="Inter" pitchFamily="34" charset="0"/>
                <a:ea typeface="Inter" pitchFamily="34" charset="-122"/>
                <a:cs typeface="Inter" pitchFamily="34" charset="-120"/>
              </a:rPr>
              <a:t>SENZA INDICE</a:t>
            </a:r>
            <a:endParaRPr lang="en-US" sz="1200" dirty="0"/>
          </a:p>
        </p:txBody>
      </p:sp>
      <p:sp>
        <p:nvSpPr>
          <p:cNvPr id="6" name="Text 4"/>
          <p:cNvSpPr/>
          <p:nvPr/>
        </p:nvSpPr>
        <p:spPr>
          <a:xfrm>
            <a:off x="1066800" y="2369827"/>
            <a:ext cx="4787646"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6F8FB"/>
                </a:solidFill>
                <a:latin typeface="Inter" pitchFamily="34" charset="0"/>
                <a:ea typeface="Inter" pitchFamily="34" charset="-122"/>
                <a:cs typeface="Inter" pitchFamily="34" charset="-120"/>
              </a:rPr>
              <a:t>Ogni join padre → figlio diventa un Full Scan della tabella figlia.</a:t>
            </a:r>
            <a:endParaRPr lang="en-US" sz="1400" dirty="0"/>
          </a:p>
        </p:txBody>
      </p:sp>
      <p:sp>
        <p:nvSpPr>
          <p:cNvPr id="7" name="Text 5"/>
          <p:cNvSpPr/>
          <p:nvPr/>
        </p:nvSpPr>
        <p:spPr>
          <a:xfrm>
            <a:off x="1066800" y="2987042"/>
            <a:ext cx="4787646"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Con un vincolo FK, cancellare o modificare la chiave del padre blocca l’intera tabella figlia (lock TM).</a:t>
            </a:r>
            <a:endParaRPr lang="en-US" sz="1200" dirty="0"/>
          </a:p>
        </p:txBody>
      </p:sp>
      <p:sp>
        <p:nvSpPr>
          <p:cNvPr id="8" name="Shape 6"/>
          <p:cNvSpPr/>
          <p:nvPr/>
        </p:nvSpPr>
        <p:spPr>
          <a:xfrm>
            <a:off x="6223000" y="1800858"/>
            <a:ext cx="5156200" cy="1903730"/>
          </a:xfrm>
          <a:prstGeom prst="rect">
            <a:avLst/>
          </a:prstGeom>
          <a:solidFill>
            <a:srgbClr val="FFFFFF"/>
          </a:solidFill>
          <a:ln/>
        </p:spPr>
        <p:txBody>
          <a:bodyPr/>
          <a:lstStyle/>
          <a:p>
            <a:endParaRPr lang="it-IT"/>
          </a:p>
        </p:txBody>
      </p:sp>
      <p:sp>
        <p:nvSpPr>
          <p:cNvPr id="9" name="Shape 7"/>
          <p:cNvSpPr/>
          <p:nvPr/>
        </p:nvSpPr>
        <p:spPr>
          <a:xfrm>
            <a:off x="6223000" y="1813558"/>
            <a:ext cx="5156200" cy="0"/>
          </a:xfrm>
          <a:prstGeom prst="line">
            <a:avLst/>
          </a:prstGeom>
          <a:noFill/>
          <a:ln w="25400">
            <a:solidFill>
              <a:srgbClr val="2E6BD1"/>
            </a:solidFill>
            <a:prstDash val="solid"/>
          </a:ln>
        </p:spPr>
        <p:txBody>
          <a:bodyPr/>
          <a:lstStyle/>
          <a:p>
            <a:endParaRPr lang="it-IT"/>
          </a:p>
        </p:txBody>
      </p:sp>
      <p:sp>
        <p:nvSpPr>
          <p:cNvPr id="10" name="Text 8"/>
          <p:cNvSpPr/>
          <p:nvPr/>
        </p:nvSpPr>
        <p:spPr>
          <a:xfrm>
            <a:off x="6477000" y="2080258"/>
            <a:ext cx="4787646"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NEL NOSTRO SCHEMA</a:t>
            </a:r>
            <a:endParaRPr lang="en-US" sz="1200" dirty="0"/>
          </a:p>
        </p:txBody>
      </p:sp>
      <p:sp>
        <p:nvSpPr>
          <p:cNvPr id="11" name="Text 9"/>
          <p:cNvSpPr/>
          <p:nvPr/>
        </p:nvSpPr>
        <p:spPr>
          <a:xfrm>
            <a:off x="6477000" y="2395227"/>
            <a:ext cx="4787646" cy="28321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0F1B2D"/>
                </a:solidFill>
                <a:latin typeface="Inter" pitchFamily="34" charset="0"/>
                <a:ea typeface="Inter" pitchFamily="34" charset="-122"/>
                <a:cs typeface="Inter" pitchFamily="34" charset="-120"/>
              </a:rPr>
              <a:t>ORDINI.CLIENTE_ID è la chiave verso CLIENTI.</a:t>
            </a:r>
            <a:endParaRPr lang="en-US" sz="1400" dirty="0"/>
          </a:p>
        </p:txBody>
      </p:sp>
      <p:sp>
        <p:nvSpPr>
          <p:cNvPr id="12" name="Text 10"/>
          <p:cNvSpPr/>
          <p:nvPr/>
        </p:nvSpPr>
        <p:spPr>
          <a:xfrm>
            <a:off x="6477000" y="2754635"/>
            <a:ext cx="4648200" cy="695960"/>
          </a:xfrm>
          <a:prstGeom prst="rect">
            <a:avLst/>
          </a:prstGeom>
          <a:solidFill>
            <a:srgbClr val="0F1B2D"/>
          </a:solidFill>
          <a:ln/>
        </p:spPr>
        <p:txBody>
          <a:bodyPr wrap="square" lIns="152400" tIns="127000" rIns="22098" bIns="1016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CREATE INDEX idx_ordini_cliente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ON ordini(cliente_id);</a:t>
            </a:r>
            <a:endParaRPr lang="en-US" sz="12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CE5F2"/>
        </a:solidFill>
        <a:effectLst/>
      </p:bgPr>
    </p:bg>
    <p:spTree>
      <p:nvGrpSpPr>
        <p:cNvPr id="1" name=""/>
        <p:cNvGrpSpPr/>
        <p:nvPr/>
      </p:nvGrpSpPr>
      <p:grpSpPr>
        <a:xfrm>
          <a:off x="0" y="0"/>
          <a:ext cx="0" cy="0"/>
          <a:chOff x="0" y="0"/>
          <a:chExt cx="0" cy="0"/>
        </a:xfrm>
      </p:grpSpPr>
      <p:sp>
        <p:nvSpPr>
          <p:cNvPr id="2" name="Text 0"/>
          <p:cNvSpPr/>
          <p:nvPr/>
        </p:nvSpPr>
        <p:spPr>
          <a:xfrm>
            <a:off x="812800" y="190857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4C9C"/>
                </a:solidFill>
                <a:latin typeface="Inter" pitchFamily="34" charset="0"/>
                <a:ea typeface="Inter" pitchFamily="34" charset="-122"/>
                <a:cs typeface="Inter" pitchFamily="34" charset="-120"/>
              </a:rPr>
              <a:t>LAB</a:t>
            </a:r>
            <a:endParaRPr lang="en-US" sz="1400" dirty="0"/>
          </a:p>
        </p:txBody>
      </p:sp>
      <p:sp>
        <p:nvSpPr>
          <p:cNvPr id="3" name="Text 1"/>
          <p:cNvSpPr/>
          <p:nvPr/>
        </p:nvSpPr>
        <p:spPr>
          <a:xfrm>
            <a:off x="812800" y="236069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4B5A6E"/>
                </a:solidFill>
                <a:latin typeface="Inter" pitchFamily="34" charset="0"/>
                <a:ea typeface="Inter" pitchFamily="34" charset="-122"/>
                <a:cs typeface="Inter" pitchFamily="34" charset="-120"/>
              </a:rPr>
              <a:t>MATTINA · HANDS-ON · 1–2 H</a:t>
            </a:r>
            <a:endParaRPr lang="en-US" sz="1200" dirty="0"/>
          </a:p>
        </p:txBody>
      </p:sp>
      <p:sp>
        <p:nvSpPr>
          <p:cNvPr id="4" name="Text 2"/>
          <p:cNvSpPr>
            <a:spLocks noGrp="1"/>
          </p:cNvSpPr>
          <p:nvPr>
            <p:ph type="title"/>
          </p:nvPr>
        </p:nvSpPr>
        <p:spPr>
          <a:xfrm>
            <a:off x="812800" y="2777257"/>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1B4C9C"/>
                </a:solidFill>
                <a:latin typeface="Inter" pitchFamily="34" charset="0"/>
                <a:ea typeface="Inter" pitchFamily="34" charset="-122"/>
                <a:cs typeface="Inter" pitchFamily="34" charset="-120"/>
              </a:rPr>
              <a:t>Risolviamo</a:t>
            </a:r>
            <a:endParaRPr lang="en-US" sz="5200" dirty="0"/>
          </a:p>
          <a:p>
            <a:pPr marL="0" indent="0" algn="l">
              <a:lnSpc>
                <a:spcPts val="5512"/>
              </a:lnSpc>
              <a:buNone/>
            </a:pPr>
            <a:r>
              <a:rPr lang="en-US" sz="5200" b="1" i="0" kern="0" spc="-105" dirty="0">
                <a:solidFill>
                  <a:srgbClr val="0F1B2D"/>
                </a:solidFill>
                <a:latin typeface="Inter" pitchFamily="34" charset="0"/>
                <a:ea typeface="Inter" pitchFamily="34" charset="-122"/>
                <a:cs typeface="Inter" pitchFamily="34" charset="-120"/>
              </a:rPr>
              <a:t>la challenge del Giorno 1</a:t>
            </a:r>
            <a:endParaRPr lang="en-US" sz="5200" dirty="0"/>
          </a:p>
        </p:txBody>
      </p:sp>
      <p:sp>
        <p:nvSpPr>
          <p:cNvPr id="5" name="Text 3"/>
          <p:cNvSpPr/>
          <p:nvPr/>
        </p:nvSpPr>
        <p:spPr>
          <a:xfrm>
            <a:off x="812800" y="4380471"/>
            <a:ext cx="85026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B5E"/>
                </a:solidFill>
                <a:latin typeface="Inter" pitchFamily="34" charset="0"/>
                <a:ea typeface="Inter" pitchFamily="34" charset="-122"/>
                <a:cs typeface="Inter" pitchFamily="34" charset="-120"/>
              </a:rPr>
              <a:t>Creare gli indici corretti e verificare l’abbattimento dei costi rileggendo il nuovo access plan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MATTINA · PERCORSO</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Cinque fasi, </a:t>
            </a:r>
            <a:r>
              <a:rPr lang="en-US" sz="3000" b="1" i="0" kern="0" spc="-60" dirty="0">
                <a:solidFill>
                  <a:srgbClr val="2E6BD1"/>
                </a:solidFill>
                <a:latin typeface="Inter" pitchFamily="34" charset="0"/>
                <a:ea typeface="Inter" pitchFamily="34" charset="-122"/>
                <a:cs typeface="Inter" pitchFamily="34" charset="-120"/>
              </a:rPr>
              <a:t>un piano che cambia</a:t>
            </a:r>
            <a:endParaRPr lang="en-US" sz="3000" dirty="0"/>
          </a:p>
        </p:txBody>
      </p:sp>
      <p:sp>
        <p:nvSpPr>
          <p:cNvPr id="4" name="Shape 2"/>
          <p:cNvSpPr/>
          <p:nvPr/>
        </p:nvSpPr>
        <p:spPr>
          <a:xfrm>
            <a:off x="812800" y="1851658"/>
            <a:ext cx="2113280" cy="1437640"/>
          </a:xfrm>
          <a:prstGeom prst="rect">
            <a:avLst/>
          </a:prstGeom>
          <a:solidFill>
            <a:srgbClr val="FFFFFF"/>
          </a:solidFill>
          <a:ln/>
        </p:spPr>
        <p:txBody>
          <a:bodyPr/>
          <a:lstStyle/>
          <a:p>
            <a:endParaRPr lang="it-IT"/>
          </a:p>
        </p:txBody>
      </p:sp>
      <p:sp>
        <p:nvSpPr>
          <p:cNvPr id="5" name="Shape 3"/>
          <p:cNvSpPr/>
          <p:nvPr/>
        </p:nvSpPr>
        <p:spPr>
          <a:xfrm>
            <a:off x="812800" y="1864358"/>
            <a:ext cx="2113280" cy="0"/>
          </a:xfrm>
          <a:prstGeom prst="line">
            <a:avLst/>
          </a:prstGeom>
          <a:noFill/>
          <a:ln w="25400">
            <a:solidFill>
              <a:srgbClr val="94A3B8"/>
            </a:solidFill>
            <a:prstDash val="solid"/>
          </a:ln>
        </p:spPr>
        <p:txBody>
          <a:bodyPr/>
          <a:lstStyle/>
          <a:p>
            <a:endParaRPr lang="it-IT"/>
          </a:p>
        </p:txBody>
      </p:sp>
      <p:sp>
        <p:nvSpPr>
          <p:cNvPr id="6" name="Text 4"/>
          <p:cNvSpPr/>
          <p:nvPr/>
        </p:nvSpPr>
        <p:spPr>
          <a:xfrm>
            <a:off x="101600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B80"/>
                </a:solidFill>
                <a:latin typeface="Inter" pitchFamily="34" charset="0"/>
                <a:ea typeface="Inter" pitchFamily="34" charset="-122"/>
                <a:cs typeface="Inter" pitchFamily="34" charset="-120"/>
              </a:rPr>
              <a:t>FASE 1</a:t>
            </a:r>
            <a:endParaRPr lang="en-US" sz="1200" dirty="0"/>
          </a:p>
        </p:txBody>
      </p:sp>
      <p:sp>
        <p:nvSpPr>
          <p:cNvPr id="7" name="Text 5"/>
          <p:cNvSpPr/>
          <p:nvPr/>
        </p:nvSpPr>
        <p:spPr>
          <a:xfrm>
            <a:off x="1016000" y="2369827"/>
            <a:ext cx="175808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Baseline</a:t>
            </a:r>
            <a:endParaRPr lang="en-US" sz="1400" dirty="0"/>
          </a:p>
        </p:txBody>
      </p:sp>
      <p:sp>
        <p:nvSpPr>
          <p:cNvPr id="8" name="Text 6"/>
          <p:cNvSpPr/>
          <p:nvPr/>
        </p:nvSpPr>
        <p:spPr>
          <a:xfrm>
            <a:off x="1016000" y="2659385"/>
            <a:ext cx="1758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Hash Join e Full Scan su ORDINI</a:t>
            </a:r>
            <a:endParaRPr lang="en-US" sz="1200" dirty="0"/>
          </a:p>
        </p:txBody>
      </p:sp>
      <p:sp>
        <p:nvSpPr>
          <p:cNvPr id="9" name="Shape 7"/>
          <p:cNvSpPr/>
          <p:nvPr/>
        </p:nvSpPr>
        <p:spPr>
          <a:xfrm>
            <a:off x="2926080" y="1851658"/>
            <a:ext cx="2113280" cy="1437640"/>
          </a:xfrm>
          <a:prstGeom prst="rect">
            <a:avLst/>
          </a:prstGeom>
          <a:solidFill>
            <a:srgbClr val="FFFFFF"/>
          </a:solidFill>
          <a:ln/>
        </p:spPr>
        <p:txBody>
          <a:bodyPr/>
          <a:lstStyle/>
          <a:p>
            <a:endParaRPr lang="it-IT"/>
          </a:p>
        </p:txBody>
      </p:sp>
      <p:sp>
        <p:nvSpPr>
          <p:cNvPr id="10" name="Shape 8"/>
          <p:cNvSpPr/>
          <p:nvPr/>
        </p:nvSpPr>
        <p:spPr>
          <a:xfrm>
            <a:off x="2926080" y="1864358"/>
            <a:ext cx="2113280" cy="0"/>
          </a:xfrm>
          <a:prstGeom prst="line">
            <a:avLst/>
          </a:prstGeom>
          <a:noFill/>
          <a:ln w="25400">
            <a:solidFill>
              <a:srgbClr val="2E6BD1"/>
            </a:solidFill>
            <a:prstDash val="solid"/>
          </a:ln>
        </p:spPr>
        <p:txBody>
          <a:bodyPr/>
          <a:lstStyle/>
          <a:p>
            <a:endParaRPr lang="it-IT"/>
          </a:p>
        </p:txBody>
      </p:sp>
      <p:sp>
        <p:nvSpPr>
          <p:cNvPr id="11" name="Text 9"/>
          <p:cNvSpPr/>
          <p:nvPr/>
        </p:nvSpPr>
        <p:spPr>
          <a:xfrm>
            <a:off x="312928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FASE 2</a:t>
            </a:r>
            <a:endParaRPr lang="en-US" sz="1200" dirty="0"/>
          </a:p>
        </p:txBody>
      </p:sp>
      <p:sp>
        <p:nvSpPr>
          <p:cNvPr id="12" name="Text 10"/>
          <p:cNvSpPr/>
          <p:nvPr/>
        </p:nvSpPr>
        <p:spPr>
          <a:xfrm>
            <a:off x="3129280" y="2369827"/>
            <a:ext cx="175808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Indice</a:t>
            </a:r>
            <a:endParaRPr lang="en-US" sz="1400" dirty="0"/>
          </a:p>
        </p:txBody>
      </p:sp>
      <p:sp>
        <p:nvSpPr>
          <p:cNvPr id="13" name="Text 11"/>
          <p:cNvSpPr/>
          <p:nvPr/>
        </p:nvSpPr>
        <p:spPr>
          <a:xfrm>
            <a:off x="3129280" y="2659385"/>
            <a:ext cx="1758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Sulla chiave esterna cliente_id</a:t>
            </a:r>
            <a:endParaRPr lang="en-US" sz="1200" dirty="0"/>
          </a:p>
        </p:txBody>
      </p:sp>
      <p:sp>
        <p:nvSpPr>
          <p:cNvPr id="14" name="Shape 12"/>
          <p:cNvSpPr/>
          <p:nvPr/>
        </p:nvSpPr>
        <p:spPr>
          <a:xfrm>
            <a:off x="5039360" y="1851658"/>
            <a:ext cx="2113280" cy="1437640"/>
          </a:xfrm>
          <a:prstGeom prst="rect">
            <a:avLst/>
          </a:prstGeom>
          <a:solidFill>
            <a:srgbClr val="FFFFFF"/>
          </a:solidFill>
          <a:ln/>
        </p:spPr>
        <p:txBody>
          <a:bodyPr/>
          <a:lstStyle/>
          <a:p>
            <a:endParaRPr lang="it-IT"/>
          </a:p>
        </p:txBody>
      </p:sp>
      <p:sp>
        <p:nvSpPr>
          <p:cNvPr id="15" name="Shape 13"/>
          <p:cNvSpPr/>
          <p:nvPr/>
        </p:nvSpPr>
        <p:spPr>
          <a:xfrm>
            <a:off x="5039360" y="1864358"/>
            <a:ext cx="2113280" cy="0"/>
          </a:xfrm>
          <a:prstGeom prst="line">
            <a:avLst/>
          </a:prstGeom>
          <a:noFill/>
          <a:ln w="25400">
            <a:solidFill>
              <a:srgbClr val="2E6BD1"/>
            </a:solidFill>
            <a:prstDash val="solid"/>
          </a:ln>
        </p:spPr>
        <p:txBody>
          <a:bodyPr/>
          <a:lstStyle/>
          <a:p>
            <a:endParaRPr lang="it-IT"/>
          </a:p>
        </p:txBody>
      </p:sp>
      <p:sp>
        <p:nvSpPr>
          <p:cNvPr id="16" name="Text 14"/>
          <p:cNvSpPr/>
          <p:nvPr/>
        </p:nvSpPr>
        <p:spPr>
          <a:xfrm>
            <a:off x="524256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FASE 3</a:t>
            </a:r>
            <a:endParaRPr lang="en-US" sz="1200" dirty="0"/>
          </a:p>
        </p:txBody>
      </p:sp>
      <p:sp>
        <p:nvSpPr>
          <p:cNvPr id="17" name="Text 15"/>
          <p:cNvSpPr/>
          <p:nvPr/>
        </p:nvSpPr>
        <p:spPr>
          <a:xfrm>
            <a:off x="5242560" y="2369827"/>
            <a:ext cx="175808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Trasformazione</a:t>
            </a:r>
            <a:endParaRPr lang="en-US" sz="1400" dirty="0"/>
          </a:p>
        </p:txBody>
      </p:sp>
      <p:sp>
        <p:nvSpPr>
          <p:cNvPr id="18" name="Text 16"/>
          <p:cNvSpPr/>
          <p:nvPr/>
        </p:nvSpPr>
        <p:spPr>
          <a:xfrm>
            <a:off x="5242560" y="2659385"/>
            <a:ext cx="1758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Cartesiano 1×N, Hash Join, Nested Loops</a:t>
            </a:r>
            <a:endParaRPr lang="en-US" sz="1200" dirty="0"/>
          </a:p>
        </p:txBody>
      </p:sp>
      <p:sp>
        <p:nvSpPr>
          <p:cNvPr id="19" name="Shape 17"/>
          <p:cNvSpPr/>
          <p:nvPr/>
        </p:nvSpPr>
        <p:spPr>
          <a:xfrm>
            <a:off x="7152640" y="1851658"/>
            <a:ext cx="2113280" cy="1437640"/>
          </a:xfrm>
          <a:prstGeom prst="rect">
            <a:avLst/>
          </a:prstGeom>
          <a:solidFill>
            <a:srgbClr val="FFFFFF"/>
          </a:solidFill>
          <a:ln/>
        </p:spPr>
        <p:txBody>
          <a:bodyPr/>
          <a:lstStyle/>
          <a:p>
            <a:endParaRPr lang="it-IT"/>
          </a:p>
        </p:txBody>
      </p:sp>
      <p:sp>
        <p:nvSpPr>
          <p:cNvPr id="20" name="Shape 18"/>
          <p:cNvSpPr/>
          <p:nvPr/>
        </p:nvSpPr>
        <p:spPr>
          <a:xfrm>
            <a:off x="7152640" y="1864358"/>
            <a:ext cx="2113280" cy="0"/>
          </a:xfrm>
          <a:prstGeom prst="line">
            <a:avLst/>
          </a:prstGeom>
          <a:noFill/>
          <a:ln w="25400">
            <a:solidFill>
              <a:srgbClr val="2E6BD1"/>
            </a:solidFill>
            <a:prstDash val="solid"/>
          </a:ln>
        </p:spPr>
        <p:txBody>
          <a:bodyPr/>
          <a:lstStyle/>
          <a:p>
            <a:endParaRPr lang="it-IT"/>
          </a:p>
        </p:txBody>
      </p:sp>
      <p:sp>
        <p:nvSpPr>
          <p:cNvPr id="21" name="Text 19"/>
          <p:cNvSpPr/>
          <p:nvPr/>
        </p:nvSpPr>
        <p:spPr>
          <a:xfrm>
            <a:off x="735584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FASE 4</a:t>
            </a:r>
            <a:endParaRPr lang="en-US" sz="1200" dirty="0"/>
          </a:p>
        </p:txBody>
      </p:sp>
      <p:sp>
        <p:nvSpPr>
          <p:cNvPr id="22" name="Text 20"/>
          <p:cNvSpPr/>
          <p:nvPr/>
        </p:nvSpPr>
        <p:spPr>
          <a:xfrm>
            <a:off x="7355840" y="2369827"/>
            <a:ext cx="175808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Trappola</a:t>
            </a:r>
            <a:endParaRPr lang="en-US" sz="1400" dirty="0"/>
          </a:p>
        </p:txBody>
      </p:sp>
      <p:sp>
        <p:nvSpPr>
          <p:cNvPr id="23" name="Text 21"/>
          <p:cNvSpPr/>
          <p:nvPr/>
        </p:nvSpPr>
        <p:spPr>
          <a:xfrm>
            <a:off x="7355840" y="2659385"/>
            <a:ext cx="17580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TRUNC() fa ignorare l’indice</a:t>
            </a:r>
            <a:endParaRPr lang="en-US" sz="1200" dirty="0"/>
          </a:p>
        </p:txBody>
      </p:sp>
      <p:sp>
        <p:nvSpPr>
          <p:cNvPr id="24" name="Shape 22"/>
          <p:cNvSpPr/>
          <p:nvPr/>
        </p:nvSpPr>
        <p:spPr>
          <a:xfrm>
            <a:off x="9265920" y="1851658"/>
            <a:ext cx="2113280" cy="1437640"/>
          </a:xfrm>
          <a:prstGeom prst="rect">
            <a:avLst/>
          </a:prstGeom>
          <a:solidFill>
            <a:srgbClr val="0F1B2D"/>
          </a:solidFill>
          <a:ln/>
        </p:spPr>
        <p:txBody>
          <a:bodyPr/>
          <a:lstStyle/>
          <a:p>
            <a:endParaRPr lang="it-IT"/>
          </a:p>
        </p:txBody>
      </p:sp>
      <p:sp>
        <p:nvSpPr>
          <p:cNvPr id="25" name="Shape 23"/>
          <p:cNvSpPr/>
          <p:nvPr/>
        </p:nvSpPr>
        <p:spPr>
          <a:xfrm>
            <a:off x="9265920" y="1864358"/>
            <a:ext cx="2113280" cy="0"/>
          </a:xfrm>
          <a:prstGeom prst="line">
            <a:avLst/>
          </a:prstGeom>
          <a:noFill/>
          <a:ln w="25400">
            <a:solidFill>
              <a:srgbClr val="2E6BD1"/>
            </a:solidFill>
            <a:prstDash val="solid"/>
          </a:ln>
        </p:spPr>
        <p:txBody>
          <a:bodyPr/>
          <a:lstStyle/>
          <a:p>
            <a:endParaRPr lang="it-IT"/>
          </a:p>
        </p:txBody>
      </p:sp>
      <p:sp>
        <p:nvSpPr>
          <p:cNvPr id="26" name="Text 24"/>
          <p:cNvSpPr/>
          <p:nvPr/>
        </p:nvSpPr>
        <p:spPr>
          <a:xfrm>
            <a:off x="9469120" y="2080258"/>
            <a:ext cx="175808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FASE 5</a:t>
            </a:r>
            <a:endParaRPr lang="en-US" sz="1200" dirty="0"/>
          </a:p>
        </p:txBody>
      </p:sp>
      <p:sp>
        <p:nvSpPr>
          <p:cNvPr id="27" name="Text 25"/>
          <p:cNvSpPr/>
          <p:nvPr/>
        </p:nvSpPr>
        <p:spPr>
          <a:xfrm>
            <a:off x="9469120" y="2369827"/>
            <a:ext cx="175808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6F8FB"/>
                </a:solidFill>
                <a:latin typeface="Inter" pitchFamily="34" charset="0"/>
                <a:ea typeface="Inter" pitchFamily="34" charset="-122"/>
                <a:cs typeface="Inter" pitchFamily="34" charset="-120"/>
              </a:rPr>
              <a:t>Soluzione</a:t>
            </a:r>
            <a:endParaRPr lang="en-US" sz="1400" dirty="0"/>
          </a:p>
        </p:txBody>
      </p:sp>
      <p:sp>
        <p:nvSpPr>
          <p:cNvPr id="28" name="Text 26"/>
          <p:cNvSpPr/>
          <p:nvPr/>
        </p:nvSpPr>
        <p:spPr>
          <a:xfrm>
            <a:off x="9469120" y="2659385"/>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8"/>
                </a:solidFill>
                <a:latin typeface="Inter" pitchFamily="34" charset="0"/>
                <a:ea typeface="Inter" pitchFamily="34" charset="-122"/>
                <a:cs typeface="Inter" pitchFamily="34" charset="-120"/>
              </a:rPr>
              <a:t>Function-based index</a:t>
            </a:r>
            <a:endParaRPr lang="en-US" sz="1200" dirty="0"/>
          </a:p>
        </p:txBody>
      </p:sp>
      <p:sp>
        <p:nvSpPr>
          <p:cNvPr id="29" name="Text 27"/>
          <p:cNvSpPr/>
          <p:nvPr/>
        </p:nvSpPr>
        <p:spPr>
          <a:xfrm>
            <a:off x="812800" y="3594100"/>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Ogni query ha un’etichetta nel commento (LAB_DAY2_…): serve a ritrovare il suo SQL_ID in V$SQL.</a:t>
            </a:r>
            <a:endParaRPr lang="en-US" sz="1300" dirty="0"/>
          </a:p>
        </p:txBody>
      </p:sp>
      <p:sp>
        <p:nvSpPr>
          <p:cNvPr id="30" name="Text 2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MATTINA · PREPARAZIONE</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Prima di iniziare</a:t>
            </a:r>
            <a:endParaRPr lang="en-US" sz="3000" dirty="0"/>
          </a:p>
        </p:txBody>
      </p:sp>
      <p:sp>
        <p:nvSpPr>
          <p:cNvPr id="4" name="Text 2"/>
          <p:cNvSpPr/>
          <p:nvPr/>
        </p:nvSpPr>
        <p:spPr>
          <a:xfrm>
            <a:off x="812800" y="1800858"/>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1 · CHIAVE PRIMARIA SU CLIENTI</a:t>
            </a:r>
            <a:endParaRPr lang="en-US" sz="1200" dirty="0"/>
          </a:p>
        </p:txBody>
      </p:sp>
      <p:sp>
        <p:nvSpPr>
          <p:cNvPr id="5" name="Text 3"/>
          <p:cNvSpPr/>
          <p:nvPr/>
        </p:nvSpPr>
        <p:spPr>
          <a:xfrm>
            <a:off x="812800" y="2115827"/>
            <a:ext cx="5181600" cy="96774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ALTER TABLE clienti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ADD CONSTRAINT pk_clienti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PRIMARY KEY (cliente_id);</a:t>
            </a:r>
            <a:endParaRPr lang="en-US" sz="1200" dirty="0"/>
          </a:p>
        </p:txBody>
      </p:sp>
      <p:sp>
        <p:nvSpPr>
          <p:cNvPr id="6" name="Text 4"/>
          <p:cNvSpPr/>
          <p:nvPr/>
        </p:nvSpPr>
        <p:spPr>
          <a:xfrm>
            <a:off x="812800" y="3185158"/>
            <a:ext cx="5337048"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Il Giorno 1 non l’abbiamo creata: serve per la Fase 3.</a:t>
            </a:r>
            <a:endParaRPr lang="en-US" sz="1200" dirty="0"/>
          </a:p>
        </p:txBody>
      </p:sp>
      <p:sp>
        <p:nvSpPr>
          <p:cNvPr id="7" name="Text 5"/>
          <p:cNvSpPr/>
          <p:nvPr/>
        </p:nvSpPr>
        <p:spPr>
          <a:xfrm>
            <a:off x="6197600" y="1800858"/>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2 · IL “KIT” DA RIUSARE A OGNI PASSO</a:t>
            </a:r>
            <a:endParaRPr lang="en-US" sz="1200" dirty="0"/>
          </a:p>
        </p:txBody>
      </p:sp>
      <p:sp>
        <p:nvSpPr>
          <p:cNvPr id="8" name="Text 6"/>
          <p:cNvSpPr/>
          <p:nvPr/>
        </p:nvSpPr>
        <p:spPr>
          <a:xfrm>
            <a:off x="6197600" y="2115827"/>
            <a:ext cx="5181600" cy="207264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sql_id, child_number, sql_text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v$sql</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sql_text LIKE '%LAB_DAY2_xxx%'</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sql_text NOT LIKE '%v$sql%';</a:t>
            </a:r>
            <a:endParaRPr lang="en-US" sz="1200" dirty="0"/>
          </a:p>
          <a:p>
            <a:pPr marL="0" indent="0" algn="l">
              <a:lnSpc>
                <a:spcPts val="1740"/>
              </a:lnSpc>
              <a:buNone/>
            </a:pP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FROM TABLE(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DBMS_XPLAN.DISPLAY_CURSOR(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'&lt;sql_id&gt;', NULL, 'ALLSTATS LAST'));</a:t>
            </a:r>
            <a:endParaRPr lang="en-US" sz="12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1 · BASELINE</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Il problema </a:t>
            </a:r>
            <a:r>
              <a:rPr lang="en-US" sz="3000" b="1" i="0" kern="0" spc="-60" dirty="0">
                <a:solidFill>
                  <a:srgbClr val="2E6BD1"/>
                </a:solidFill>
                <a:latin typeface="Inter" pitchFamily="34" charset="0"/>
                <a:ea typeface="Inter" pitchFamily="34" charset="-122"/>
                <a:cs typeface="Inter" pitchFamily="34" charset="-120"/>
              </a:rPr>
              <a:t>di partenza</a:t>
            </a:r>
            <a:endParaRPr lang="en-US" sz="3000" dirty="0"/>
          </a:p>
        </p:txBody>
      </p:sp>
      <p:sp>
        <p:nvSpPr>
          <p:cNvPr id="4" name="Text 2"/>
          <p:cNvSpPr/>
          <p:nvPr/>
        </p:nvSpPr>
        <p:spPr>
          <a:xfrm>
            <a:off x="812800" y="1800858"/>
            <a:ext cx="6106160" cy="234442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GATHER_PLAN_STATISTICS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LAB_DAY2_START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c.nome, o.data_ordine, o.importo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clienti 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ordini o ON c.cliente_id = o.cliente_id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c.cliente_id = 450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o.stato = 'IN_ATTESA';</a:t>
            </a:r>
            <a:endParaRPr lang="en-US" sz="1200" dirty="0"/>
          </a:p>
          <a:p>
            <a:pPr marL="0" indent="0" algn="l">
              <a:lnSpc>
                <a:spcPts val="1740"/>
              </a:lnSpc>
              <a:buNone/>
            </a:pP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poi: il kit (V$SQL + DISPLAY_CURSOR)</a:t>
            </a:r>
            <a:endParaRPr lang="en-US" sz="1200" dirty="0"/>
          </a:p>
        </p:txBody>
      </p:sp>
      <p:sp>
        <p:nvSpPr>
          <p:cNvPr id="5" name="Shape 3"/>
          <p:cNvSpPr/>
          <p:nvPr/>
        </p:nvSpPr>
        <p:spPr>
          <a:xfrm>
            <a:off x="7172960" y="1800858"/>
            <a:ext cx="4206240" cy="1871980"/>
          </a:xfrm>
          <a:prstGeom prst="rect">
            <a:avLst/>
          </a:prstGeom>
          <a:solidFill>
            <a:srgbClr val="FFFFFF"/>
          </a:solidFill>
          <a:ln/>
        </p:spPr>
        <p:txBody>
          <a:bodyPr/>
          <a:lstStyle/>
          <a:p>
            <a:endParaRPr lang="it-IT"/>
          </a:p>
        </p:txBody>
      </p:sp>
      <p:sp>
        <p:nvSpPr>
          <p:cNvPr id="6" name="Shape 4"/>
          <p:cNvSpPr/>
          <p:nvPr/>
        </p:nvSpPr>
        <p:spPr>
          <a:xfrm>
            <a:off x="7172960" y="1813558"/>
            <a:ext cx="4206240" cy="0"/>
          </a:xfrm>
          <a:prstGeom prst="line">
            <a:avLst/>
          </a:prstGeom>
          <a:noFill/>
          <a:ln w="25400">
            <a:solidFill>
              <a:srgbClr val="2E6BD1"/>
            </a:solidFill>
            <a:prstDash val="solid"/>
          </a:ln>
        </p:spPr>
        <p:txBody>
          <a:bodyPr/>
          <a:lstStyle/>
          <a:p>
            <a:endParaRPr lang="it-IT"/>
          </a:p>
        </p:txBody>
      </p:sp>
      <p:sp>
        <p:nvSpPr>
          <p:cNvPr id="7" name="Text 5"/>
          <p:cNvSpPr/>
          <p:nvPr/>
        </p:nvSpPr>
        <p:spPr>
          <a:xfrm>
            <a:off x="7376160" y="20294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COSA EVIDENZIARE</a:t>
            </a:r>
            <a:endParaRPr lang="en-US" sz="1200" dirty="0"/>
          </a:p>
        </p:txBody>
      </p:sp>
      <p:sp>
        <p:nvSpPr>
          <p:cNvPr id="8" name="Text 6"/>
          <p:cNvSpPr/>
          <p:nvPr/>
        </p:nvSpPr>
        <p:spPr>
          <a:xfrm>
            <a:off x="7376160" y="2357127"/>
            <a:ext cx="391383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Oracle trova subito il cliente 450…</a:t>
            </a:r>
            <a:endParaRPr lang="en-US" sz="1200" dirty="0"/>
          </a:p>
        </p:txBody>
      </p:sp>
      <p:sp>
        <p:nvSpPr>
          <p:cNvPr id="9" name="Text 7"/>
          <p:cNvSpPr/>
          <p:nvPr/>
        </p:nvSpPr>
        <p:spPr>
          <a:xfrm>
            <a:off x="7376160" y="2692400"/>
            <a:ext cx="3913835"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…ma per i suoi ordini deve fare </a:t>
            </a:r>
            <a:r>
              <a:rPr lang="en-US" sz="1200" b="1" dirty="0">
                <a:solidFill>
                  <a:srgbClr val="3D4B5E"/>
                </a:solidFill>
                <a:latin typeface="Inter" pitchFamily="34" charset="0"/>
                <a:ea typeface="Inter" pitchFamily="34" charset="-122"/>
                <a:cs typeface="Inter" pitchFamily="34" charset="-120"/>
              </a:rPr>
              <a:t>TABLE ACCESS FULL</a:t>
            </a:r>
            <a:r>
              <a:rPr lang="en-US" sz="1200" dirty="0">
                <a:solidFill>
                  <a:srgbClr val="3D4B5E"/>
                </a:solidFill>
                <a:latin typeface="Inter" pitchFamily="34" charset="0"/>
                <a:ea typeface="Inter" pitchFamily="34" charset="-122"/>
                <a:cs typeface="Inter" pitchFamily="34" charset="-120"/>
              </a:rPr>
              <a:t> su 500.000 righe.</a:t>
            </a:r>
            <a:endParaRPr lang="en-US" sz="1200" dirty="0"/>
          </a:p>
        </p:txBody>
      </p:sp>
      <p:sp>
        <p:nvSpPr>
          <p:cNvPr id="10" name="Text 8"/>
          <p:cNvSpPr/>
          <p:nvPr/>
        </p:nvSpPr>
        <p:spPr>
          <a:xfrm>
            <a:off x="7376160" y="3248658"/>
            <a:ext cx="4003040" cy="24638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3D4B5E"/>
                </a:solidFill>
                <a:latin typeface="Inter" pitchFamily="34" charset="0"/>
                <a:ea typeface="Inter" pitchFamily="34" charset="-122"/>
                <a:cs typeface="Inter" pitchFamily="34" charset="-120"/>
              </a:rPr>
              <a:t>Buffers</a:t>
            </a:r>
            <a:r>
              <a:rPr lang="en-US" sz="1200" dirty="0">
                <a:solidFill>
                  <a:srgbClr val="3D4B5E"/>
                </a:solidFill>
                <a:latin typeface="Inter" pitchFamily="34" charset="0"/>
                <a:ea typeface="Inter" pitchFamily="34" charset="-122"/>
                <a:cs typeface="Inter" pitchFamily="34" charset="-120"/>
              </a:rPr>
              <a:t> altissimi per restituire una manciata di righe.</a:t>
            </a:r>
            <a:endParaRPr lang="en-US" sz="1200" dirty="0"/>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2 · CREAZIONE DELL’INDICE</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Una riga </a:t>
            </a:r>
            <a:r>
              <a:rPr lang="en-US" sz="3000" b="1" i="0" kern="0" spc="-60" dirty="0">
                <a:solidFill>
                  <a:srgbClr val="2E6BD1"/>
                </a:solidFill>
                <a:latin typeface="Inter" pitchFamily="34" charset="0"/>
                <a:ea typeface="Inter" pitchFamily="34" charset="-122"/>
                <a:cs typeface="Inter" pitchFamily="34" charset="-120"/>
              </a:rPr>
              <a:t>di codice</a:t>
            </a:r>
            <a:endParaRPr lang="en-US" sz="3000" dirty="0"/>
          </a:p>
        </p:txBody>
      </p:sp>
      <p:sp>
        <p:nvSpPr>
          <p:cNvPr id="4" name="Text 2"/>
          <p:cNvSpPr/>
          <p:nvPr/>
        </p:nvSpPr>
        <p:spPr>
          <a:xfrm>
            <a:off x="812800" y="1800858"/>
            <a:ext cx="10566400" cy="1336040"/>
          </a:xfrm>
          <a:prstGeom prst="rect">
            <a:avLst/>
          </a:prstGeom>
          <a:solidFill>
            <a:srgbClr val="0F1B2D"/>
          </a:solidFill>
          <a:ln/>
        </p:spPr>
        <p:txBody>
          <a:bodyPr wrap="square" lIns="355600" tIns="304800" rIns="59944" bIns="279400" rtlCol="0" anchor="t">
            <a:normAutofit/>
          </a:bodyPr>
          <a:lstStyle/>
          <a:p>
            <a:pPr marL="0" indent="0" algn="l">
              <a:lnSpc>
                <a:spcPts val="2860"/>
              </a:lnSpc>
              <a:buNone/>
            </a:pPr>
            <a:r>
              <a:rPr lang="en-US" sz="2200" dirty="0">
                <a:solidFill>
                  <a:srgbClr val="F6F8FB"/>
                </a:solidFill>
                <a:latin typeface="JetBrains Mono" pitchFamily="49" charset="0"/>
                <a:ea typeface="JetBrains Mono" pitchFamily="49" charset="-122"/>
                <a:cs typeface="JetBrains Mono" pitchFamily="49" charset="-120"/>
              </a:rPr>
              <a:t>CREATE INDEX idx_ordini_cliente</a:t>
            </a:r>
            <a:endParaRPr lang="en-US" sz="2200" dirty="0"/>
          </a:p>
          <a:p>
            <a:pPr marL="0" indent="0" algn="l">
              <a:lnSpc>
                <a:spcPts val="2860"/>
              </a:lnSpc>
              <a:buNone/>
            </a:pPr>
            <a:r>
              <a:rPr lang="en-US" sz="2200" dirty="0">
                <a:solidFill>
                  <a:srgbClr val="F6F8FB"/>
                </a:solidFill>
                <a:latin typeface="JetBrains Mono" pitchFamily="49" charset="0"/>
                <a:ea typeface="JetBrains Mono" pitchFamily="49" charset="-122"/>
                <a:cs typeface="JetBrains Mono" pitchFamily="49" charset="-120"/>
              </a:rPr>
              <a:t>  ON ordini(cliente_id);</a:t>
            </a:r>
            <a:endParaRPr lang="en-US" sz="2200" dirty="0"/>
          </a:p>
        </p:txBody>
      </p:sp>
      <p:sp>
        <p:nvSpPr>
          <p:cNvPr id="5" name="Shape 3"/>
          <p:cNvSpPr/>
          <p:nvPr/>
        </p:nvSpPr>
        <p:spPr>
          <a:xfrm>
            <a:off x="812800" y="3390900"/>
            <a:ext cx="5207000" cy="1084580"/>
          </a:xfrm>
          <a:prstGeom prst="rect">
            <a:avLst/>
          </a:prstGeom>
          <a:solidFill>
            <a:srgbClr val="FFFFFF"/>
          </a:solidFill>
          <a:ln/>
        </p:spPr>
        <p:txBody>
          <a:bodyPr/>
          <a:lstStyle/>
          <a:p>
            <a:endParaRPr lang="it-IT"/>
          </a:p>
        </p:txBody>
      </p:sp>
      <p:sp>
        <p:nvSpPr>
          <p:cNvPr id="6" name="Shape 4"/>
          <p:cNvSpPr/>
          <p:nvPr/>
        </p:nvSpPr>
        <p:spPr>
          <a:xfrm>
            <a:off x="812800" y="3403600"/>
            <a:ext cx="5207000" cy="0"/>
          </a:xfrm>
          <a:prstGeom prst="line">
            <a:avLst/>
          </a:prstGeom>
          <a:noFill/>
          <a:ln w="25400">
            <a:solidFill>
              <a:srgbClr val="2E6BD1"/>
            </a:solidFill>
            <a:prstDash val="solid"/>
          </a:ln>
        </p:spPr>
        <p:txBody>
          <a:bodyPr/>
          <a:lstStyle/>
          <a:p>
            <a:endParaRPr lang="it-IT"/>
          </a:p>
        </p:txBody>
      </p:sp>
      <p:sp>
        <p:nvSpPr>
          <p:cNvPr id="7" name="Text 5"/>
          <p:cNvSpPr/>
          <p:nvPr/>
        </p:nvSpPr>
        <p:spPr>
          <a:xfrm>
            <a:off x="990600" y="3594100"/>
            <a:ext cx="49969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La regola d’oro</a:t>
            </a:r>
            <a:endParaRPr lang="en-US" sz="1400" dirty="0"/>
          </a:p>
        </p:txBody>
      </p:sp>
      <p:sp>
        <p:nvSpPr>
          <p:cNvPr id="8" name="Text 6"/>
          <p:cNvSpPr/>
          <p:nvPr/>
        </p:nvSpPr>
        <p:spPr>
          <a:xfrm>
            <a:off x="990600" y="3870958"/>
            <a:ext cx="49969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Le foreign key si indicizzano: altrimenti ogni join è un Full Scan della tabella figlia.</a:t>
            </a:r>
            <a:endParaRPr lang="en-US" sz="1200" dirty="0"/>
          </a:p>
        </p:txBody>
      </p:sp>
      <p:sp>
        <p:nvSpPr>
          <p:cNvPr id="9" name="Shape 7"/>
          <p:cNvSpPr/>
          <p:nvPr/>
        </p:nvSpPr>
        <p:spPr>
          <a:xfrm>
            <a:off x="6172200" y="3390900"/>
            <a:ext cx="5207000" cy="1084580"/>
          </a:xfrm>
          <a:prstGeom prst="rect">
            <a:avLst/>
          </a:prstGeom>
          <a:solidFill>
            <a:srgbClr val="FFFFFF"/>
          </a:solidFill>
          <a:ln/>
        </p:spPr>
        <p:txBody>
          <a:bodyPr/>
          <a:lstStyle/>
          <a:p>
            <a:endParaRPr lang="it-IT"/>
          </a:p>
        </p:txBody>
      </p:sp>
      <p:sp>
        <p:nvSpPr>
          <p:cNvPr id="10" name="Shape 8"/>
          <p:cNvSpPr/>
          <p:nvPr/>
        </p:nvSpPr>
        <p:spPr>
          <a:xfrm>
            <a:off x="6172200" y="3403600"/>
            <a:ext cx="5207000" cy="0"/>
          </a:xfrm>
          <a:prstGeom prst="line">
            <a:avLst/>
          </a:prstGeom>
          <a:noFill/>
          <a:ln w="25400">
            <a:solidFill>
              <a:srgbClr val="2E6BD1"/>
            </a:solidFill>
            <a:prstDash val="solid"/>
          </a:ln>
        </p:spPr>
        <p:txBody>
          <a:bodyPr/>
          <a:lstStyle/>
          <a:p>
            <a:endParaRPr lang="it-IT"/>
          </a:p>
        </p:txBody>
      </p:sp>
      <p:sp>
        <p:nvSpPr>
          <p:cNvPr id="11" name="Text 9"/>
          <p:cNvSpPr/>
          <p:nvPr/>
        </p:nvSpPr>
        <p:spPr>
          <a:xfrm>
            <a:off x="6350000" y="3594100"/>
            <a:ext cx="49969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Verifica</a:t>
            </a:r>
            <a:endParaRPr lang="en-US" sz="1400" dirty="0"/>
          </a:p>
        </p:txBody>
      </p:sp>
      <p:sp>
        <p:nvSpPr>
          <p:cNvPr id="12" name="Text 10"/>
          <p:cNvSpPr/>
          <p:nvPr/>
        </p:nvSpPr>
        <p:spPr>
          <a:xfrm>
            <a:off x="6350000" y="3870958"/>
            <a:ext cx="49969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SELECT index_name, clustering_factor FROM user_indexes;</a:t>
            </a:r>
            <a:endParaRPr lang="en-US" sz="12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3 · LA TRASFORMAZIONE</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Ci aspettiamo un Nested Loops, </a:t>
            </a:r>
            <a:r>
              <a:rPr lang="en-US" sz="3000" b="1" i="0" kern="0" spc="-60" dirty="0">
                <a:solidFill>
                  <a:srgbClr val="2E6BD1"/>
                </a:solidFill>
                <a:latin typeface="Inter" pitchFamily="34" charset="0"/>
                <a:ea typeface="Inter" pitchFamily="34" charset="-122"/>
                <a:cs typeface="Inter" pitchFamily="34" charset="-120"/>
              </a:rPr>
              <a:t>e invece…</a:t>
            </a:r>
            <a:endParaRPr lang="en-US" sz="3000" dirty="0"/>
          </a:p>
        </p:txBody>
      </p:sp>
      <p:sp>
        <p:nvSpPr>
          <p:cNvPr id="4" name="Text 2"/>
          <p:cNvSpPr/>
          <p:nvPr/>
        </p:nvSpPr>
        <p:spPr>
          <a:xfrm>
            <a:off x="812800" y="1800858"/>
            <a:ext cx="6106160" cy="190246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GATHER_PLAN_STATISTICS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LAB_DAY2_FIX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c.nome, o.data_ordine, o.importo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clienti 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ordini o ON c.cliente_id = o.cliente_id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c.cliente_id = 450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o.stato = 'IN_ATTESA';</a:t>
            </a:r>
            <a:endParaRPr lang="en-US" sz="1200" dirty="0"/>
          </a:p>
        </p:txBody>
      </p:sp>
      <p:sp>
        <p:nvSpPr>
          <p:cNvPr id="5" name="Shape 3"/>
          <p:cNvSpPr/>
          <p:nvPr/>
        </p:nvSpPr>
        <p:spPr>
          <a:xfrm>
            <a:off x="7172960" y="1800858"/>
            <a:ext cx="4206240" cy="2098040"/>
          </a:xfrm>
          <a:prstGeom prst="rect">
            <a:avLst/>
          </a:prstGeom>
          <a:solidFill>
            <a:srgbClr val="0F1B2D"/>
          </a:solidFill>
          <a:ln/>
        </p:spPr>
        <p:txBody>
          <a:bodyPr/>
          <a:lstStyle/>
          <a:p>
            <a:endParaRPr lang="it-IT"/>
          </a:p>
        </p:txBody>
      </p:sp>
      <p:sp>
        <p:nvSpPr>
          <p:cNvPr id="6" name="Text 4"/>
          <p:cNvSpPr/>
          <p:nvPr/>
        </p:nvSpPr>
        <p:spPr>
          <a:xfrm>
            <a:off x="7376160" y="20040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9BFF"/>
                </a:solidFill>
                <a:latin typeface="Inter" pitchFamily="34" charset="0"/>
                <a:ea typeface="Inter" pitchFamily="34" charset="-122"/>
                <a:cs typeface="Inter" pitchFamily="34" charset="-120"/>
              </a:rPr>
              <a:t>NEL PIANO</a:t>
            </a:r>
            <a:endParaRPr lang="en-US" sz="1200" dirty="0"/>
          </a:p>
        </p:txBody>
      </p:sp>
      <p:sp>
        <p:nvSpPr>
          <p:cNvPr id="7" name="Text 5"/>
          <p:cNvSpPr/>
          <p:nvPr/>
        </p:nvSpPr>
        <p:spPr>
          <a:xfrm>
            <a:off x="7376160" y="2331727"/>
            <a:ext cx="391383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8FB"/>
                </a:solidFill>
                <a:latin typeface="JetBrains Mono" pitchFamily="49" charset="0"/>
                <a:ea typeface="JetBrains Mono" pitchFamily="49" charset="-122"/>
                <a:cs typeface="JetBrains Mono" pitchFamily="49" charset="-120"/>
              </a:rPr>
              <a:t>MERGE JOIN CARTESIAN</a:t>
            </a:r>
            <a:endParaRPr lang="en-US" sz="1300" dirty="0"/>
          </a:p>
        </p:txBody>
      </p:sp>
      <p:sp>
        <p:nvSpPr>
          <p:cNvPr id="8" name="Text 6"/>
          <p:cNvSpPr/>
          <p:nvPr/>
        </p:nvSpPr>
        <p:spPr>
          <a:xfrm>
            <a:off x="7376160" y="2677158"/>
            <a:ext cx="391383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DB8FF"/>
                </a:solidFill>
                <a:latin typeface="JetBrains Mono" pitchFamily="49" charset="0"/>
                <a:ea typeface="JetBrains Mono" pitchFamily="49" charset="-122"/>
                <a:cs typeface="JetBrains Mono" pitchFamily="49" charset="-120"/>
              </a:rPr>
              <a:t>INDEX RANGE SCAN</a:t>
            </a:r>
            <a:endParaRPr lang="en-US" sz="1300" dirty="0"/>
          </a:p>
          <a:p>
            <a:pPr marL="0" indent="0" algn="l">
              <a:lnSpc>
                <a:spcPts val="1820"/>
              </a:lnSpc>
              <a:buNone/>
            </a:pPr>
            <a:r>
              <a:rPr lang="en-US" sz="1300" dirty="0">
                <a:solidFill>
                  <a:srgbClr val="8DB8FF"/>
                </a:solidFill>
                <a:latin typeface="JetBrains Mono" pitchFamily="49" charset="0"/>
                <a:ea typeface="JetBrains Mono" pitchFamily="49" charset="-122"/>
                <a:cs typeface="JetBrains Mono" pitchFamily="49" charset="-120"/>
              </a:rPr>
              <a:t>IDX_ORDINI_CLIENTE</a:t>
            </a:r>
            <a:endParaRPr lang="en-US" sz="1300" dirty="0"/>
          </a:p>
        </p:txBody>
      </p:sp>
      <p:sp>
        <p:nvSpPr>
          <p:cNvPr id="9" name="Text 7"/>
          <p:cNvSpPr/>
          <p:nvPr/>
        </p:nvSpPr>
        <p:spPr>
          <a:xfrm>
            <a:off x="7376160" y="3253742"/>
            <a:ext cx="3913835"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Buffers crollati rispetto alla baseline. Nessun errore: è l’ottimizzatore che ragiona.</a:t>
            </a:r>
            <a:endParaRPr lang="en-US" sz="12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3 · IL “MISTERO”</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 chiusura </a:t>
            </a:r>
            <a:r>
              <a:rPr lang="en-US" sz="3000" b="1" i="0" kern="0" spc="-60" dirty="0">
                <a:solidFill>
                  <a:srgbClr val="2E6BD1"/>
                </a:solidFill>
                <a:latin typeface="Inter" pitchFamily="34" charset="0"/>
                <a:ea typeface="Inter" pitchFamily="34" charset="-122"/>
                <a:cs typeface="Inter" pitchFamily="34" charset="-120"/>
              </a:rPr>
              <a:t>transitiva</a:t>
            </a:r>
            <a:endParaRPr lang="en-US" sz="3000" dirty="0"/>
          </a:p>
        </p:txBody>
      </p:sp>
      <p:sp>
        <p:nvSpPr>
          <p:cNvPr id="4" name="Shape 2"/>
          <p:cNvSpPr/>
          <p:nvPr/>
        </p:nvSpPr>
        <p:spPr>
          <a:xfrm>
            <a:off x="812800" y="1851658"/>
            <a:ext cx="2641600" cy="1437640"/>
          </a:xfrm>
          <a:prstGeom prst="rect">
            <a:avLst/>
          </a:prstGeom>
          <a:solidFill>
            <a:srgbClr val="FFFFFF"/>
          </a:solidFill>
          <a:ln/>
        </p:spPr>
        <p:txBody>
          <a:bodyPr/>
          <a:lstStyle/>
          <a:p>
            <a:endParaRPr lang="it-IT"/>
          </a:p>
        </p:txBody>
      </p:sp>
      <p:sp>
        <p:nvSpPr>
          <p:cNvPr id="5" name="Shape 3"/>
          <p:cNvSpPr/>
          <p:nvPr/>
        </p:nvSpPr>
        <p:spPr>
          <a:xfrm>
            <a:off x="812800" y="1864358"/>
            <a:ext cx="2641600" cy="0"/>
          </a:xfrm>
          <a:prstGeom prst="line">
            <a:avLst/>
          </a:prstGeom>
          <a:noFill/>
          <a:ln w="25400">
            <a:solidFill>
              <a:srgbClr val="94A3B8"/>
            </a:solidFill>
            <a:prstDash val="solid"/>
          </a:ln>
        </p:spPr>
        <p:txBody>
          <a:bodyPr/>
          <a:lstStyle/>
          <a:p>
            <a:endParaRPr lang="it-IT"/>
          </a:p>
        </p:txBody>
      </p:sp>
      <p:sp>
        <p:nvSpPr>
          <p:cNvPr id="6" name="Text 4"/>
          <p:cNvSpPr/>
          <p:nvPr/>
        </p:nvSpPr>
        <p:spPr>
          <a:xfrm>
            <a:off x="1016000" y="2080258"/>
            <a:ext cx="230225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B80"/>
                </a:solidFill>
                <a:latin typeface="Inter" pitchFamily="34" charset="0"/>
                <a:ea typeface="Inter" pitchFamily="34" charset="-122"/>
                <a:cs typeface="Inter" pitchFamily="34" charset="-120"/>
              </a:rPr>
              <a:t>HAI SCRITTO</a:t>
            </a:r>
            <a:endParaRPr lang="en-US" sz="1200" dirty="0"/>
          </a:p>
        </p:txBody>
      </p:sp>
      <p:sp>
        <p:nvSpPr>
          <p:cNvPr id="7" name="Text 5"/>
          <p:cNvSpPr/>
          <p:nvPr/>
        </p:nvSpPr>
        <p:spPr>
          <a:xfrm>
            <a:off x="1016000" y="2369827"/>
            <a:ext cx="230225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c.id = o.id</a:t>
            </a:r>
            <a:endParaRPr lang="en-US" sz="1200" dirty="0"/>
          </a:p>
          <a:p>
            <a:pPr marL="0" indent="0" algn="l">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c.id = 450</a:t>
            </a:r>
            <a:endParaRPr lang="en-US" sz="1200" dirty="0"/>
          </a:p>
        </p:txBody>
      </p:sp>
      <p:sp>
        <p:nvSpPr>
          <p:cNvPr id="8" name="Shape 6"/>
          <p:cNvSpPr/>
          <p:nvPr/>
        </p:nvSpPr>
        <p:spPr>
          <a:xfrm>
            <a:off x="3454400" y="1851658"/>
            <a:ext cx="2641600" cy="1437640"/>
          </a:xfrm>
          <a:prstGeom prst="rect">
            <a:avLst/>
          </a:prstGeom>
          <a:solidFill>
            <a:srgbClr val="FFFFFF"/>
          </a:solidFill>
          <a:ln/>
        </p:spPr>
        <p:txBody>
          <a:bodyPr/>
          <a:lstStyle/>
          <a:p>
            <a:endParaRPr lang="it-IT"/>
          </a:p>
        </p:txBody>
      </p:sp>
      <p:sp>
        <p:nvSpPr>
          <p:cNvPr id="9" name="Shape 7"/>
          <p:cNvSpPr/>
          <p:nvPr/>
        </p:nvSpPr>
        <p:spPr>
          <a:xfrm>
            <a:off x="3454400" y="1864358"/>
            <a:ext cx="2641600" cy="0"/>
          </a:xfrm>
          <a:prstGeom prst="line">
            <a:avLst/>
          </a:prstGeom>
          <a:noFill/>
          <a:ln w="25400">
            <a:solidFill>
              <a:srgbClr val="2E6BD1"/>
            </a:solidFill>
            <a:prstDash val="solid"/>
          </a:ln>
        </p:spPr>
        <p:txBody>
          <a:bodyPr/>
          <a:lstStyle/>
          <a:p>
            <a:endParaRPr lang="it-IT"/>
          </a:p>
        </p:txBody>
      </p:sp>
      <p:sp>
        <p:nvSpPr>
          <p:cNvPr id="10" name="Text 8"/>
          <p:cNvSpPr/>
          <p:nvPr/>
        </p:nvSpPr>
        <p:spPr>
          <a:xfrm>
            <a:off x="3657600" y="2080258"/>
            <a:ext cx="230225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ORACLE DEDUCE</a:t>
            </a:r>
            <a:endParaRPr lang="en-US" sz="1200" dirty="0"/>
          </a:p>
        </p:txBody>
      </p:sp>
      <p:sp>
        <p:nvSpPr>
          <p:cNvPr id="11" name="Text 9"/>
          <p:cNvSpPr/>
          <p:nvPr/>
        </p:nvSpPr>
        <p:spPr>
          <a:xfrm>
            <a:off x="3657600" y="2369827"/>
            <a:ext cx="230225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Se A = B e A = 450, anche B = 450</a:t>
            </a:r>
            <a:endParaRPr lang="en-US" sz="1200" dirty="0"/>
          </a:p>
        </p:txBody>
      </p:sp>
      <p:sp>
        <p:nvSpPr>
          <p:cNvPr id="13" name="Shape 11"/>
          <p:cNvSpPr/>
          <p:nvPr/>
        </p:nvSpPr>
        <p:spPr>
          <a:xfrm>
            <a:off x="6096000" y="1851658"/>
            <a:ext cx="2641600" cy="1437640"/>
          </a:xfrm>
          <a:prstGeom prst="rect">
            <a:avLst/>
          </a:prstGeom>
          <a:solidFill>
            <a:srgbClr val="FFFFFF"/>
          </a:solidFill>
          <a:ln/>
        </p:spPr>
        <p:txBody>
          <a:bodyPr/>
          <a:lstStyle/>
          <a:p>
            <a:endParaRPr lang="it-IT"/>
          </a:p>
        </p:txBody>
      </p:sp>
      <p:sp>
        <p:nvSpPr>
          <p:cNvPr id="14" name="Shape 12"/>
          <p:cNvSpPr/>
          <p:nvPr/>
        </p:nvSpPr>
        <p:spPr>
          <a:xfrm>
            <a:off x="6096000" y="1864358"/>
            <a:ext cx="2641600" cy="0"/>
          </a:xfrm>
          <a:prstGeom prst="line">
            <a:avLst/>
          </a:prstGeom>
          <a:noFill/>
          <a:ln w="25400">
            <a:solidFill>
              <a:srgbClr val="2E6BD1"/>
            </a:solidFill>
            <a:prstDash val="solid"/>
          </a:ln>
        </p:spPr>
        <p:txBody>
          <a:bodyPr/>
          <a:lstStyle/>
          <a:p>
            <a:endParaRPr lang="it-IT"/>
          </a:p>
        </p:txBody>
      </p:sp>
      <p:sp>
        <p:nvSpPr>
          <p:cNvPr id="15" name="Text 13"/>
          <p:cNvSpPr/>
          <p:nvPr/>
        </p:nvSpPr>
        <p:spPr>
          <a:xfrm>
            <a:off x="6299200" y="2080258"/>
            <a:ext cx="230225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FILTRA DA SOLO</a:t>
            </a:r>
            <a:endParaRPr lang="en-US" sz="1200" dirty="0"/>
          </a:p>
        </p:txBody>
      </p:sp>
      <p:sp>
        <p:nvSpPr>
          <p:cNvPr id="16" name="Text 14"/>
          <p:cNvSpPr/>
          <p:nvPr/>
        </p:nvSpPr>
        <p:spPr>
          <a:xfrm>
            <a:off x="6299200" y="2369827"/>
            <a:ext cx="2302256"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CLIENTI via chiave primaria: 1 riga. ORDINI via indice: N righe.</a:t>
            </a:r>
            <a:endParaRPr lang="en-US" sz="1200" dirty="0"/>
          </a:p>
        </p:txBody>
      </p:sp>
      <p:sp>
        <p:nvSpPr>
          <p:cNvPr id="17" name="Shape 15"/>
          <p:cNvSpPr/>
          <p:nvPr/>
        </p:nvSpPr>
        <p:spPr>
          <a:xfrm>
            <a:off x="8737600" y="1851658"/>
            <a:ext cx="2641600" cy="1437640"/>
          </a:xfrm>
          <a:prstGeom prst="rect">
            <a:avLst/>
          </a:prstGeom>
          <a:solidFill>
            <a:srgbClr val="0F1B2D"/>
          </a:solidFill>
          <a:ln/>
        </p:spPr>
        <p:txBody>
          <a:bodyPr/>
          <a:lstStyle/>
          <a:p>
            <a:endParaRPr lang="it-IT"/>
          </a:p>
        </p:txBody>
      </p:sp>
      <p:sp>
        <p:nvSpPr>
          <p:cNvPr id="18" name="Shape 16"/>
          <p:cNvSpPr/>
          <p:nvPr/>
        </p:nvSpPr>
        <p:spPr>
          <a:xfrm>
            <a:off x="8737600" y="1864358"/>
            <a:ext cx="2641600" cy="0"/>
          </a:xfrm>
          <a:prstGeom prst="line">
            <a:avLst/>
          </a:prstGeom>
          <a:noFill/>
          <a:ln w="25400">
            <a:solidFill>
              <a:srgbClr val="2E6BD1"/>
            </a:solidFill>
            <a:prstDash val="solid"/>
          </a:ln>
        </p:spPr>
        <p:txBody>
          <a:bodyPr/>
          <a:lstStyle/>
          <a:p>
            <a:endParaRPr lang="it-IT"/>
          </a:p>
        </p:txBody>
      </p:sp>
      <p:sp>
        <p:nvSpPr>
          <p:cNvPr id="19" name="Text 17"/>
          <p:cNvSpPr/>
          <p:nvPr/>
        </p:nvSpPr>
        <p:spPr>
          <a:xfrm>
            <a:off x="8940800" y="2080258"/>
            <a:ext cx="230225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INCOLLA 1 × N</a:t>
            </a:r>
            <a:endParaRPr lang="en-US" sz="1200" dirty="0"/>
          </a:p>
        </p:txBody>
      </p:sp>
      <p:sp>
        <p:nvSpPr>
          <p:cNvPr id="20" name="Text 18"/>
          <p:cNvSpPr/>
          <p:nvPr/>
        </p:nvSpPr>
        <p:spPr>
          <a:xfrm>
            <a:off x="8940800" y="2369827"/>
            <a:ext cx="2302256"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8"/>
                </a:solidFill>
                <a:latin typeface="Inter" pitchFamily="34" charset="0"/>
                <a:ea typeface="Inter" pitchFamily="34" charset="-122"/>
                <a:cs typeface="Inter" pitchFamily="34" charset="-120"/>
              </a:rPr>
              <a:t>Un cartesiano su una riga sola: nessun loop da fare, sforzo quasi zero.</a:t>
            </a:r>
            <a:endParaRPr lang="en-US" sz="1200" dirty="0"/>
          </a:p>
        </p:txBody>
      </p:sp>
      <p:sp>
        <p:nvSpPr>
          <p:cNvPr id="21" name="Text 19"/>
          <p:cNvSpPr/>
          <p:nvPr/>
        </p:nvSpPr>
        <p:spPr>
          <a:xfrm>
            <a:off x="812800" y="3594100"/>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Per vedere un vero Nested Loops serve più di un cliente: cambiamo il filtro.</a:t>
            </a:r>
            <a:endParaRPr lang="en-US" sz="1300" dirty="0"/>
          </a:p>
        </p:txBody>
      </p:sp>
      <p:sp>
        <p:nvSpPr>
          <p:cNvPr id="22" name="Text 20"/>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3 · MOLTI CLIENTI</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2.500 clienti: </a:t>
            </a:r>
            <a:r>
              <a:rPr lang="en-US" sz="3000" b="1" i="0" kern="0" spc="-60" dirty="0">
                <a:solidFill>
                  <a:srgbClr val="2E6BD1"/>
                </a:solidFill>
                <a:latin typeface="Inter" pitchFamily="34" charset="0"/>
                <a:ea typeface="Inter" pitchFamily="34" charset="-122"/>
                <a:cs typeface="Inter" pitchFamily="34" charset="-120"/>
              </a:rPr>
              <a:t>torna l’Hash Join</a:t>
            </a:r>
            <a:endParaRPr lang="en-US" sz="3000" dirty="0"/>
          </a:p>
        </p:txBody>
      </p:sp>
      <p:sp>
        <p:nvSpPr>
          <p:cNvPr id="4" name="Text 2"/>
          <p:cNvSpPr/>
          <p:nvPr/>
        </p:nvSpPr>
        <p:spPr>
          <a:xfrm>
            <a:off x="812800" y="1800858"/>
            <a:ext cx="6106160" cy="190246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GATHER_PLAN_STATISTICS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LAB_DAY2_NESTED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c.nome, o.data_ordine, o.importo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clienti 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ordini o ON c.cliente_id = o.cliente_id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c.regione = 'Sud'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o.stato = 'IN_ATTESA';</a:t>
            </a:r>
            <a:endParaRPr lang="en-US" sz="1200" dirty="0"/>
          </a:p>
        </p:txBody>
      </p:sp>
      <p:sp>
        <p:nvSpPr>
          <p:cNvPr id="5" name="Shape 3"/>
          <p:cNvSpPr/>
          <p:nvPr/>
        </p:nvSpPr>
        <p:spPr>
          <a:xfrm>
            <a:off x="7172960" y="1800858"/>
            <a:ext cx="4206240" cy="2092960"/>
          </a:xfrm>
          <a:prstGeom prst="rect">
            <a:avLst/>
          </a:prstGeom>
          <a:solidFill>
            <a:srgbClr val="FFFFFF"/>
          </a:solidFill>
          <a:ln/>
        </p:spPr>
        <p:txBody>
          <a:bodyPr/>
          <a:lstStyle/>
          <a:p>
            <a:endParaRPr lang="it-IT"/>
          </a:p>
        </p:txBody>
      </p:sp>
      <p:sp>
        <p:nvSpPr>
          <p:cNvPr id="6" name="Shape 4"/>
          <p:cNvSpPr/>
          <p:nvPr/>
        </p:nvSpPr>
        <p:spPr>
          <a:xfrm>
            <a:off x="7172960" y="1813558"/>
            <a:ext cx="4206240" cy="0"/>
          </a:xfrm>
          <a:prstGeom prst="line">
            <a:avLst/>
          </a:prstGeom>
          <a:noFill/>
          <a:ln w="25400">
            <a:solidFill>
              <a:srgbClr val="2E6BD1"/>
            </a:solidFill>
            <a:prstDash val="solid"/>
          </a:ln>
        </p:spPr>
        <p:txBody>
          <a:bodyPr/>
          <a:lstStyle/>
          <a:p>
            <a:endParaRPr lang="it-IT"/>
          </a:p>
        </p:txBody>
      </p:sp>
      <p:sp>
        <p:nvSpPr>
          <p:cNvPr id="7" name="Text 5"/>
          <p:cNvSpPr/>
          <p:nvPr/>
        </p:nvSpPr>
        <p:spPr>
          <a:xfrm>
            <a:off x="7376160" y="20294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IL CALCOLO DEL CBO</a:t>
            </a:r>
            <a:endParaRPr lang="en-US" sz="1200" dirty="0"/>
          </a:p>
        </p:txBody>
      </p:sp>
      <p:sp>
        <p:nvSpPr>
          <p:cNvPr id="8" name="Text 6"/>
          <p:cNvSpPr/>
          <p:nvPr/>
        </p:nvSpPr>
        <p:spPr>
          <a:xfrm>
            <a:off x="7376160" y="2357127"/>
            <a:ext cx="3913835"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3D4B5E"/>
                </a:solidFill>
                <a:latin typeface="Inter" pitchFamily="34" charset="0"/>
                <a:ea typeface="Inter" pitchFamily="34" charset="-122"/>
                <a:cs typeface="Inter" pitchFamily="34" charset="-120"/>
              </a:rPr>
              <a:t>Nested Loops</a:t>
            </a:r>
            <a:r>
              <a:rPr lang="en-US" sz="1200" dirty="0">
                <a:solidFill>
                  <a:srgbClr val="3D4B5E"/>
                </a:solidFill>
                <a:latin typeface="Inter" pitchFamily="34" charset="0"/>
                <a:ea typeface="Inter" pitchFamily="34" charset="-122"/>
                <a:cs typeface="Inter" pitchFamily="34" charset="-120"/>
              </a:rPr>
              <a:t>: 2.500 salti casuali sull’indice e sulla tabella.</a:t>
            </a:r>
            <a:endParaRPr lang="en-US" sz="1200" dirty="0"/>
          </a:p>
        </p:txBody>
      </p:sp>
      <p:sp>
        <p:nvSpPr>
          <p:cNvPr id="9" name="Text 7"/>
          <p:cNvSpPr/>
          <p:nvPr/>
        </p:nvSpPr>
        <p:spPr>
          <a:xfrm>
            <a:off x="7376160" y="2913385"/>
            <a:ext cx="3913835" cy="46736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3D4B5E"/>
                </a:solidFill>
                <a:latin typeface="Inter" pitchFamily="34" charset="0"/>
                <a:ea typeface="Inter" pitchFamily="34" charset="-122"/>
                <a:cs typeface="Inter" pitchFamily="34" charset="-120"/>
              </a:rPr>
              <a:t>Hash Join</a:t>
            </a:r>
            <a:r>
              <a:rPr lang="en-US" sz="1200" dirty="0">
                <a:solidFill>
                  <a:srgbClr val="3D4B5E"/>
                </a:solidFill>
                <a:latin typeface="Inter" pitchFamily="34" charset="0"/>
                <a:ea typeface="Inter" pitchFamily="34" charset="-122"/>
                <a:cs typeface="Inter" pitchFamily="34" charset="-120"/>
              </a:rPr>
              <a:t>: due letture sequenziali e un incastro in memoria.</a:t>
            </a:r>
            <a:endParaRPr lang="en-US" sz="1200" dirty="0"/>
          </a:p>
        </p:txBody>
      </p:sp>
      <p:sp>
        <p:nvSpPr>
          <p:cNvPr id="10" name="Text 8"/>
          <p:cNvSpPr/>
          <p:nvPr/>
        </p:nvSpPr>
        <p:spPr>
          <a:xfrm>
            <a:off x="7376160" y="3469642"/>
            <a:ext cx="391383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F1B2D"/>
                </a:solidFill>
                <a:latin typeface="Inter" pitchFamily="34" charset="0"/>
                <a:ea typeface="Inter" pitchFamily="34" charset="-122"/>
                <a:cs typeface="Inter" pitchFamily="34" charset="-120"/>
              </a:rPr>
              <a:t>Costa meno il secondo: ha ragione lui.</a:t>
            </a:r>
            <a:endParaRPr lang="en-US" sz="1200" dirty="0"/>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3 · METODO 1</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 via naturale: </a:t>
            </a:r>
            <a:r>
              <a:rPr lang="en-US" sz="3000" b="1" i="0" kern="0" spc="-60" dirty="0">
                <a:solidFill>
                  <a:srgbClr val="2E6BD1"/>
                </a:solidFill>
                <a:latin typeface="Inter" pitchFamily="34" charset="0"/>
                <a:ea typeface="Inter" pitchFamily="34" charset="-122"/>
                <a:cs typeface="Inter" pitchFamily="34" charset="-120"/>
              </a:rPr>
              <a:t>più selettività</a:t>
            </a:r>
            <a:endParaRPr lang="en-US" sz="3000" dirty="0"/>
          </a:p>
        </p:txBody>
      </p:sp>
      <p:sp>
        <p:nvSpPr>
          <p:cNvPr id="4" name="Text 2"/>
          <p:cNvSpPr/>
          <p:nvPr/>
        </p:nvSpPr>
        <p:spPr>
          <a:xfrm>
            <a:off x="812800" y="1800858"/>
            <a:ext cx="6106160" cy="190246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GATHER_PLAN_STATISTICS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LAB_DAY2_NL_NATURALE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c.nome, o.data_ordine, o.importo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clienti 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ordini o ON c.cliente_id = o.cliente_id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c.cliente_id BETWEEN 10 AND 20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o.stato = 'IN_ATTESA';</a:t>
            </a:r>
            <a:endParaRPr lang="en-US" sz="1200" dirty="0"/>
          </a:p>
        </p:txBody>
      </p:sp>
      <p:sp>
        <p:nvSpPr>
          <p:cNvPr id="5" name="Shape 3"/>
          <p:cNvSpPr/>
          <p:nvPr/>
        </p:nvSpPr>
        <p:spPr>
          <a:xfrm>
            <a:off x="7172960" y="1800858"/>
            <a:ext cx="4206240" cy="2098040"/>
          </a:xfrm>
          <a:prstGeom prst="rect">
            <a:avLst/>
          </a:prstGeom>
          <a:solidFill>
            <a:srgbClr val="0F1B2D"/>
          </a:solidFill>
          <a:ln/>
        </p:spPr>
        <p:txBody>
          <a:bodyPr/>
          <a:lstStyle/>
          <a:p>
            <a:endParaRPr lang="it-IT"/>
          </a:p>
        </p:txBody>
      </p:sp>
      <p:sp>
        <p:nvSpPr>
          <p:cNvPr id="6" name="Text 4"/>
          <p:cNvSpPr/>
          <p:nvPr/>
        </p:nvSpPr>
        <p:spPr>
          <a:xfrm>
            <a:off x="7376160" y="20040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9BFF"/>
                </a:solidFill>
                <a:latin typeface="Inter" pitchFamily="34" charset="0"/>
                <a:ea typeface="Inter" pitchFamily="34" charset="-122"/>
                <a:cs typeface="Inter" pitchFamily="34" charset="-120"/>
              </a:rPr>
              <a:t>NEL PIANO</a:t>
            </a:r>
            <a:endParaRPr lang="en-US" sz="1200" dirty="0"/>
          </a:p>
        </p:txBody>
      </p:sp>
      <p:sp>
        <p:nvSpPr>
          <p:cNvPr id="7" name="Text 5"/>
          <p:cNvSpPr/>
          <p:nvPr/>
        </p:nvSpPr>
        <p:spPr>
          <a:xfrm>
            <a:off x="7376160" y="2331727"/>
            <a:ext cx="391383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8FB"/>
                </a:solidFill>
                <a:latin typeface="JetBrains Mono" pitchFamily="49" charset="0"/>
                <a:ea typeface="JetBrains Mono" pitchFamily="49" charset="-122"/>
                <a:cs typeface="JetBrains Mono" pitchFamily="49" charset="-120"/>
              </a:rPr>
              <a:t>NESTED LOOPS</a:t>
            </a:r>
            <a:endParaRPr lang="en-US" sz="1300" dirty="0"/>
          </a:p>
        </p:txBody>
      </p:sp>
      <p:sp>
        <p:nvSpPr>
          <p:cNvPr id="8" name="Text 6"/>
          <p:cNvSpPr/>
          <p:nvPr/>
        </p:nvSpPr>
        <p:spPr>
          <a:xfrm>
            <a:off x="7376160" y="2677158"/>
            <a:ext cx="391383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DB8FF"/>
                </a:solidFill>
                <a:latin typeface="JetBrains Mono" pitchFamily="49" charset="0"/>
                <a:ea typeface="JetBrains Mono" pitchFamily="49" charset="-122"/>
                <a:cs typeface="JetBrains Mono" pitchFamily="49" charset="-120"/>
              </a:rPr>
              <a:t>INDEX RANGE SCAN</a:t>
            </a:r>
            <a:endParaRPr lang="en-US" sz="1300" dirty="0"/>
          </a:p>
          <a:p>
            <a:pPr marL="0" indent="0" algn="l">
              <a:lnSpc>
                <a:spcPts val="1820"/>
              </a:lnSpc>
              <a:buNone/>
            </a:pPr>
            <a:r>
              <a:rPr lang="en-US" sz="1300" dirty="0">
                <a:solidFill>
                  <a:srgbClr val="8DB8FF"/>
                </a:solidFill>
                <a:latin typeface="JetBrains Mono" pitchFamily="49" charset="0"/>
                <a:ea typeface="JetBrains Mono" pitchFamily="49" charset="-122"/>
                <a:cs typeface="JetBrains Mono" pitchFamily="49" charset="-120"/>
              </a:rPr>
              <a:t>IDX_ORDINI_CLIENTE</a:t>
            </a:r>
            <a:endParaRPr lang="en-US" sz="1300" dirty="0"/>
          </a:p>
        </p:txBody>
      </p:sp>
      <p:sp>
        <p:nvSpPr>
          <p:cNvPr id="9" name="Text 7"/>
          <p:cNvSpPr/>
          <p:nvPr/>
        </p:nvSpPr>
        <p:spPr>
          <a:xfrm>
            <a:off x="7376160" y="3253742"/>
            <a:ext cx="3913835"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11 clienti: 11 ricerche sull’indice. Il CBO lo sceglie da solo.</a:t>
            </a:r>
            <a:endParaRPr lang="en-US" sz="12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3 · METODO 2</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 via di forza: </a:t>
            </a:r>
            <a:r>
              <a:rPr lang="en-US" sz="3000" b="1" i="0" kern="0" spc="-60" dirty="0">
                <a:solidFill>
                  <a:srgbClr val="2E6BD1"/>
                </a:solidFill>
                <a:latin typeface="Inter" pitchFamily="34" charset="0"/>
                <a:ea typeface="Inter" pitchFamily="34" charset="-122"/>
                <a:cs typeface="Inter" pitchFamily="34" charset="-120"/>
              </a:rPr>
              <a:t>l’hint</a:t>
            </a:r>
            <a:endParaRPr lang="en-US" sz="3000" dirty="0"/>
          </a:p>
        </p:txBody>
      </p:sp>
      <p:sp>
        <p:nvSpPr>
          <p:cNvPr id="4" name="Text 2"/>
          <p:cNvSpPr/>
          <p:nvPr/>
        </p:nvSpPr>
        <p:spPr>
          <a:xfrm>
            <a:off x="812800" y="1800858"/>
            <a:ext cx="6106160" cy="212344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GATHER_PLAN_STATISTICS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t>
            </a:r>
            <a:r>
              <a:rPr lang="en-US" sz="1200" dirty="0">
                <a:solidFill>
                  <a:srgbClr val="8DB8FF"/>
                </a:solidFill>
                <a:latin typeface="JetBrains Mono" pitchFamily="49" charset="0"/>
                <a:ea typeface="JetBrains Mono" pitchFamily="49" charset="-122"/>
                <a:cs typeface="JetBrains Mono" pitchFamily="49" charset="-120"/>
              </a:rPr>
              <a:t>USE_NL(c 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LAB_DAY2_NL_FORZATO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c.nome, o.data_ordine, o.importo</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clienti 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JOIN   ordini o ON c.cliente_id = o.cliente_id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c.regione = 'Sud'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o.stato = 'IN_ATTESA';</a:t>
            </a:r>
            <a:endParaRPr lang="en-US" sz="1200" dirty="0"/>
          </a:p>
        </p:txBody>
      </p:sp>
      <p:sp>
        <p:nvSpPr>
          <p:cNvPr id="5" name="Shape 3"/>
          <p:cNvSpPr/>
          <p:nvPr/>
        </p:nvSpPr>
        <p:spPr>
          <a:xfrm>
            <a:off x="7172960" y="1800858"/>
            <a:ext cx="4206240" cy="2092960"/>
          </a:xfrm>
          <a:prstGeom prst="rect">
            <a:avLst/>
          </a:prstGeom>
          <a:solidFill>
            <a:srgbClr val="FFFFFF"/>
          </a:solidFill>
          <a:ln/>
        </p:spPr>
        <p:txBody>
          <a:bodyPr/>
          <a:lstStyle/>
          <a:p>
            <a:endParaRPr lang="it-IT"/>
          </a:p>
        </p:txBody>
      </p:sp>
      <p:sp>
        <p:nvSpPr>
          <p:cNvPr id="6" name="Shape 4"/>
          <p:cNvSpPr/>
          <p:nvPr/>
        </p:nvSpPr>
        <p:spPr>
          <a:xfrm>
            <a:off x="7172960" y="1813558"/>
            <a:ext cx="4206240" cy="0"/>
          </a:xfrm>
          <a:prstGeom prst="line">
            <a:avLst/>
          </a:prstGeom>
          <a:noFill/>
          <a:ln w="25400">
            <a:solidFill>
              <a:srgbClr val="2E6BD1"/>
            </a:solidFill>
            <a:prstDash val="solid"/>
          </a:ln>
        </p:spPr>
        <p:txBody>
          <a:bodyPr/>
          <a:lstStyle/>
          <a:p>
            <a:endParaRPr lang="it-IT"/>
          </a:p>
        </p:txBody>
      </p:sp>
      <p:sp>
        <p:nvSpPr>
          <p:cNvPr id="7" name="Text 5"/>
          <p:cNvSpPr/>
          <p:nvPr/>
        </p:nvSpPr>
        <p:spPr>
          <a:xfrm>
            <a:off x="7376160" y="20294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L’ESPERIMENTO</a:t>
            </a:r>
            <a:endParaRPr lang="en-US" sz="1200" dirty="0"/>
          </a:p>
        </p:txBody>
      </p:sp>
      <p:sp>
        <p:nvSpPr>
          <p:cNvPr id="8" name="Text 6"/>
          <p:cNvSpPr/>
          <p:nvPr/>
        </p:nvSpPr>
        <p:spPr>
          <a:xfrm>
            <a:off x="7376160" y="2357127"/>
            <a:ext cx="3913835"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Confrontate </a:t>
            </a:r>
            <a:r>
              <a:rPr lang="en-US" sz="1200" dirty="0" err="1">
                <a:solidFill>
                  <a:srgbClr val="3D4B5E"/>
                </a:solidFill>
                <a:latin typeface="Inter" pitchFamily="34" charset="0"/>
                <a:ea typeface="Inter" pitchFamily="34" charset="-122"/>
                <a:cs typeface="Inter" pitchFamily="34" charset="-120"/>
              </a:rPr>
              <a:t>i</a:t>
            </a:r>
            <a:r>
              <a:rPr lang="en-US" sz="1200" dirty="0">
                <a:solidFill>
                  <a:srgbClr val="3D4B5E"/>
                </a:solidFill>
                <a:latin typeface="Inter" pitchFamily="34" charset="0"/>
                <a:ea typeface="Inter" pitchFamily="34" charset="-122"/>
                <a:cs typeface="Inter" pitchFamily="34" charset="-120"/>
              </a:rPr>
              <a:t> </a:t>
            </a:r>
            <a:r>
              <a:rPr lang="en-US" sz="1200" b="1" dirty="0">
                <a:solidFill>
                  <a:srgbClr val="3D4B5E"/>
                </a:solidFill>
                <a:latin typeface="Inter" pitchFamily="34" charset="0"/>
                <a:ea typeface="Inter" pitchFamily="34" charset="-122"/>
                <a:cs typeface="Inter" pitchFamily="34" charset="-120"/>
              </a:rPr>
              <a:t>Buffers </a:t>
            </a:r>
            <a:r>
              <a:rPr lang="en-US" sz="1200" dirty="0">
                <a:solidFill>
                  <a:srgbClr val="3D4B5E"/>
                </a:solidFill>
                <a:latin typeface="Inter" pitchFamily="34" charset="0"/>
                <a:ea typeface="Inter" pitchFamily="34" charset="-122"/>
                <a:cs typeface="Inter" pitchFamily="34" charset="-120"/>
              </a:rPr>
              <a:t>(lo </a:t>
            </a:r>
            <a:r>
              <a:rPr lang="en-US" sz="1200" dirty="0" err="1">
                <a:solidFill>
                  <a:srgbClr val="3D4B5E"/>
                </a:solidFill>
                <a:latin typeface="Inter" pitchFamily="34" charset="0"/>
                <a:ea typeface="Inter" pitchFamily="34" charset="-122"/>
                <a:cs typeface="Inter" pitchFamily="34" charset="-120"/>
              </a:rPr>
              <a:t>sforzo</a:t>
            </a:r>
            <a:r>
              <a:rPr lang="en-US" sz="1200" dirty="0">
                <a:solidFill>
                  <a:srgbClr val="3D4B5E"/>
                </a:solidFill>
                <a:latin typeface="Inter" pitchFamily="34" charset="0"/>
                <a:ea typeface="Inter" pitchFamily="34" charset="-122"/>
                <a:cs typeface="Inter" pitchFamily="34" charset="-120"/>
              </a:rPr>
              <a:t> in memoria) con quelli dell’Hash Join su ‘Sud’.</a:t>
            </a:r>
            <a:endParaRPr lang="en-US" sz="1200" dirty="0"/>
          </a:p>
        </p:txBody>
      </p:sp>
      <p:sp>
        <p:nvSpPr>
          <p:cNvPr id="9" name="Text 7"/>
          <p:cNvSpPr/>
          <p:nvPr/>
        </p:nvSpPr>
        <p:spPr>
          <a:xfrm>
            <a:off x="7376160" y="2913385"/>
            <a:ext cx="3913835"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Forzato su 2.500 clienti, il Nested Loops li fa </a:t>
            </a:r>
            <a:r>
              <a:rPr lang="en-US" sz="1200" b="1" dirty="0">
                <a:solidFill>
                  <a:srgbClr val="3D4B5E"/>
                </a:solidFill>
                <a:latin typeface="Inter" pitchFamily="34" charset="0"/>
                <a:ea typeface="Inter" pitchFamily="34" charset="-122"/>
                <a:cs typeface="Inter" pitchFamily="34" charset="-120"/>
              </a:rPr>
              <a:t>esplodere</a:t>
            </a:r>
            <a:r>
              <a:rPr lang="en-US" sz="1200" dirty="0">
                <a:solidFill>
                  <a:srgbClr val="3D4B5E"/>
                </a:solidFill>
                <a:latin typeface="Inter" pitchFamily="34" charset="0"/>
                <a:ea typeface="Inter" pitchFamily="34" charset="-122"/>
                <a:cs typeface="Inter" pitchFamily="34" charset="-120"/>
              </a:rPr>
              <a:t>.</a:t>
            </a:r>
            <a:endParaRPr lang="en-US" sz="1200" dirty="0"/>
          </a:p>
        </p:txBody>
      </p:sp>
      <p:sp>
        <p:nvSpPr>
          <p:cNvPr id="10" name="Text 8"/>
          <p:cNvSpPr/>
          <p:nvPr/>
        </p:nvSpPr>
        <p:spPr>
          <a:xfrm>
            <a:off x="7376160" y="3469642"/>
            <a:ext cx="391383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F1B2D"/>
                </a:solidFill>
                <a:latin typeface="Inter" pitchFamily="34" charset="0"/>
                <a:ea typeface="Inter" pitchFamily="34" charset="-122"/>
                <a:cs typeface="Inter" pitchFamily="34" charset="-120"/>
              </a:rPr>
              <a:t>L’ottimizzatore conosce i dati meglio di noi.</a:t>
            </a:r>
            <a:endParaRPr lang="en-US" sz="1200" dirty="0"/>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4 · LA TRAPPOLA</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L’indice </a:t>
            </a:r>
            <a:r>
              <a:rPr lang="en-US" sz="3000" b="1" i="0" kern="0" spc="-60" dirty="0">
                <a:solidFill>
                  <a:srgbClr val="2E6BD1"/>
                </a:solidFill>
                <a:latin typeface="Inter" pitchFamily="34" charset="0"/>
                <a:ea typeface="Inter" pitchFamily="34" charset="-122"/>
                <a:cs typeface="Inter" pitchFamily="34" charset="-120"/>
              </a:rPr>
              <a:t>ignorato</a:t>
            </a:r>
            <a:endParaRPr lang="en-US" sz="3000" dirty="0"/>
          </a:p>
        </p:txBody>
      </p:sp>
      <p:sp>
        <p:nvSpPr>
          <p:cNvPr id="4" name="Text 2"/>
          <p:cNvSpPr/>
          <p:nvPr/>
        </p:nvSpPr>
        <p:spPr>
          <a:xfrm>
            <a:off x="812800" y="1800858"/>
            <a:ext cx="6106160" cy="1902460"/>
          </a:xfrm>
          <a:prstGeom prst="rect">
            <a:avLst/>
          </a:prstGeom>
          <a:solidFill>
            <a:srgbClr val="0F1B2D"/>
          </a:solidFill>
          <a:ln/>
        </p:spPr>
        <p:txBody>
          <a:bodyPr wrap="square" lIns="203200" tIns="177800" rIns="32207"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CREATE INDEX idx_ordini_data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ON ordini(data_ordine);</a:t>
            </a:r>
            <a:endParaRPr lang="en-US" sz="1200" dirty="0"/>
          </a:p>
          <a:p>
            <a:pPr marL="0" indent="0" algn="l">
              <a:lnSpc>
                <a:spcPts val="1740"/>
              </a:lnSpc>
              <a:buNone/>
            </a:pP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 GATHER_PLAN_STATISTICS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LAB_DAY2_TRAP */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ordini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TRUNC(data_ordine) = TRUNC(SYSDATE) - 30;</a:t>
            </a:r>
            <a:endParaRPr lang="en-US" sz="1200" dirty="0"/>
          </a:p>
        </p:txBody>
      </p:sp>
      <p:sp>
        <p:nvSpPr>
          <p:cNvPr id="5" name="Shape 3"/>
          <p:cNvSpPr/>
          <p:nvPr/>
        </p:nvSpPr>
        <p:spPr>
          <a:xfrm>
            <a:off x="7172960" y="1800858"/>
            <a:ext cx="4206240" cy="1742440"/>
          </a:xfrm>
          <a:prstGeom prst="rect">
            <a:avLst/>
          </a:prstGeom>
          <a:solidFill>
            <a:srgbClr val="0F1B2D"/>
          </a:solidFill>
          <a:ln/>
        </p:spPr>
        <p:txBody>
          <a:bodyPr/>
          <a:lstStyle/>
          <a:p>
            <a:endParaRPr lang="it-IT"/>
          </a:p>
        </p:txBody>
      </p:sp>
      <p:sp>
        <p:nvSpPr>
          <p:cNvPr id="6" name="Text 4"/>
          <p:cNvSpPr/>
          <p:nvPr/>
        </p:nvSpPr>
        <p:spPr>
          <a:xfrm>
            <a:off x="7376160" y="2004058"/>
            <a:ext cx="3913835"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9BFF"/>
                </a:solidFill>
                <a:latin typeface="Inter" pitchFamily="34" charset="0"/>
                <a:ea typeface="Inter" pitchFamily="34" charset="-122"/>
                <a:cs typeface="Inter" pitchFamily="34" charset="-120"/>
              </a:rPr>
              <a:t>NEL PIANO</a:t>
            </a:r>
            <a:endParaRPr lang="en-US" sz="1200" dirty="0"/>
          </a:p>
        </p:txBody>
      </p:sp>
      <p:sp>
        <p:nvSpPr>
          <p:cNvPr id="7" name="Text 5"/>
          <p:cNvSpPr/>
          <p:nvPr/>
        </p:nvSpPr>
        <p:spPr>
          <a:xfrm>
            <a:off x="7376160" y="2331727"/>
            <a:ext cx="391383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8FB"/>
                </a:solidFill>
                <a:latin typeface="JetBrains Mono" pitchFamily="49" charset="0"/>
                <a:ea typeface="JetBrains Mono" pitchFamily="49" charset="-122"/>
                <a:cs typeface="JetBrains Mono" pitchFamily="49" charset="-120"/>
              </a:rPr>
              <a:t>TABLE ACCESS FULL</a:t>
            </a:r>
            <a:endParaRPr lang="en-US" sz="1300" dirty="0"/>
          </a:p>
        </p:txBody>
      </p:sp>
      <p:sp>
        <p:nvSpPr>
          <p:cNvPr id="8" name="Text 6"/>
          <p:cNvSpPr/>
          <p:nvPr/>
        </p:nvSpPr>
        <p:spPr>
          <a:xfrm>
            <a:off x="7376160" y="2677158"/>
            <a:ext cx="3913835"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L’indice contiene date con ore, minuti e secondi. TRUNC() trasforma ogni valore prima del confronto: Oracle deve leggere tutto.</a:t>
            </a:r>
            <a:endParaRPr lang="en-US" sz="12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FASE 5 · LA SOLUZIONE</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Function-based </a:t>
            </a:r>
            <a:r>
              <a:rPr lang="en-US" sz="3000" b="1" i="0" kern="0" spc="-60" dirty="0">
                <a:solidFill>
                  <a:srgbClr val="2E6BD1"/>
                </a:solidFill>
                <a:latin typeface="Inter" pitchFamily="34" charset="0"/>
                <a:ea typeface="Inter" pitchFamily="34" charset="-122"/>
                <a:cs typeface="Inter" pitchFamily="34" charset="-120"/>
              </a:rPr>
              <a:t>index</a:t>
            </a:r>
            <a:endParaRPr lang="en-US" sz="3000" dirty="0"/>
          </a:p>
        </p:txBody>
      </p:sp>
      <p:sp>
        <p:nvSpPr>
          <p:cNvPr id="4" name="Text 2"/>
          <p:cNvSpPr/>
          <p:nvPr/>
        </p:nvSpPr>
        <p:spPr>
          <a:xfrm>
            <a:off x="812800" y="1800858"/>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SENZA TOCCARE IL CODICE</a:t>
            </a:r>
            <a:endParaRPr lang="en-US" sz="1200" dirty="0"/>
          </a:p>
        </p:txBody>
      </p:sp>
      <p:sp>
        <p:nvSpPr>
          <p:cNvPr id="5" name="Text 3"/>
          <p:cNvSpPr/>
          <p:nvPr/>
        </p:nvSpPr>
        <p:spPr>
          <a:xfrm>
            <a:off x="812800" y="2115827"/>
            <a:ext cx="5181600" cy="185166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CREATE INDEX idx_ordini_data_func</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ON ordini(TRUNC(data_ordine));</a:t>
            </a:r>
            <a:endParaRPr lang="en-US" sz="1200" dirty="0"/>
          </a:p>
          <a:p>
            <a:pPr marL="0" indent="0" algn="l">
              <a:lnSpc>
                <a:spcPts val="1740"/>
              </a:lnSpc>
              <a:buNone/>
            </a:pP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EXEC DBMS_STATS.GATHER_TABLE_STATS(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USER, 'ORDINI');</a:t>
            </a:r>
            <a:endParaRPr lang="en-US" sz="1200" dirty="0"/>
          </a:p>
          <a:p>
            <a:pPr marL="0" indent="0" algn="l">
              <a:lnSpc>
                <a:spcPts val="1740"/>
              </a:lnSpc>
              <a:buNone/>
            </a:pPr>
            <a:endParaRPr lang="en-US" sz="1200" dirty="0"/>
          </a:p>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rieseguire con LAB_DAY2_FBI</a:t>
            </a:r>
            <a:endParaRPr lang="en-US" sz="1200" dirty="0"/>
          </a:p>
        </p:txBody>
      </p:sp>
      <p:sp>
        <p:nvSpPr>
          <p:cNvPr id="6" name="Text 4"/>
          <p:cNvSpPr/>
          <p:nvPr/>
        </p:nvSpPr>
        <p:spPr>
          <a:xfrm>
            <a:off x="812800" y="4069085"/>
            <a:ext cx="5337048"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Il piano torna a un </a:t>
            </a:r>
            <a:r>
              <a:rPr lang="en-US" sz="1200" b="1" dirty="0">
                <a:solidFill>
                  <a:srgbClr val="3D4B5E"/>
                </a:solidFill>
                <a:latin typeface="Inter" pitchFamily="34" charset="0"/>
                <a:ea typeface="Inter" pitchFamily="34" charset="-122"/>
                <a:cs typeface="Inter" pitchFamily="34" charset="-120"/>
              </a:rPr>
              <a:t>INDEX RANGE SCAN</a:t>
            </a:r>
            <a:r>
              <a:rPr lang="en-US" sz="1200" dirty="0">
                <a:solidFill>
                  <a:srgbClr val="3D4B5E"/>
                </a:solidFill>
                <a:latin typeface="Inter" pitchFamily="34" charset="0"/>
                <a:ea typeface="Inter" pitchFamily="34" charset="-122"/>
                <a:cs typeface="Inter" pitchFamily="34" charset="-120"/>
              </a:rPr>
              <a:t> su IDX_ORDINI_DATA_FUNC.</a:t>
            </a:r>
            <a:endParaRPr lang="en-US" sz="1200" dirty="0"/>
          </a:p>
        </p:txBody>
      </p:sp>
      <p:sp>
        <p:nvSpPr>
          <p:cNvPr id="7" name="Text 5"/>
          <p:cNvSpPr/>
          <p:nvPr/>
        </p:nvSpPr>
        <p:spPr>
          <a:xfrm>
            <a:off x="6197600" y="1800858"/>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IN ALTERNATIVA: RISCRIVERE</a:t>
            </a:r>
            <a:endParaRPr lang="en-US" sz="1200" dirty="0"/>
          </a:p>
        </p:txBody>
      </p:sp>
      <p:sp>
        <p:nvSpPr>
          <p:cNvPr id="8" name="Text 6"/>
          <p:cNvSpPr/>
          <p:nvPr/>
        </p:nvSpPr>
        <p:spPr>
          <a:xfrm>
            <a:off x="6197600" y="2115827"/>
            <a:ext cx="5181600" cy="118872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data_ordine &gt;=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TRUNC(SYSDATE) - 30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AND   data_ordine &lt;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TRUNC(SYSDATE) - 29</a:t>
            </a:r>
            <a:endParaRPr lang="en-US" sz="1200" dirty="0"/>
          </a:p>
        </p:txBody>
      </p:sp>
      <p:sp>
        <p:nvSpPr>
          <p:cNvPr id="9" name="Text 7"/>
          <p:cNvSpPr/>
          <p:nvPr/>
        </p:nvSpPr>
        <p:spPr>
          <a:xfrm>
            <a:off x="6197600" y="3406142"/>
            <a:ext cx="533704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B5E"/>
                </a:solidFill>
                <a:latin typeface="Inter" pitchFamily="34" charset="0"/>
                <a:ea typeface="Inter" pitchFamily="34" charset="-122"/>
                <a:cs typeface="Inter" pitchFamily="34" charset="-120"/>
              </a:rPr>
              <a:t>Usa l’indice normale IDX_ORDINI_DATA: nessun indice in più da mantenere.</a:t>
            </a:r>
            <a:endParaRPr lang="en-US" sz="12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MATTINA · RIEPILOGO</a:t>
            </a:r>
            <a:endParaRPr lang="en-US" sz="1200" dirty="0"/>
          </a:p>
        </p:txBody>
      </p:sp>
      <p:sp>
        <p:nvSpPr>
          <p:cNvPr id="3" name="Text 1"/>
          <p:cNvSpPr>
            <a:spLocks noGrp="1"/>
          </p:cNvSpPr>
          <p:nvPr>
            <p:ph type="title"/>
          </p:nvPr>
        </p:nvSpPr>
        <p:spPr>
          <a:xfrm>
            <a:off x="812800" y="11277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 vostri numeri, </a:t>
            </a:r>
            <a:r>
              <a:rPr lang="en-US" sz="3000" b="1" i="0" kern="0" spc="-60" dirty="0">
                <a:solidFill>
                  <a:srgbClr val="2E6BD1"/>
                </a:solidFill>
                <a:latin typeface="Inter" pitchFamily="34" charset="0"/>
                <a:ea typeface="Inter" pitchFamily="34" charset="-122"/>
                <a:cs typeface="Inter" pitchFamily="34" charset="-120"/>
              </a:rPr>
              <a:t>passo per passo</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1018"/>
          <a:ext cx="10556241" cy="2641600"/>
        </p:xfrm>
        <a:graphic>
          <a:graphicData uri="http://schemas.openxmlformats.org/drawingml/2006/table">
            <a:tbl>
              <a:tblPr/>
              <a:tblGrid>
                <a:gridCol w="3166872">
                  <a:extLst>
                    <a:ext uri="{9D8B030D-6E8A-4147-A177-3AD203B41FA5}">
                      <a16:colId xmlns:a16="http://schemas.microsoft.com/office/drawing/2014/main" val="20000"/>
                    </a:ext>
                  </a:extLst>
                </a:gridCol>
                <a:gridCol w="3589122">
                  <a:extLst>
                    <a:ext uri="{9D8B030D-6E8A-4147-A177-3AD203B41FA5}">
                      <a16:colId xmlns:a16="http://schemas.microsoft.com/office/drawing/2014/main" val="20001"/>
                    </a:ext>
                  </a:extLst>
                </a:gridCol>
                <a:gridCol w="1266749">
                  <a:extLst>
                    <a:ext uri="{9D8B030D-6E8A-4147-A177-3AD203B41FA5}">
                      <a16:colId xmlns:a16="http://schemas.microsoft.com/office/drawing/2014/main" val="20002"/>
                    </a:ext>
                  </a:extLst>
                </a:gridCol>
                <a:gridCol w="1266749">
                  <a:extLst>
                    <a:ext uri="{9D8B030D-6E8A-4147-A177-3AD203B41FA5}">
                      <a16:colId xmlns:a16="http://schemas.microsoft.com/office/drawing/2014/main" val="20003"/>
                    </a:ext>
                  </a:extLst>
                </a:gridCol>
                <a:gridCol w="1266749">
                  <a:extLst>
                    <a:ext uri="{9D8B030D-6E8A-4147-A177-3AD203B41FA5}">
                      <a16:colId xmlns:a16="http://schemas.microsoft.com/office/drawing/2014/main" val="20004"/>
                    </a:ext>
                  </a:extLst>
                </a:gridCol>
              </a:tblGrid>
              <a:tr h="330200">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Etichetta</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Operazione principale</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Cost</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Buffers</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A-Rows</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LAB_DAY2_START</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Hash Join + Full Scan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LAB_DAY2_FIX</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Cartesiano 1×N + indice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LAB_DAY2_NESTED</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Hash Join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LAB_DAY2_NL_NATURALE</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Nested Loops + indice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LAB_DAY2_NL_FORZATO</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Nested Loops forzato</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LAB_DAY2_TRAP</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Full Scan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LAB_DAY2_FBI</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Index Range Scan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___</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190857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04</a:t>
            </a:r>
            <a:endParaRPr lang="en-US" sz="1400" dirty="0"/>
          </a:p>
        </p:txBody>
      </p:sp>
      <p:sp>
        <p:nvSpPr>
          <p:cNvPr id="3" name="Text 1"/>
          <p:cNvSpPr/>
          <p:nvPr/>
        </p:nvSpPr>
        <p:spPr>
          <a:xfrm>
            <a:off x="812800" y="2360687"/>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POMERIGGIO · TEORIA</a:t>
            </a:r>
            <a:endParaRPr lang="en-US" sz="1200" dirty="0"/>
          </a:p>
        </p:txBody>
      </p:sp>
      <p:sp>
        <p:nvSpPr>
          <p:cNvPr id="4" name="Text 2"/>
          <p:cNvSpPr>
            <a:spLocks noGrp="1"/>
          </p:cNvSpPr>
          <p:nvPr>
            <p:ph type="title"/>
          </p:nvPr>
        </p:nvSpPr>
        <p:spPr>
          <a:xfrm>
            <a:off x="812800" y="2777257"/>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5B9BFF"/>
                </a:solidFill>
                <a:latin typeface="Inter" pitchFamily="34" charset="0"/>
                <a:ea typeface="Inter" pitchFamily="34" charset="-122"/>
                <a:cs typeface="Inter" pitchFamily="34" charset="-120"/>
              </a:rPr>
              <a:t>Le connessioni</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e il connection pool</a:t>
            </a:r>
            <a:endParaRPr lang="en-US" sz="5200" dirty="0"/>
          </a:p>
        </p:txBody>
      </p:sp>
      <p:sp>
        <p:nvSpPr>
          <p:cNvPr id="5" name="Text 3"/>
          <p:cNvSpPr/>
          <p:nvPr/>
        </p:nvSpPr>
        <p:spPr>
          <a:xfrm>
            <a:off x="812800" y="4380483"/>
            <a:ext cx="784860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Il costo di aprire e chiudere una connessione fisica, e come un pool previene leak e logon storm</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CONNESSIONI</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Cosa </a:t>
            </a:r>
            <a:r>
              <a:rPr lang="en-US" sz="3000" b="1" i="0" kern="0" spc="-60" dirty="0" err="1">
                <a:solidFill>
                  <a:srgbClr val="0F1B2D"/>
                </a:solidFill>
                <a:latin typeface="Inter" pitchFamily="34" charset="0"/>
                <a:ea typeface="Inter" pitchFamily="34" charset="-122"/>
                <a:cs typeface="Inter" pitchFamily="34" charset="-120"/>
              </a:rPr>
              <a:t>succede</a:t>
            </a:r>
            <a:r>
              <a:rPr lang="en-US" sz="3000" b="1" i="0" kern="0" spc="-60" dirty="0">
                <a:solidFill>
                  <a:srgbClr val="0F1B2D"/>
                </a:solidFill>
                <a:latin typeface="Inter" pitchFamily="34" charset="0"/>
                <a:ea typeface="Inter" pitchFamily="34" charset="-122"/>
                <a:cs typeface="Inter" pitchFamily="34" charset="-120"/>
              </a:rPr>
              <a:t> </a:t>
            </a:r>
            <a:r>
              <a:rPr lang="en-US" sz="3000" b="1" i="0" kern="0" spc="-60" dirty="0">
                <a:solidFill>
                  <a:srgbClr val="2E6BD1"/>
                </a:solidFill>
                <a:latin typeface="Inter" pitchFamily="34" charset="0"/>
                <a:ea typeface="Inter" pitchFamily="34" charset="-122"/>
                <a:cs typeface="Inter" pitchFamily="34" charset="-120"/>
              </a:rPr>
              <a:t>ad ogni logon</a:t>
            </a:r>
            <a:endParaRPr lang="en-US" sz="3000" dirty="0"/>
          </a:p>
        </p:txBody>
      </p:sp>
      <p:sp>
        <p:nvSpPr>
          <p:cNvPr id="4" name="Shape 2"/>
          <p:cNvSpPr/>
          <p:nvPr/>
        </p:nvSpPr>
        <p:spPr>
          <a:xfrm>
            <a:off x="812800" y="1851670"/>
            <a:ext cx="2113280" cy="1386840"/>
          </a:xfrm>
          <a:prstGeom prst="rect">
            <a:avLst/>
          </a:prstGeom>
          <a:solidFill>
            <a:srgbClr val="FFFFFF"/>
          </a:solidFill>
          <a:ln/>
        </p:spPr>
        <p:txBody>
          <a:bodyPr/>
          <a:lstStyle/>
          <a:p>
            <a:endParaRPr lang="it-IT"/>
          </a:p>
        </p:txBody>
      </p:sp>
      <p:sp>
        <p:nvSpPr>
          <p:cNvPr id="5" name="Shape 3"/>
          <p:cNvSpPr/>
          <p:nvPr/>
        </p:nvSpPr>
        <p:spPr>
          <a:xfrm>
            <a:off x="812800" y="1864370"/>
            <a:ext cx="2113280" cy="0"/>
          </a:xfrm>
          <a:prstGeom prst="line">
            <a:avLst/>
          </a:prstGeom>
          <a:noFill/>
          <a:ln w="25400">
            <a:solidFill>
              <a:srgbClr val="2E6BD1"/>
            </a:solidFill>
            <a:prstDash val="solid"/>
          </a:ln>
        </p:spPr>
        <p:txBody>
          <a:bodyPr/>
          <a:lstStyle/>
          <a:p>
            <a:endParaRPr lang="it-IT"/>
          </a:p>
        </p:txBody>
      </p:sp>
      <p:sp>
        <p:nvSpPr>
          <p:cNvPr id="6" name="Text 4"/>
          <p:cNvSpPr/>
          <p:nvPr/>
        </p:nvSpPr>
        <p:spPr>
          <a:xfrm>
            <a:off x="990600" y="2054870"/>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01</a:t>
            </a:r>
            <a:endParaRPr lang="en-US" sz="1200" dirty="0"/>
          </a:p>
        </p:txBody>
      </p:sp>
      <p:sp>
        <p:nvSpPr>
          <p:cNvPr id="7" name="Text 5"/>
          <p:cNvSpPr/>
          <p:nvPr/>
        </p:nvSpPr>
        <p:spPr>
          <a:xfrm>
            <a:off x="990600" y="2344415"/>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Rete</a:t>
            </a:r>
            <a:endParaRPr lang="en-US" sz="1400" dirty="0"/>
          </a:p>
        </p:txBody>
      </p:sp>
      <p:sp>
        <p:nvSpPr>
          <p:cNvPr id="8" name="Text 6"/>
          <p:cNvSpPr/>
          <p:nvPr/>
        </p:nvSpPr>
        <p:spPr>
          <a:xfrm>
            <a:off x="990600" y="26339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Handshake TCP, eventuale TLS</a:t>
            </a:r>
            <a:endParaRPr lang="en-US" sz="1200" dirty="0"/>
          </a:p>
        </p:txBody>
      </p:sp>
      <p:sp>
        <p:nvSpPr>
          <p:cNvPr id="9" name="Shape 7"/>
          <p:cNvSpPr/>
          <p:nvPr/>
        </p:nvSpPr>
        <p:spPr>
          <a:xfrm>
            <a:off x="2926080" y="1851670"/>
            <a:ext cx="2113280" cy="1386840"/>
          </a:xfrm>
          <a:prstGeom prst="rect">
            <a:avLst/>
          </a:prstGeom>
          <a:solidFill>
            <a:srgbClr val="FFFFFF"/>
          </a:solidFill>
          <a:ln/>
        </p:spPr>
        <p:txBody>
          <a:bodyPr/>
          <a:lstStyle/>
          <a:p>
            <a:endParaRPr lang="it-IT"/>
          </a:p>
        </p:txBody>
      </p:sp>
      <p:sp>
        <p:nvSpPr>
          <p:cNvPr id="10" name="Shape 8"/>
          <p:cNvSpPr/>
          <p:nvPr/>
        </p:nvSpPr>
        <p:spPr>
          <a:xfrm>
            <a:off x="2926080" y="1864370"/>
            <a:ext cx="2113280" cy="0"/>
          </a:xfrm>
          <a:prstGeom prst="line">
            <a:avLst/>
          </a:prstGeom>
          <a:noFill/>
          <a:ln w="25400">
            <a:solidFill>
              <a:srgbClr val="2E6BD1"/>
            </a:solidFill>
            <a:prstDash val="solid"/>
          </a:ln>
        </p:spPr>
        <p:txBody>
          <a:bodyPr/>
          <a:lstStyle/>
          <a:p>
            <a:endParaRPr lang="it-IT"/>
          </a:p>
        </p:txBody>
      </p:sp>
      <p:sp>
        <p:nvSpPr>
          <p:cNvPr id="11" name="Text 9"/>
          <p:cNvSpPr/>
          <p:nvPr/>
        </p:nvSpPr>
        <p:spPr>
          <a:xfrm>
            <a:off x="3103880" y="2054870"/>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02</a:t>
            </a:r>
            <a:endParaRPr lang="en-US" sz="1200" dirty="0"/>
          </a:p>
        </p:txBody>
      </p:sp>
      <p:sp>
        <p:nvSpPr>
          <p:cNvPr id="12" name="Text 10"/>
          <p:cNvSpPr/>
          <p:nvPr/>
        </p:nvSpPr>
        <p:spPr>
          <a:xfrm>
            <a:off x="3103880" y="2344415"/>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Listener</a:t>
            </a:r>
            <a:endParaRPr lang="en-US" sz="1400" dirty="0"/>
          </a:p>
        </p:txBody>
      </p:sp>
      <p:sp>
        <p:nvSpPr>
          <p:cNvPr id="13" name="Text 11"/>
          <p:cNvSpPr/>
          <p:nvPr/>
        </p:nvSpPr>
        <p:spPr>
          <a:xfrm>
            <a:off x="3103880" y="26339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Riceve la richiesta e crea un server process</a:t>
            </a:r>
            <a:endParaRPr lang="en-US" sz="1200" dirty="0"/>
          </a:p>
        </p:txBody>
      </p:sp>
      <p:sp>
        <p:nvSpPr>
          <p:cNvPr id="14" name="Shape 12"/>
          <p:cNvSpPr/>
          <p:nvPr/>
        </p:nvSpPr>
        <p:spPr>
          <a:xfrm>
            <a:off x="5039360" y="1851670"/>
            <a:ext cx="2113280" cy="1386840"/>
          </a:xfrm>
          <a:prstGeom prst="rect">
            <a:avLst/>
          </a:prstGeom>
          <a:solidFill>
            <a:srgbClr val="FFFFFF"/>
          </a:solidFill>
          <a:ln/>
        </p:spPr>
        <p:txBody>
          <a:bodyPr/>
          <a:lstStyle/>
          <a:p>
            <a:endParaRPr lang="it-IT"/>
          </a:p>
        </p:txBody>
      </p:sp>
      <p:sp>
        <p:nvSpPr>
          <p:cNvPr id="15" name="Shape 13"/>
          <p:cNvSpPr/>
          <p:nvPr/>
        </p:nvSpPr>
        <p:spPr>
          <a:xfrm>
            <a:off x="5039360" y="1864370"/>
            <a:ext cx="2113280" cy="0"/>
          </a:xfrm>
          <a:prstGeom prst="line">
            <a:avLst/>
          </a:prstGeom>
          <a:noFill/>
          <a:ln w="25400">
            <a:solidFill>
              <a:srgbClr val="2E6BD1"/>
            </a:solidFill>
            <a:prstDash val="solid"/>
          </a:ln>
        </p:spPr>
        <p:txBody>
          <a:bodyPr/>
          <a:lstStyle/>
          <a:p>
            <a:endParaRPr lang="it-IT"/>
          </a:p>
        </p:txBody>
      </p:sp>
      <p:sp>
        <p:nvSpPr>
          <p:cNvPr id="16" name="Text 14"/>
          <p:cNvSpPr/>
          <p:nvPr/>
        </p:nvSpPr>
        <p:spPr>
          <a:xfrm>
            <a:off x="5217160" y="2054870"/>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03</a:t>
            </a:r>
            <a:endParaRPr lang="en-US" sz="1200" dirty="0"/>
          </a:p>
        </p:txBody>
      </p:sp>
      <p:sp>
        <p:nvSpPr>
          <p:cNvPr id="17" name="Text 15"/>
          <p:cNvSpPr/>
          <p:nvPr/>
        </p:nvSpPr>
        <p:spPr>
          <a:xfrm>
            <a:off x="5217160" y="2344415"/>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Autenticazione</a:t>
            </a:r>
            <a:endParaRPr lang="en-US" sz="1400" dirty="0"/>
          </a:p>
        </p:txBody>
      </p:sp>
      <p:sp>
        <p:nvSpPr>
          <p:cNvPr id="18" name="Text 16"/>
          <p:cNvSpPr/>
          <p:nvPr/>
        </p:nvSpPr>
        <p:spPr>
          <a:xfrm>
            <a:off x="5217160" y="26339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Verifica password, ruoli e privilegi</a:t>
            </a:r>
            <a:endParaRPr lang="en-US" sz="1200" dirty="0"/>
          </a:p>
        </p:txBody>
      </p:sp>
      <p:sp>
        <p:nvSpPr>
          <p:cNvPr id="19" name="Shape 17"/>
          <p:cNvSpPr/>
          <p:nvPr/>
        </p:nvSpPr>
        <p:spPr>
          <a:xfrm>
            <a:off x="7152640" y="1851670"/>
            <a:ext cx="2113280" cy="1386840"/>
          </a:xfrm>
          <a:prstGeom prst="rect">
            <a:avLst/>
          </a:prstGeom>
          <a:solidFill>
            <a:srgbClr val="FFFFFF"/>
          </a:solidFill>
          <a:ln/>
        </p:spPr>
        <p:txBody>
          <a:bodyPr/>
          <a:lstStyle/>
          <a:p>
            <a:endParaRPr lang="it-IT"/>
          </a:p>
        </p:txBody>
      </p:sp>
      <p:sp>
        <p:nvSpPr>
          <p:cNvPr id="20" name="Shape 18"/>
          <p:cNvSpPr/>
          <p:nvPr/>
        </p:nvSpPr>
        <p:spPr>
          <a:xfrm>
            <a:off x="7152640" y="1864370"/>
            <a:ext cx="2113280" cy="0"/>
          </a:xfrm>
          <a:prstGeom prst="line">
            <a:avLst/>
          </a:prstGeom>
          <a:noFill/>
          <a:ln w="25400">
            <a:solidFill>
              <a:srgbClr val="2E6BD1"/>
            </a:solidFill>
            <a:prstDash val="solid"/>
          </a:ln>
        </p:spPr>
        <p:txBody>
          <a:bodyPr/>
          <a:lstStyle/>
          <a:p>
            <a:endParaRPr lang="it-IT"/>
          </a:p>
        </p:txBody>
      </p:sp>
      <p:sp>
        <p:nvSpPr>
          <p:cNvPr id="21" name="Text 19"/>
          <p:cNvSpPr/>
          <p:nvPr/>
        </p:nvSpPr>
        <p:spPr>
          <a:xfrm>
            <a:off x="7330440" y="2054870"/>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04</a:t>
            </a:r>
            <a:endParaRPr lang="en-US" sz="1200" dirty="0"/>
          </a:p>
        </p:txBody>
      </p:sp>
      <p:sp>
        <p:nvSpPr>
          <p:cNvPr id="22" name="Text 20"/>
          <p:cNvSpPr/>
          <p:nvPr/>
        </p:nvSpPr>
        <p:spPr>
          <a:xfrm>
            <a:off x="7330440" y="2344415"/>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Sessione</a:t>
            </a:r>
            <a:endParaRPr lang="en-US" sz="1400" dirty="0"/>
          </a:p>
        </p:txBody>
      </p:sp>
      <p:sp>
        <p:nvSpPr>
          <p:cNvPr id="23" name="Text 21"/>
          <p:cNvSpPr/>
          <p:nvPr/>
        </p:nvSpPr>
        <p:spPr>
          <a:xfrm>
            <a:off x="7330440" y="26339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PGA, NLS, trigger di logon, auditing</a:t>
            </a:r>
            <a:endParaRPr lang="en-US" sz="1200" dirty="0"/>
          </a:p>
        </p:txBody>
      </p:sp>
      <p:sp>
        <p:nvSpPr>
          <p:cNvPr id="24" name="Shape 22"/>
          <p:cNvSpPr/>
          <p:nvPr/>
        </p:nvSpPr>
        <p:spPr>
          <a:xfrm>
            <a:off x="9265920" y="1851670"/>
            <a:ext cx="2113280" cy="1386840"/>
          </a:xfrm>
          <a:prstGeom prst="rect">
            <a:avLst/>
          </a:prstGeom>
          <a:solidFill>
            <a:srgbClr val="0F1B2D"/>
          </a:solidFill>
          <a:ln/>
        </p:spPr>
        <p:txBody>
          <a:bodyPr/>
          <a:lstStyle/>
          <a:p>
            <a:endParaRPr lang="it-IT"/>
          </a:p>
        </p:txBody>
      </p:sp>
      <p:sp>
        <p:nvSpPr>
          <p:cNvPr id="25" name="Shape 23"/>
          <p:cNvSpPr/>
          <p:nvPr/>
        </p:nvSpPr>
        <p:spPr>
          <a:xfrm>
            <a:off x="9265920" y="1864370"/>
            <a:ext cx="2113280" cy="0"/>
          </a:xfrm>
          <a:prstGeom prst="line">
            <a:avLst/>
          </a:prstGeom>
          <a:noFill/>
          <a:ln w="25400">
            <a:solidFill>
              <a:srgbClr val="2E6BD1"/>
            </a:solidFill>
            <a:prstDash val="solid"/>
          </a:ln>
        </p:spPr>
        <p:txBody>
          <a:bodyPr/>
          <a:lstStyle/>
          <a:p>
            <a:endParaRPr lang="it-IT"/>
          </a:p>
        </p:txBody>
      </p:sp>
      <p:sp>
        <p:nvSpPr>
          <p:cNvPr id="26" name="Text 24"/>
          <p:cNvSpPr/>
          <p:nvPr/>
        </p:nvSpPr>
        <p:spPr>
          <a:xfrm>
            <a:off x="9443720" y="2054870"/>
            <a:ext cx="181041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05</a:t>
            </a:r>
            <a:endParaRPr lang="en-US" sz="1200" dirty="0"/>
          </a:p>
        </p:txBody>
      </p:sp>
      <p:sp>
        <p:nvSpPr>
          <p:cNvPr id="27" name="Text 25"/>
          <p:cNvSpPr/>
          <p:nvPr/>
        </p:nvSpPr>
        <p:spPr>
          <a:xfrm>
            <a:off x="9443720" y="2344415"/>
            <a:ext cx="18104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6F8FB"/>
                </a:solidFill>
                <a:latin typeface="Inter" pitchFamily="34" charset="0"/>
                <a:ea typeface="Inter" pitchFamily="34" charset="-122"/>
                <a:cs typeface="Inter" pitchFamily="34" charset="-120"/>
              </a:rPr>
              <a:t>Chiusura</a:t>
            </a:r>
            <a:endParaRPr lang="en-US" sz="1400" dirty="0"/>
          </a:p>
        </p:txBody>
      </p:sp>
      <p:sp>
        <p:nvSpPr>
          <p:cNvPr id="28" name="Text 26"/>
          <p:cNvSpPr/>
          <p:nvPr/>
        </p:nvSpPr>
        <p:spPr>
          <a:xfrm>
            <a:off x="9443720" y="2633985"/>
            <a:ext cx="181041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8"/>
                </a:solidFill>
                <a:latin typeface="Inter" pitchFamily="34" charset="0"/>
                <a:ea typeface="Inter" pitchFamily="34" charset="-122"/>
                <a:cs typeface="Inter" pitchFamily="34" charset="-120"/>
              </a:rPr>
              <a:t>Tutto smontato, processo terminato</a:t>
            </a:r>
            <a:endParaRPr lang="en-US" sz="1200" dirty="0"/>
          </a:p>
        </p:txBody>
      </p:sp>
      <p:sp>
        <p:nvSpPr>
          <p:cNvPr id="29" name="Text 27"/>
          <p:cNvSpPr/>
          <p:nvPr/>
        </p:nvSpPr>
        <p:spPr>
          <a:xfrm>
            <a:off x="812800" y="3543300"/>
            <a:ext cx="10566400" cy="80010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Una lettura per chiave primaria costa una frazione di millisecondo. Un logon costa molto di più: aprire una connessione per ogni query significa pagare il prezzo più alto per il lavoro più piccolo.</a:t>
            </a:r>
            <a:endParaRPr lang="en-US" sz="1300" dirty="0"/>
          </a:p>
        </p:txBody>
      </p:sp>
      <p:sp>
        <p:nvSpPr>
          <p:cNvPr id="30" name="Text 28"/>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CONNESSIONI</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Tre modelli </a:t>
            </a:r>
            <a:r>
              <a:rPr lang="en-US" sz="3000" b="1" i="0" kern="0" spc="-60" dirty="0">
                <a:solidFill>
                  <a:srgbClr val="2E6BD1"/>
                </a:solidFill>
                <a:latin typeface="Inter" pitchFamily="34" charset="0"/>
                <a:ea typeface="Inter" pitchFamily="34" charset="-122"/>
                <a:cs typeface="Inter" pitchFamily="34" charset="-120"/>
              </a:rPr>
              <a:t>lato server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2784776559"/>
              </p:ext>
            </p:extLst>
          </p:nvPr>
        </p:nvGraphicFramePr>
        <p:xfrm>
          <a:off x="822960" y="1811030"/>
          <a:ext cx="10556240" cy="1582420"/>
        </p:xfrm>
        <a:graphic>
          <a:graphicData uri="http://schemas.openxmlformats.org/drawingml/2006/table">
            <a:tbl>
              <a:tblPr/>
              <a:tblGrid>
                <a:gridCol w="2533498">
                  <a:extLst>
                    <a:ext uri="{9D8B030D-6E8A-4147-A177-3AD203B41FA5}">
                      <a16:colId xmlns:a16="http://schemas.microsoft.com/office/drawing/2014/main" val="20000"/>
                    </a:ext>
                  </a:extLst>
                </a:gridCol>
                <a:gridCol w="4222496">
                  <a:extLst>
                    <a:ext uri="{9D8B030D-6E8A-4147-A177-3AD203B41FA5}">
                      <a16:colId xmlns:a16="http://schemas.microsoft.com/office/drawing/2014/main" val="20001"/>
                    </a:ext>
                  </a:extLst>
                </a:gridCol>
                <a:gridCol w="3800246">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Modello</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Come funziona</a:t>
                      </a:r>
                      <a:endParaRPr lang="en-US" sz="1300" dirty="0">
                        <a:latin typeface="Inter" charset="0"/>
                        <a:ea typeface="Inter" charset="0"/>
                        <a:cs typeface="Inter" charset="0"/>
                      </a:endParaRPr>
                    </a:p>
                  </a:txBody>
                  <a:tcPr marL="57785" marR="57785" marT="57785" marB="57785">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820"/>
                        </a:lnSpc>
                        <a:buNone/>
                      </a:pPr>
                      <a:r>
                        <a:rPr lang="en-US" sz="1300" b="1" dirty="0">
                          <a:solidFill>
                            <a:srgbClr val="0F1B2D"/>
                          </a:solidFill>
                          <a:latin typeface="Inter" pitchFamily="34" charset="0"/>
                          <a:ea typeface="Inter" pitchFamily="34" charset="-122"/>
                          <a:cs typeface="Inter" pitchFamily="34" charset="-120"/>
                        </a:rPr>
                        <a:t>Quando</a:t>
                      </a:r>
                      <a:endParaRPr lang="en-US" sz="1300" dirty="0">
                        <a:latin typeface="Inter" charset="0"/>
                        <a:ea typeface="Inter" charset="0"/>
                        <a:cs typeface="Inter" charset="0"/>
                      </a:endParaRPr>
                    </a:p>
                  </a:txBody>
                  <a:tcPr marL="57785" marR="57785" marT="57785" marB="57785">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Dedicated server</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Un processo server per ogni connessione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Default, la scelta più comune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Shared server</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Pochi processi condivisi tramite dispatcher</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Molte sessioni poco attive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DRCP</a:t>
                      </a:r>
                      <a:endParaRPr lang="en-US" sz="1300" dirty="0">
                        <a:latin typeface="Inter" charset="0"/>
                        <a:ea typeface="Inter" charset="0"/>
                        <a:cs typeface="Inter" charset="0"/>
                      </a:endParaRPr>
                    </a:p>
                  </a:txBody>
                  <a:tcPr marL="57785" marR="57785" marT="57785" marB="57785">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F1B2D"/>
                          </a:solidFill>
                          <a:latin typeface="Inter" pitchFamily="34" charset="0"/>
                          <a:ea typeface="Inter" pitchFamily="34" charset="-122"/>
                          <a:cs typeface="Inter" pitchFamily="34" charset="-120"/>
                        </a:rPr>
                        <a:t>Pool di server process gestito dal database</a:t>
                      </a:r>
                      <a:endParaRPr lang="en-US" sz="1300" dirty="0">
                        <a:latin typeface="Inter" charset="0"/>
                        <a:ea typeface="Inter" charset="0"/>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ct val="100000"/>
                        </a:lnSpc>
                        <a:buNone/>
                      </a:pPr>
                      <a:r>
                        <a:rPr lang="en-US" sz="1300" dirty="0">
                          <a:solidFill>
                            <a:srgbClr val="0F1B2D"/>
                          </a:solidFill>
                          <a:latin typeface="Inter" pitchFamily="34" charset="0"/>
                          <a:ea typeface="Inter" pitchFamily="34" charset="-122"/>
                          <a:cs typeface="Inter" pitchFamily="34" charset="-120"/>
                        </a:rPr>
                        <a:t>Applicazioni senza pool lato client </a:t>
                      </a:r>
                      <a:r>
                        <a:rPr lang="it-IT" sz="1300" kern="1200" dirty="0">
                          <a:solidFill>
                            <a:srgbClr val="0F1B2D"/>
                          </a:solidFill>
                          <a:latin typeface="Inter" pitchFamily="34" charset="0"/>
                          <a:ea typeface="Inter" pitchFamily="34" charset="-122"/>
                          <a:cs typeface="+mn-cs"/>
                        </a:rPr>
                        <a:t>come quelle scritte in PHP o gli script</a:t>
                      </a:r>
                      <a:endParaRPr lang="en-US" sz="1300" kern="1200" dirty="0">
                        <a:solidFill>
                          <a:srgbClr val="0F1B2D"/>
                        </a:solidFill>
                        <a:latin typeface="Inter" pitchFamily="34" charset="0"/>
                        <a:ea typeface="Inter" pitchFamily="34" charset="-122"/>
                        <a:cs typeface="Inter"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812800" y="3492500"/>
            <a:ext cx="5207000" cy="1148080"/>
          </a:xfrm>
          <a:prstGeom prst="rect">
            <a:avLst/>
          </a:prstGeom>
          <a:solidFill>
            <a:srgbClr val="FFFFFF"/>
          </a:solidFill>
          <a:ln/>
        </p:spPr>
        <p:txBody>
          <a:bodyPr/>
          <a:lstStyle/>
          <a:p>
            <a:endParaRPr lang="it-IT"/>
          </a:p>
        </p:txBody>
      </p:sp>
      <p:sp>
        <p:nvSpPr>
          <p:cNvPr id="6" name="Shape 3"/>
          <p:cNvSpPr/>
          <p:nvPr/>
        </p:nvSpPr>
        <p:spPr>
          <a:xfrm>
            <a:off x="812800" y="3505200"/>
            <a:ext cx="5207000" cy="0"/>
          </a:xfrm>
          <a:prstGeom prst="line">
            <a:avLst/>
          </a:prstGeom>
          <a:noFill/>
          <a:ln w="25400">
            <a:solidFill>
              <a:srgbClr val="2E6BD1"/>
            </a:solidFill>
            <a:prstDash val="solid"/>
          </a:ln>
        </p:spPr>
        <p:txBody>
          <a:bodyPr/>
          <a:lstStyle/>
          <a:p>
            <a:endParaRPr lang="it-IT"/>
          </a:p>
        </p:txBody>
      </p:sp>
      <p:sp>
        <p:nvSpPr>
          <p:cNvPr id="7" name="Text 4"/>
          <p:cNvSpPr/>
          <p:nvPr/>
        </p:nvSpPr>
        <p:spPr>
          <a:xfrm>
            <a:off x="990600" y="3695700"/>
            <a:ext cx="49969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Limiti da conoscere</a:t>
            </a:r>
            <a:endParaRPr lang="en-US" sz="1400" dirty="0"/>
          </a:p>
        </p:txBody>
      </p:sp>
      <p:sp>
        <p:nvSpPr>
          <p:cNvPr id="8" name="Text 5"/>
          <p:cNvSpPr/>
          <p:nvPr/>
        </p:nvSpPr>
        <p:spPr>
          <a:xfrm>
            <a:off x="990600" y="3972570"/>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PROCESSES · SESSIONS</a:t>
            </a:r>
            <a:endParaRPr lang="en-US" sz="1200" dirty="0"/>
          </a:p>
        </p:txBody>
      </p:sp>
      <p:sp>
        <p:nvSpPr>
          <p:cNvPr id="9" name="Text 6"/>
          <p:cNvSpPr/>
          <p:nvPr/>
        </p:nvSpPr>
        <p:spPr>
          <a:xfrm>
            <a:off x="990600" y="4249415"/>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Superati, i nuovi logon falliscono.</a:t>
            </a:r>
            <a:endParaRPr lang="en-US" sz="1200" dirty="0"/>
          </a:p>
        </p:txBody>
      </p:sp>
      <p:sp>
        <p:nvSpPr>
          <p:cNvPr id="10" name="Shape 7"/>
          <p:cNvSpPr/>
          <p:nvPr/>
        </p:nvSpPr>
        <p:spPr>
          <a:xfrm>
            <a:off x="6172200" y="3492500"/>
            <a:ext cx="5207000" cy="1148080"/>
          </a:xfrm>
          <a:prstGeom prst="rect">
            <a:avLst/>
          </a:prstGeom>
          <a:solidFill>
            <a:srgbClr val="FFFFFF"/>
          </a:solidFill>
          <a:ln/>
        </p:spPr>
        <p:txBody>
          <a:bodyPr/>
          <a:lstStyle/>
          <a:p>
            <a:endParaRPr lang="it-IT"/>
          </a:p>
        </p:txBody>
      </p:sp>
      <p:sp>
        <p:nvSpPr>
          <p:cNvPr id="11" name="Shape 8"/>
          <p:cNvSpPr/>
          <p:nvPr/>
        </p:nvSpPr>
        <p:spPr>
          <a:xfrm>
            <a:off x="6172200" y="3505200"/>
            <a:ext cx="5207000" cy="0"/>
          </a:xfrm>
          <a:prstGeom prst="line">
            <a:avLst/>
          </a:prstGeom>
          <a:noFill/>
          <a:ln w="25400">
            <a:solidFill>
              <a:srgbClr val="2E6BD1"/>
            </a:solidFill>
            <a:prstDash val="solid"/>
          </a:ln>
        </p:spPr>
        <p:txBody>
          <a:bodyPr/>
          <a:lstStyle/>
          <a:p>
            <a:endParaRPr lang="it-IT"/>
          </a:p>
        </p:txBody>
      </p:sp>
      <p:sp>
        <p:nvSpPr>
          <p:cNvPr id="12" name="Text 9"/>
          <p:cNvSpPr/>
          <p:nvPr/>
        </p:nvSpPr>
        <p:spPr>
          <a:xfrm>
            <a:off x="6350000" y="3695700"/>
            <a:ext cx="49969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Dove guardare</a:t>
            </a:r>
            <a:endParaRPr lang="en-US" sz="1400" dirty="0"/>
          </a:p>
        </p:txBody>
      </p:sp>
      <p:sp>
        <p:nvSpPr>
          <p:cNvPr id="13" name="Text 10"/>
          <p:cNvSpPr/>
          <p:nvPr/>
        </p:nvSpPr>
        <p:spPr>
          <a:xfrm>
            <a:off x="6350000" y="3972570"/>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4C9C"/>
                </a:solidFill>
                <a:latin typeface="JetBrains Mono" pitchFamily="49" charset="0"/>
                <a:ea typeface="JetBrains Mono" pitchFamily="49" charset="-122"/>
                <a:cs typeface="JetBrains Mono" pitchFamily="49" charset="-120"/>
              </a:rPr>
              <a:t>V$RESOURCE_LIMIT</a:t>
            </a:r>
            <a:endParaRPr lang="en-US" sz="1200" dirty="0"/>
          </a:p>
        </p:txBody>
      </p:sp>
      <p:sp>
        <p:nvSpPr>
          <p:cNvPr id="14" name="Text 11"/>
          <p:cNvSpPr/>
          <p:nvPr/>
        </p:nvSpPr>
        <p:spPr>
          <a:xfrm>
            <a:off x="6350000" y="4249415"/>
            <a:ext cx="49969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Utilizzo attuale e massimo raggiunto.</a:t>
            </a:r>
            <a:endParaRPr lang="en-US" sz="1200" dirty="0"/>
          </a:p>
        </p:txBody>
      </p:sp>
      <p:sp>
        <p:nvSpPr>
          <p:cNvPr id="15" name="Text 12"/>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CONNECTION POOL</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Aprire una volta, </a:t>
            </a:r>
            <a:r>
              <a:rPr lang="en-US" sz="3000" b="1" i="0" kern="0" spc="-60" dirty="0">
                <a:solidFill>
                  <a:srgbClr val="2E6BD1"/>
                </a:solidFill>
                <a:latin typeface="Inter" pitchFamily="34" charset="0"/>
                <a:ea typeface="Inter" pitchFamily="34" charset="-122"/>
                <a:cs typeface="Inter" pitchFamily="34" charset="-120"/>
              </a:rPr>
              <a:t>riusare sempre</a:t>
            </a:r>
            <a:endParaRPr lang="en-US" sz="3000" dirty="0"/>
          </a:p>
        </p:txBody>
      </p:sp>
      <p:sp>
        <p:nvSpPr>
          <p:cNvPr id="4" name="Shape 2"/>
          <p:cNvSpPr/>
          <p:nvPr/>
        </p:nvSpPr>
        <p:spPr>
          <a:xfrm>
            <a:off x="812800" y="1958355"/>
            <a:ext cx="3014107" cy="883920"/>
          </a:xfrm>
          <a:prstGeom prst="rect">
            <a:avLst/>
          </a:prstGeom>
          <a:solidFill>
            <a:srgbClr val="FFFFFF"/>
          </a:solidFill>
          <a:ln/>
        </p:spPr>
        <p:txBody>
          <a:bodyPr/>
          <a:lstStyle/>
          <a:p>
            <a:endParaRPr lang="it-IT"/>
          </a:p>
        </p:txBody>
      </p:sp>
      <p:sp>
        <p:nvSpPr>
          <p:cNvPr id="5" name="Shape 3"/>
          <p:cNvSpPr/>
          <p:nvPr/>
        </p:nvSpPr>
        <p:spPr>
          <a:xfrm>
            <a:off x="812800" y="1971055"/>
            <a:ext cx="3014107" cy="0"/>
          </a:xfrm>
          <a:prstGeom prst="line">
            <a:avLst/>
          </a:prstGeom>
          <a:noFill/>
          <a:ln w="25400">
            <a:solidFill>
              <a:srgbClr val="94A3B8"/>
            </a:solidFill>
            <a:prstDash val="solid"/>
          </a:ln>
        </p:spPr>
        <p:txBody>
          <a:bodyPr/>
          <a:lstStyle/>
          <a:p>
            <a:endParaRPr lang="it-IT"/>
          </a:p>
        </p:txBody>
      </p:sp>
      <p:sp>
        <p:nvSpPr>
          <p:cNvPr id="6" name="Text 4"/>
          <p:cNvSpPr/>
          <p:nvPr/>
        </p:nvSpPr>
        <p:spPr>
          <a:xfrm>
            <a:off x="990600" y="2161555"/>
            <a:ext cx="273826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APPLICAZIONE</a:t>
            </a:r>
            <a:endParaRPr lang="en-US" sz="1200" dirty="0"/>
          </a:p>
        </p:txBody>
      </p:sp>
      <p:sp>
        <p:nvSpPr>
          <p:cNvPr id="7" name="Text 5"/>
          <p:cNvSpPr/>
          <p:nvPr/>
        </p:nvSpPr>
        <p:spPr>
          <a:xfrm>
            <a:off x="990600" y="2405378"/>
            <a:ext cx="2836307" cy="581671"/>
          </a:xfrm>
          <a:prstGeom prst="rect">
            <a:avLst/>
          </a:prstGeom>
          <a:noFill/>
          <a:ln/>
        </p:spPr>
        <p:txBody>
          <a:bodyPr wrap="square" lIns="0" tIns="0" rIns="0" bIns="0" rtlCol="0" anchor="t">
            <a:normAutofit/>
          </a:bodyPr>
          <a:lstStyle/>
          <a:p>
            <a:r>
              <a:rPr lang="en-US" sz="1200" dirty="0">
                <a:solidFill>
                  <a:srgbClr val="3D4B5E"/>
                </a:solidFill>
                <a:latin typeface="Inter" pitchFamily="34" charset="0"/>
                <a:ea typeface="Inter" pitchFamily="34" charset="-122"/>
                <a:cs typeface="Inter" pitchFamily="34" charset="-120"/>
              </a:rPr>
              <a:t>200 thread che </a:t>
            </a:r>
            <a:r>
              <a:rPr lang="en-US" sz="1200" dirty="0" err="1">
                <a:solidFill>
                  <a:srgbClr val="3D4B5E"/>
                </a:solidFill>
                <a:latin typeface="Inter" pitchFamily="34" charset="0"/>
                <a:ea typeface="Inter" pitchFamily="34" charset="-122"/>
                <a:cs typeface="Inter" pitchFamily="34" charset="-120"/>
              </a:rPr>
              <a:t>servono</a:t>
            </a:r>
            <a:r>
              <a:rPr lang="en-US" sz="1200" dirty="0">
                <a:solidFill>
                  <a:srgbClr val="3D4B5E"/>
                </a:solidFill>
                <a:latin typeface="Inter" pitchFamily="34" charset="0"/>
                <a:ea typeface="Inter" pitchFamily="34" charset="-122"/>
                <a:cs typeface="Inter" pitchFamily="34" charset="-120"/>
              </a:rPr>
              <a:t> </a:t>
            </a:r>
            <a:r>
              <a:rPr lang="en-US" sz="1200" dirty="0" err="1">
                <a:solidFill>
                  <a:srgbClr val="3D4B5E"/>
                </a:solidFill>
                <a:latin typeface="Inter" pitchFamily="34" charset="0"/>
                <a:ea typeface="Inter" pitchFamily="34" charset="-122"/>
                <a:cs typeface="Inter" pitchFamily="34" charset="-120"/>
              </a:rPr>
              <a:t>richieste</a:t>
            </a:r>
            <a:r>
              <a:rPr lang="en-US" sz="1200" dirty="0">
                <a:solidFill>
                  <a:srgbClr val="3D4B5E"/>
                </a:solidFill>
                <a:latin typeface="Inter" pitchFamily="34" charset="0"/>
                <a:ea typeface="Inter" pitchFamily="34" charset="-122"/>
                <a:cs typeface="Inter" pitchFamily="34" charset="-120"/>
              </a:rPr>
              <a:t>,</a:t>
            </a:r>
            <a:r>
              <a:rPr lang="it-IT" sz="1200" dirty="0"/>
              <a:t> ma solo una minima parte sta interrogando il database in ogni istante</a:t>
            </a:r>
            <a:endParaRPr lang="en-US" sz="1200" dirty="0"/>
          </a:p>
        </p:txBody>
      </p:sp>
      <p:pic>
        <p:nvPicPr>
          <p:cNvPr id="8" name="Image 0" descr="arrow-right"/>
          <p:cNvPicPr>
            <a:picLocks noChangeAspect="1"/>
          </p:cNvPicPr>
          <p:nvPr/>
        </p:nvPicPr>
        <p:blipFill>
          <a:blip r:embed="rId3"/>
          <a:srcRect/>
          <a:stretch/>
        </p:blipFill>
        <p:spPr>
          <a:xfrm>
            <a:off x="3979307" y="2286000"/>
            <a:ext cx="457200" cy="228600"/>
          </a:xfrm>
          <a:prstGeom prst="rect">
            <a:avLst/>
          </a:prstGeom>
        </p:spPr>
      </p:pic>
      <p:sp>
        <p:nvSpPr>
          <p:cNvPr id="9" name="Shape 6"/>
          <p:cNvSpPr/>
          <p:nvPr/>
        </p:nvSpPr>
        <p:spPr>
          <a:xfrm>
            <a:off x="4588907" y="1851670"/>
            <a:ext cx="3014186" cy="1097280"/>
          </a:xfrm>
          <a:prstGeom prst="rect">
            <a:avLst/>
          </a:prstGeom>
          <a:solidFill>
            <a:srgbClr val="0F1B2D"/>
          </a:solidFill>
          <a:ln/>
        </p:spPr>
        <p:txBody>
          <a:bodyPr/>
          <a:lstStyle/>
          <a:p>
            <a:endParaRPr lang="it-IT"/>
          </a:p>
        </p:txBody>
      </p:sp>
      <p:sp>
        <p:nvSpPr>
          <p:cNvPr id="10" name="Shape 7"/>
          <p:cNvSpPr/>
          <p:nvPr/>
        </p:nvSpPr>
        <p:spPr>
          <a:xfrm>
            <a:off x="4588907" y="1864370"/>
            <a:ext cx="3014186" cy="0"/>
          </a:xfrm>
          <a:prstGeom prst="line">
            <a:avLst/>
          </a:prstGeom>
          <a:noFill/>
          <a:ln w="25400">
            <a:solidFill>
              <a:srgbClr val="2E6BD1"/>
            </a:solidFill>
            <a:prstDash val="solid"/>
          </a:ln>
        </p:spPr>
        <p:txBody>
          <a:bodyPr/>
          <a:lstStyle/>
          <a:p>
            <a:endParaRPr lang="it-IT"/>
          </a:p>
        </p:txBody>
      </p:sp>
      <p:sp>
        <p:nvSpPr>
          <p:cNvPr id="11" name="Text 8"/>
          <p:cNvSpPr/>
          <p:nvPr/>
        </p:nvSpPr>
        <p:spPr>
          <a:xfrm>
            <a:off x="4766707" y="2054870"/>
            <a:ext cx="2738344"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9BFF"/>
                </a:solidFill>
                <a:latin typeface="Inter" pitchFamily="34" charset="0"/>
                <a:ea typeface="Inter" pitchFamily="34" charset="-122"/>
                <a:cs typeface="Inter" pitchFamily="34" charset="-120"/>
              </a:rPr>
              <a:t>POOL</a:t>
            </a:r>
            <a:endParaRPr lang="en-US" sz="1200" dirty="0"/>
          </a:p>
        </p:txBody>
      </p:sp>
      <p:sp>
        <p:nvSpPr>
          <p:cNvPr id="12" name="Text 9"/>
          <p:cNvSpPr/>
          <p:nvPr/>
        </p:nvSpPr>
        <p:spPr>
          <a:xfrm>
            <a:off x="4766707" y="2344415"/>
            <a:ext cx="273834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Inter" pitchFamily="34" charset="0"/>
                <a:ea typeface="Inter" pitchFamily="34" charset="-122"/>
                <a:cs typeface="Inter" pitchFamily="34" charset="-120"/>
              </a:rPr>
              <a:t>20 connessioni già aperte: prestito e restituzione</a:t>
            </a:r>
            <a:endParaRPr lang="en-US" sz="1200" dirty="0"/>
          </a:p>
        </p:txBody>
      </p:sp>
      <p:pic>
        <p:nvPicPr>
          <p:cNvPr id="13" name="Image 1" descr="arrow-right"/>
          <p:cNvPicPr>
            <a:picLocks noChangeAspect="1"/>
          </p:cNvPicPr>
          <p:nvPr/>
        </p:nvPicPr>
        <p:blipFill>
          <a:blip r:embed="rId3"/>
          <a:srcRect/>
          <a:stretch/>
        </p:blipFill>
        <p:spPr>
          <a:xfrm>
            <a:off x="7755493" y="2286000"/>
            <a:ext cx="457200" cy="228600"/>
          </a:xfrm>
          <a:prstGeom prst="rect">
            <a:avLst/>
          </a:prstGeom>
        </p:spPr>
      </p:pic>
      <p:sp>
        <p:nvSpPr>
          <p:cNvPr id="14" name="Shape 10"/>
          <p:cNvSpPr/>
          <p:nvPr/>
        </p:nvSpPr>
        <p:spPr>
          <a:xfrm>
            <a:off x="8365093" y="1851670"/>
            <a:ext cx="3014107" cy="1097280"/>
          </a:xfrm>
          <a:prstGeom prst="rect">
            <a:avLst/>
          </a:prstGeom>
          <a:solidFill>
            <a:srgbClr val="FFFFFF"/>
          </a:solidFill>
          <a:ln/>
        </p:spPr>
        <p:txBody>
          <a:bodyPr/>
          <a:lstStyle/>
          <a:p>
            <a:endParaRPr lang="it-IT"/>
          </a:p>
        </p:txBody>
      </p:sp>
      <p:sp>
        <p:nvSpPr>
          <p:cNvPr id="15" name="Shape 11"/>
          <p:cNvSpPr/>
          <p:nvPr/>
        </p:nvSpPr>
        <p:spPr>
          <a:xfrm>
            <a:off x="8365093" y="1864370"/>
            <a:ext cx="3014107" cy="0"/>
          </a:xfrm>
          <a:prstGeom prst="line">
            <a:avLst/>
          </a:prstGeom>
          <a:noFill/>
          <a:ln w="25400">
            <a:solidFill>
              <a:srgbClr val="2E6BD1"/>
            </a:solidFill>
            <a:prstDash val="solid"/>
          </a:ln>
        </p:spPr>
        <p:txBody>
          <a:bodyPr/>
          <a:lstStyle/>
          <a:p>
            <a:endParaRPr lang="it-IT"/>
          </a:p>
        </p:txBody>
      </p:sp>
      <p:sp>
        <p:nvSpPr>
          <p:cNvPr id="16" name="Text 12"/>
          <p:cNvSpPr/>
          <p:nvPr/>
        </p:nvSpPr>
        <p:spPr>
          <a:xfrm>
            <a:off x="8542893" y="2054870"/>
            <a:ext cx="273826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DATABASE</a:t>
            </a:r>
            <a:endParaRPr lang="en-US" sz="1200" dirty="0"/>
          </a:p>
        </p:txBody>
      </p:sp>
      <p:sp>
        <p:nvSpPr>
          <p:cNvPr id="17" name="Text 13"/>
          <p:cNvSpPr/>
          <p:nvPr/>
        </p:nvSpPr>
        <p:spPr>
          <a:xfrm>
            <a:off x="8542893" y="2344415"/>
            <a:ext cx="273826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20 sessioni stabili, nessun logon continuo</a:t>
            </a:r>
            <a:endParaRPr lang="en-US" sz="1200" dirty="0"/>
          </a:p>
        </p:txBody>
      </p:sp>
      <p:sp>
        <p:nvSpPr>
          <p:cNvPr id="18" name="Text 14"/>
          <p:cNvSpPr/>
          <p:nvPr/>
        </p:nvSpPr>
        <p:spPr>
          <a:xfrm>
            <a:off x="812800" y="3253755"/>
            <a:ext cx="5207000" cy="474980"/>
          </a:xfrm>
          <a:prstGeom prst="rect">
            <a:avLst/>
          </a:prstGeom>
          <a:solidFill>
            <a:srgbClr val="DCE5F2"/>
          </a:solidFill>
          <a:ln/>
        </p:spPr>
        <p:txBody>
          <a:bodyPr wrap="square" lIns="177800" tIns="127000" rIns="32258" bIns="101600" rtlCol="0" anchor="t">
            <a:normAutofit/>
          </a:bodyPr>
          <a:lstStyle/>
          <a:p>
            <a:pPr marL="0" indent="0" algn="l">
              <a:lnSpc>
                <a:spcPts val="1740"/>
              </a:lnSpc>
              <a:buNone/>
            </a:pPr>
            <a:r>
              <a:rPr lang="en-US" sz="1200" b="1" dirty="0">
                <a:solidFill>
                  <a:srgbClr val="0F1B2D"/>
                </a:solidFill>
                <a:latin typeface="Inter" pitchFamily="34" charset="0"/>
                <a:ea typeface="Inter" pitchFamily="34" charset="-122"/>
                <a:cs typeface="Inter" pitchFamily="34" charset="-120"/>
              </a:rPr>
              <a:t>close()</a:t>
            </a:r>
            <a:r>
              <a:rPr lang="en-US" sz="1200" dirty="0">
                <a:solidFill>
                  <a:srgbClr val="0F1B2D"/>
                </a:solidFill>
                <a:latin typeface="Inter" pitchFamily="34" charset="0"/>
                <a:ea typeface="Inter" pitchFamily="34" charset="-122"/>
                <a:cs typeface="Inter" pitchFamily="34" charset="-120"/>
              </a:rPr>
              <a:t> su una connessione del pool non chiude: la restituisce.</a:t>
            </a:r>
            <a:endParaRPr lang="en-US" sz="1200" dirty="0"/>
          </a:p>
        </p:txBody>
      </p:sp>
      <p:sp>
        <p:nvSpPr>
          <p:cNvPr id="19" name="Text 15"/>
          <p:cNvSpPr/>
          <p:nvPr/>
        </p:nvSpPr>
        <p:spPr>
          <a:xfrm>
            <a:off x="6172200" y="3253755"/>
            <a:ext cx="5207000" cy="474980"/>
          </a:xfrm>
          <a:prstGeom prst="rect">
            <a:avLst/>
          </a:prstGeom>
          <a:solidFill>
            <a:srgbClr val="DCE5F2"/>
          </a:solidFill>
          <a:ln/>
        </p:spPr>
        <p:txBody>
          <a:bodyPr wrap="square" lIns="177800" tIns="127000" rIns="32258" bIns="101600" rtlCol="0" anchor="t">
            <a:normAutofit/>
          </a:bodyPr>
          <a:lstStyle/>
          <a:p>
            <a:pPr marL="0" indent="0" algn="l">
              <a:lnSpc>
                <a:spcPts val="1740"/>
              </a:lnSpc>
              <a:buNone/>
            </a:pPr>
            <a:r>
              <a:rPr lang="en-US" sz="1200" dirty="0">
                <a:solidFill>
                  <a:srgbClr val="0F1B2D"/>
                </a:solidFill>
                <a:latin typeface="Inter" pitchFamily="34" charset="0"/>
                <a:ea typeface="Inter" pitchFamily="34" charset="-122"/>
                <a:cs typeface="Inter" pitchFamily="34" charset="-120"/>
              </a:rPr>
              <a:t>Pool piccolo e stabile batte pool grande ed elastico.</a:t>
            </a:r>
            <a:endParaRPr lang="en-US" sz="1200" dirty="0"/>
          </a:p>
        </p:txBody>
      </p:sp>
      <p:sp>
        <p:nvSpPr>
          <p:cNvPr id="20" name="Text 16"/>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CONNECTION POOL</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I parametri </a:t>
            </a:r>
            <a:r>
              <a:rPr lang="en-US" sz="3000" b="1" i="0" kern="0" spc="-60" dirty="0">
                <a:solidFill>
                  <a:srgbClr val="2E6BD1"/>
                </a:solidFill>
                <a:latin typeface="Inter" pitchFamily="34" charset="0"/>
                <a:ea typeface="Inter" pitchFamily="34" charset="-122"/>
                <a:cs typeface="Inter" pitchFamily="34" charset="-120"/>
              </a:rPr>
              <a:t>che contano</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1030"/>
          <a:ext cx="10556239" cy="2311400"/>
        </p:xfrm>
        <a:graphic>
          <a:graphicData uri="http://schemas.openxmlformats.org/drawingml/2006/table">
            <a:tbl>
              <a:tblPr/>
              <a:tblGrid>
                <a:gridCol w="2744622">
                  <a:extLst>
                    <a:ext uri="{9D8B030D-6E8A-4147-A177-3AD203B41FA5}">
                      <a16:colId xmlns:a16="http://schemas.microsoft.com/office/drawing/2014/main" val="20000"/>
                    </a:ext>
                  </a:extLst>
                </a:gridCol>
                <a:gridCol w="4011371">
                  <a:extLst>
                    <a:ext uri="{9D8B030D-6E8A-4147-A177-3AD203B41FA5}">
                      <a16:colId xmlns:a16="http://schemas.microsoft.com/office/drawing/2014/main" val="20001"/>
                    </a:ext>
                  </a:extLst>
                </a:gridCol>
                <a:gridCol w="3800246">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Parametro</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A cosa serve</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tc>
                  <a:txBody>
                    <a:bodyPr/>
                    <a:lstStyle/>
                    <a:p>
                      <a:pPr marL="0" indent="0">
                        <a:lnSpc>
                          <a:spcPts val="1680"/>
                        </a:lnSpc>
                        <a:buNone/>
                      </a:pPr>
                      <a:r>
                        <a:rPr lang="en-US" sz="1200" b="1" dirty="0">
                          <a:solidFill>
                            <a:srgbClr val="0F1B2D"/>
                          </a:solidFill>
                          <a:latin typeface="Inter" pitchFamily="34" charset="0"/>
                          <a:ea typeface="Inter" pitchFamily="34" charset="-122"/>
                          <a:cs typeface="Inter" pitchFamily="34" charset="-120"/>
                        </a:rPr>
                        <a:t>Esempio HikariCP</a:t>
                      </a:r>
                      <a:endParaRPr lang="en-US" sz="1200" dirty="0">
                        <a:latin typeface="Inter" charset="0"/>
                        <a:ea typeface="Inter" charset="0"/>
                        <a:cs typeface="Inter" charset="0"/>
                      </a:endParaRPr>
                    </a:p>
                  </a:txBody>
                  <a:tcPr marL="53340" marR="53340" marT="53340" marB="53340">
                    <a:lnL w="12700" cap="flat" cmpd="sng" algn="ctr">
                      <a:solidFill>
                        <a:srgbClr val="B0B7C1"/>
                      </a:solidFill>
                      <a:prstDash val="solid"/>
                      <a:round/>
                      <a:headEnd type="none" w="med" len="med"/>
                      <a:tailEnd type="none" w="med" len="med"/>
                    </a:lnL>
                    <a:lnR w="12700" cap="flat" cmpd="sng" algn="ctr">
                      <a:solidFill>
                        <a:srgbClr val="B0B7C1"/>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0B7C1"/>
                      </a:solidFill>
                      <a:prstDash val="solid"/>
                      <a:round/>
                      <a:headEnd type="none" w="med" len="med"/>
                      <a:tailEnd type="none" w="med" len="med"/>
                    </a:lnB>
                    <a:solidFill>
                      <a:srgbClr val="DCE5F2"/>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Dimensione min / max</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Quante connessioni tenere aperte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minimumIdle, maximumPoolSize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7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Attesa del prestito</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Quanto aspettare se il pool è pieno</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connectionTimeout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Timeout di inattività</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Quando chiudere le connessioni ferme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idleTimeout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Vita massima</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Rinnovare le connessioni periodicamente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maxLifetime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Validazione</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Scartare connessioni morte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isValid() del driver</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Rilevamento leak</a:t>
                      </a:r>
                      <a:endParaRPr lang="en-US" sz="1200" dirty="0">
                        <a:latin typeface="Inter" charset="0"/>
                        <a:ea typeface="Inter" charset="0"/>
                        <a:cs typeface="Inter"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Segnalare connessioni mai restituite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0F1B2D"/>
                          </a:solidFill>
                          <a:latin typeface="Inter" pitchFamily="34" charset="0"/>
                          <a:ea typeface="Inter" pitchFamily="34" charset="-122"/>
                          <a:cs typeface="Inter" pitchFamily="34" charset="-120"/>
                        </a:rPr>
                        <a:t>leakDetectionThreshold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ANOMALIA 1</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Connection </a:t>
            </a:r>
            <a:r>
              <a:rPr lang="en-US" sz="3000" b="1" i="0" kern="0" spc="-60" dirty="0">
                <a:solidFill>
                  <a:srgbClr val="2E6BD1"/>
                </a:solidFill>
                <a:latin typeface="Inter" pitchFamily="34" charset="0"/>
                <a:ea typeface="Inter" pitchFamily="34" charset="-122"/>
                <a:cs typeface="Inter" pitchFamily="34" charset="-120"/>
              </a:rPr>
              <a:t>leak</a:t>
            </a:r>
            <a:endParaRPr lang="en-US" sz="3000" dirty="0"/>
          </a:p>
        </p:txBody>
      </p:sp>
      <p:sp>
        <p:nvSpPr>
          <p:cNvPr id="4" name="Shape 2"/>
          <p:cNvSpPr/>
          <p:nvPr/>
        </p:nvSpPr>
        <p:spPr>
          <a:xfrm>
            <a:off x="812800" y="1800870"/>
            <a:ext cx="5181600" cy="995680"/>
          </a:xfrm>
          <a:prstGeom prst="rect">
            <a:avLst/>
          </a:prstGeom>
          <a:solidFill>
            <a:srgbClr val="FFFFFF"/>
          </a:solidFill>
          <a:ln/>
        </p:spPr>
        <p:txBody>
          <a:bodyPr/>
          <a:lstStyle/>
          <a:p>
            <a:endParaRPr lang="it-IT"/>
          </a:p>
        </p:txBody>
      </p:sp>
      <p:sp>
        <p:nvSpPr>
          <p:cNvPr id="5" name="Shape 3"/>
          <p:cNvSpPr/>
          <p:nvPr/>
        </p:nvSpPr>
        <p:spPr>
          <a:xfrm>
            <a:off x="825500" y="1800870"/>
            <a:ext cx="0" cy="995680"/>
          </a:xfrm>
          <a:prstGeom prst="line">
            <a:avLst/>
          </a:prstGeom>
          <a:noFill/>
          <a:ln w="25400">
            <a:solidFill>
              <a:srgbClr val="2E6BD1"/>
            </a:solidFill>
            <a:prstDash val="solid"/>
          </a:ln>
        </p:spPr>
        <p:txBody>
          <a:bodyPr/>
          <a:lstStyle/>
          <a:p>
            <a:endParaRPr lang="it-IT"/>
          </a:p>
        </p:txBody>
      </p:sp>
      <p:sp>
        <p:nvSpPr>
          <p:cNvPr id="6" name="Text 4"/>
          <p:cNvSpPr/>
          <p:nvPr/>
        </p:nvSpPr>
        <p:spPr>
          <a:xfrm>
            <a:off x="1016000" y="1953270"/>
            <a:ext cx="494461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Cos’è</a:t>
            </a:r>
            <a:endParaRPr lang="en-US" sz="1400" dirty="0"/>
          </a:p>
        </p:txBody>
      </p:sp>
      <p:sp>
        <p:nvSpPr>
          <p:cNvPr id="7" name="Text 5"/>
          <p:cNvSpPr/>
          <p:nvPr/>
        </p:nvSpPr>
        <p:spPr>
          <a:xfrm>
            <a:off x="1016000" y="2217415"/>
            <a:ext cx="49446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Una connessione presa dal pool e mai restituita, spesso per un’eccezione prima del close().</a:t>
            </a:r>
            <a:endParaRPr lang="en-US" sz="1200" dirty="0"/>
          </a:p>
        </p:txBody>
      </p:sp>
      <p:sp>
        <p:nvSpPr>
          <p:cNvPr id="8" name="Shape 6"/>
          <p:cNvSpPr/>
          <p:nvPr/>
        </p:nvSpPr>
        <p:spPr>
          <a:xfrm>
            <a:off x="812800" y="2898155"/>
            <a:ext cx="5181600" cy="995680"/>
          </a:xfrm>
          <a:prstGeom prst="rect">
            <a:avLst/>
          </a:prstGeom>
          <a:solidFill>
            <a:srgbClr val="FFFFFF"/>
          </a:solidFill>
          <a:ln/>
        </p:spPr>
        <p:txBody>
          <a:bodyPr/>
          <a:lstStyle/>
          <a:p>
            <a:endParaRPr lang="it-IT"/>
          </a:p>
        </p:txBody>
      </p:sp>
      <p:sp>
        <p:nvSpPr>
          <p:cNvPr id="9" name="Shape 7"/>
          <p:cNvSpPr/>
          <p:nvPr/>
        </p:nvSpPr>
        <p:spPr>
          <a:xfrm>
            <a:off x="825500" y="2898155"/>
            <a:ext cx="0" cy="995680"/>
          </a:xfrm>
          <a:prstGeom prst="line">
            <a:avLst/>
          </a:prstGeom>
          <a:noFill/>
          <a:ln w="25400">
            <a:solidFill>
              <a:srgbClr val="2E6BD1"/>
            </a:solidFill>
            <a:prstDash val="solid"/>
          </a:ln>
        </p:spPr>
        <p:txBody>
          <a:bodyPr/>
          <a:lstStyle/>
          <a:p>
            <a:endParaRPr lang="it-IT"/>
          </a:p>
        </p:txBody>
      </p:sp>
      <p:sp>
        <p:nvSpPr>
          <p:cNvPr id="10" name="Text 8"/>
          <p:cNvSpPr/>
          <p:nvPr/>
        </p:nvSpPr>
        <p:spPr>
          <a:xfrm>
            <a:off x="1016000" y="3050555"/>
            <a:ext cx="494461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Sintomi</a:t>
            </a:r>
            <a:endParaRPr lang="en-US" sz="1400" dirty="0"/>
          </a:p>
        </p:txBody>
      </p:sp>
      <p:sp>
        <p:nvSpPr>
          <p:cNvPr id="11" name="Text 9"/>
          <p:cNvSpPr/>
          <p:nvPr/>
        </p:nvSpPr>
        <p:spPr>
          <a:xfrm>
            <a:off x="1016000" y="3314700"/>
            <a:ext cx="49446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Pool esaurito, timeout su getConnection(), sessioni INACTIVE da ore, lock </a:t>
            </a:r>
            <a:r>
              <a:rPr lang="en-US" sz="1200" dirty="0" err="1">
                <a:solidFill>
                  <a:srgbClr val="3D4B5E"/>
                </a:solidFill>
                <a:latin typeface="Inter" pitchFamily="34" charset="0"/>
                <a:ea typeface="Inter" pitchFamily="34" charset="-122"/>
                <a:cs typeface="Inter" pitchFamily="34" charset="-120"/>
              </a:rPr>
              <a:t>mai</a:t>
            </a:r>
            <a:r>
              <a:rPr lang="en-US" sz="1200" dirty="0">
                <a:solidFill>
                  <a:srgbClr val="3D4B5E"/>
                </a:solidFill>
                <a:latin typeface="Inter" pitchFamily="34" charset="0"/>
                <a:ea typeface="Inter" pitchFamily="34" charset="-122"/>
                <a:cs typeface="Inter" pitchFamily="34" charset="-120"/>
              </a:rPr>
              <a:t> rilasciati.</a:t>
            </a:r>
            <a:endParaRPr lang="en-US" sz="1200" dirty="0"/>
          </a:p>
        </p:txBody>
      </p:sp>
      <p:sp>
        <p:nvSpPr>
          <p:cNvPr id="12" name="Text 10"/>
          <p:cNvSpPr/>
          <p:nvPr/>
        </p:nvSpPr>
        <p:spPr>
          <a:xfrm>
            <a:off x="6197600" y="1800870"/>
            <a:ext cx="5181600" cy="163068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La cura: try-with-resources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try (Connection c = ds.getConnection();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PreparedStatement ps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c.prepareStatement(sql))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t>
            </a:r>
            <a:r>
              <a:rPr lang="en-US" sz="1200" dirty="0">
                <a:solidFill>
                  <a:srgbClr val="8DB8FF"/>
                </a:solidFill>
                <a:latin typeface="JetBrains Mono" pitchFamily="49" charset="0"/>
                <a:ea typeface="JetBrains Mono" pitchFamily="49" charset="-122"/>
                <a:cs typeface="JetBrains Mono" pitchFamily="49" charset="-120"/>
              </a:rPr>
              <a:t>// chiusi anche in caso di errore</a:t>
            </a:r>
            <a:endParaRPr lang="en-US" sz="1200" dirty="0"/>
          </a:p>
        </p:txBody>
      </p:sp>
      <p:sp>
        <p:nvSpPr>
          <p:cNvPr id="13" name="Text 11"/>
          <p:cNvSpPr/>
          <p:nvPr/>
        </p:nvSpPr>
        <p:spPr>
          <a:xfrm>
            <a:off x="6197600" y="3533155"/>
            <a:ext cx="5181600" cy="96774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sid, program, last_call_et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v$session WHERE status = 'INACTIVE'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ORDER BY last_call_et DESC;</a:t>
            </a:r>
            <a:endParaRPr lang="en-US" sz="1200" dirty="0"/>
          </a:p>
        </p:txBody>
      </p:sp>
      <p:sp>
        <p:nvSpPr>
          <p:cNvPr id="14" name="Text 12"/>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04 · ANOMALIA 2</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Logon </a:t>
            </a:r>
            <a:r>
              <a:rPr lang="en-US" sz="3000" b="1" i="0" kern="0" spc="-60" dirty="0">
                <a:solidFill>
                  <a:srgbClr val="2E6BD1"/>
                </a:solidFill>
                <a:latin typeface="Inter" pitchFamily="34" charset="0"/>
                <a:ea typeface="Inter" pitchFamily="34" charset="-122"/>
                <a:cs typeface="Inter" pitchFamily="34" charset="-120"/>
              </a:rPr>
              <a:t>storm</a:t>
            </a:r>
            <a:endParaRPr lang="en-US" sz="3000" dirty="0"/>
          </a:p>
        </p:txBody>
      </p:sp>
      <p:sp>
        <p:nvSpPr>
          <p:cNvPr id="4" name="Shape 2"/>
          <p:cNvSpPr/>
          <p:nvPr/>
        </p:nvSpPr>
        <p:spPr>
          <a:xfrm>
            <a:off x="812800" y="1800870"/>
            <a:ext cx="2641600" cy="1097280"/>
          </a:xfrm>
          <a:prstGeom prst="rect">
            <a:avLst/>
          </a:prstGeom>
          <a:solidFill>
            <a:srgbClr val="FFFFFF"/>
          </a:solidFill>
          <a:ln/>
        </p:spPr>
        <p:txBody>
          <a:bodyPr/>
          <a:lstStyle/>
          <a:p>
            <a:endParaRPr lang="it-IT"/>
          </a:p>
        </p:txBody>
      </p:sp>
      <p:sp>
        <p:nvSpPr>
          <p:cNvPr id="5" name="Shape 3"/>
          <p:cNvSpPr/>
          <p:nvPr/>
        </p:nvSpPr>
        <p:spPr>
          <a:xfrm>
            <a:off x="812800" y="1813570"/>
            <a:ext cx="2641600" cy="0"/>
          </a:xfrm>
          <a:prstGeom prst="line">
            <a:avLst/>
          </a:prstGeom>
          <a:noFill/>
          <a:ln w="25400">
            <a:solidFill>
              <a:srgbClr val="2E6BD1"/>
            </a:solidFill>
            <a:prstDash val="solid"/>
          </a:ln>
        </p:spPr>
        <p:txBody>
          <a:bodyPr/>
          <a:lstStyle/>
          <a:p>
            <a:endParaRPr lang="it-IT"/>
          </a:p>
        </p:txBody>
      </p:sp>
      <p:sp>
        <p:nvSpPr>
          <p:cNvPr id="6" name="Text 4"/>
          <p:cNvSpPr/>
          <p:nvPr/>
        </p:nvSpPr>
        <p:spPr>
          <a:xfrm>
            <a:off x="990600" y="2004070"/>
            <a:ext cx="23545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01</a:t>
            </a:r>
            <a:endParaRPr lang="en-US" sz="1200" dirty="0"/>
          </a:p>
        </p:txBody>
      </p:sp>
      <p:sp>
        <p:nvSpPr>
          <p:cNvPr id="7" name="Text 5"/>
          <p:cNvSpPr/>
          <p:nvPr/>
        </p:nvSpPr>
        <p:spPr>
          <a:xfrm>
            <a:off x="990600" y="2293615"/>
            <a:ext cx="23545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Il database rallenta</a:t>
            </a:r>
            <a:endParaRPr lang="en-US" sz="1200" dirty="0"/>
          </a:p>
        </p:txBody>
      </p:sp>
      <p:sp>
        <p:nvSpPr>
          <p:cNvPr id="8" name="Shape 6"/>
          <p:cNvSpPr/>
          <p:nvPr/>
        </p:nvSpPr>
        <p:spPr>
          <a:xfrm>
            <a:off x="3454400" y="1800870"/>
            <a:ext cx="2641600" cy="1097280"/>
          </a:xfrm>
          <a:prstGeom prst="rect">
            <a:avLst/>
          </a:prstGeom>
          <a:solidFill>
            <a:srgbClr val="FFFFFF"/>
          </a:solidFill>
          <a:ln/>
        </p:spPr>
        <p:txBody>
          <a:bodyPr/>
          <a:lstStyle/>
          <a:p>
            <a:endParaRPr lang="it-IT"/>
          </a:p>
        </p:txBody>
      </p:sp>
      <p:sp>
        <p:nvSpPr>
          <p:cNvPr id="9" name="Shape 7"/>
          <p:cNvSpPr/>
          <p:nvPr/>
        </p:nvSpPr>
        <p:spPr>
          <a:xfrm>
            <a:off x="3454400" y="1813570"/>
            <a:ext cx="2641600" cy="0"/>
          </a:xfrm>
          <a:prstGeom prst="line">
            <a:avLst/>
          </a:prstGeom>
          <a:noFill/>
          <a:ln w="25400">
            <a:solidFill>
              <a:srgbClr val="2E6BD1"/>
            </a:solidFill>
            <a:prstDash val="solid"/>
          </a:ln>
        </p:spPr>
        <p:txBody>
          <a:bodyPr/>
          <a:lstStyle/>
          <a:p>
            <a:endParaRPr lang="it-IT"/>
          </a:p>
        </p:txBody>
      </p:sp>
      <p:sp>
        <p:nvSpPr>
          <p:cNvPr id="10" name="Text 8"/>
          <p:cNvSpPr/>
          <p:nvPr/>
        </p:nvSpPr>
        <p:spPr>
          <a:xfrm>
            <a:off x="3632200" y="2004070"/>
            <a:ext cx="23545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02</a:t>
            </a:r>
            <a:endParaRPr lang="en-US" sz="1200" dirty="0"/>
          </a:p>
        </p:txBody>
      </p:sp>
      <p:sp>
        <p:nvSpPr>
          <p:cNvPr id="11" name="Text 9"/>
          <p:cNvSpPr/>
          <p:nvPr/>
        </p:nvSpPr>
        <p:spPr>
          <a:xfrm>
            <a:off x="3632200" y="2293615"/>
            <a:ext cx="23545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Le connessioni restano occupate più a lungo</a:t>
            </a:r>
            <a:endParaRPr lang="en-US" sz="1200" dirty="0"/>
          </a:p>
        </p:txBody>
      </p:sp>
      <p:sp>
        <p:nvSpPr>
          <p:cNvPr id="12" name="Shape 10"/>
          <p:cNvSpPr/>
          <p:nvPr/>
        </p:nvSpPr>
        <p:spPr>
          <a:xfrm>
            <a:off x="6096000" y="1800870"/>
            <a:ext cx="2641600" cy="1097280"/>
          </a:xfrm>
          <a:prstGeom prst="rect">
            <a:avLst/>
          </a:prstGeom>
          <a:solidFill>
            <a:srgbClr val="FFFFFF"/>
          </a:solidFill>
          <a:ln/>
        </p:spPr>
        <p:txBody>
          <a:bodyPr/>
          <a:lstStyle/>
          <a:p>
            <a:endParaRPr lang="it-IT"/>
          </a:p>
        </p:txBody>
      </p:sp>
      <p:sp>
        <p:nvSpPr>
          <p:cNvPr id="13" name="Shape 11"/>
          <p:cNvSpPr/>
          <p:nvPr/>
        </p:nvSpPr>
        <p:spPr>
          <a:xfrm>
            <a:off x="6096000" y="1813570"/>
            <a:ext cx="2641600" cy="0"/>
          </a:xfrm>
          <a:prstGeom prst="line">
            <a:avLst/>
          </a:prstGeom>
          <a:noFill/>
          <a:ln w="25400">
            <a:solidFill>
              <a:srgbClr val="2E6BD1"/>
            </a:solidFill>
            <a:prstDash val="solid"/>
          </a:ln>
        </p:spPr>
        <p:txBody>
          <a:bodyPr/>
          <a:lstStyle/>
          <a:p>
            <a:endParaRPr lang="it-IT"/>
          </a:p>
        </p:txBody>
      </p:sp>
      <p:sp>
        <p:nvSpPr>
          <p:cNvPr id="14" name="Text 12"/>
          <p:cNvSpPr/>
          <p:nvPr/>
        </p:nvSpPr>
        <p:spPr>
          <a:xfrm>
            <a:off x="6273800" y="2004070"/>
            <a:ext cx="23545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BD1"/>
                </a:solidFill>
                <a:latin typeface="Inter" pitchFamily="34" charset="0"/>
                <a:ea typeface="Inter" pitchFamily="34" charset="-122"/>
                <a:cs typeface="Inter" pitchFamily="34" charset="-120"/>
              </a:rPr>
              <a:t>03</a:t>
            </a:r>
            <a:endParaRPr lang="en-US" sz="1200" dirty="0"/>
          </a:p>
        </p:txBody>
      </p:sp>
      <p:sp>
        <p:nvSpPr>
          <p:cNvPr id="15" name="Text 13"/>
          <p:cNvSpPr/>
          <p:nvPr/>
        </p:nvSpPr>
        <p:spPr>
          <a:xfrm>
            <a:off x="6273800" y="2293615"/>
            <a:ext cx="23545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Il pool elastico apre centinaia di connessioni nuove</a:t>
            </a:r>
            <a:endParaRPr lang="en-US" sz="1200" dirty="0"/>
          </a:p>
        </p:txBody>
      </p:sp>
      <p:sp>
        <p:nvSpPr>
          <p:cNvPr id="16" name="Shape 14"/>
          <p:cNvSpPr/>
          <p:nvPr/>
        </p:nvSpPr>
        <p:spPr>
          <a:xfrm>
            <a:off x="8737600" y="1800870"/>
            <a:ext cx="2641600" cy="1097280"/>
          </a:xfrm>
          <a:prstGeom prst="rect">
            <a:avLst/>
          </a:prstGeom>
          <a:solidFill>
            <a:srgbClr val="0F1B2D"/>
          </a:solidFill>
          <a:ln/>
        </p:spPr>
        <p:txBody>
          <a:bodyPr/>
          <a:lstStyle/>
          <a:p>
            <a:endParaRPr lang="it-IT"/>
          </a:p>
        </p:txBody>
      </p:sp>
      <p:sp>
        <p:nvSpPr>
          <p:cNvPr id="17" name="Shape 15"/>
          <p:cNvSpPr/>
          <p:nvPr/>
        </p:nvSpPr>
        <p:spPr>
          <a:xfrm>
            <a:off x="8737600" y="1813570"/>
            <a:ext cx="2641600" cy="0"/>
          </a:xfrm>
          <a:prstGeom prst="line">
            <a:avLst/>
          </a:prstGeom>
          <a:noFill/>
          <a:ln w="25400">
            <a:solidFill>
              <a:srgbClr val="2E6BD1"/>
            </a:solidFill>
            <a:prstDash val="solid"/>
          </a:ln>
        </p:spPr>
        <p:txBody>
          <a:bodyPr/>
          <a:lstStyle/>
          <a:p>
            <a:endParaRPr lang="it-IT"/>
          </a:p>
        </p:txBody>
      </p:sp>
      <p:sp>
        <p:nvSpPr>
          <p:cNvPr id="18" name="Text 16"/>
          <p:cNvSpPr/>
          <p:nvPr/>
        </p:nvSpPr>
        <p:spPr>
          <a:xfrm>
            <a:off x="8915400" y="2004070"/>
            <a:ext cx="23545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04</a:t>
            </a:r>
            <a:endParaRPr lang="en-US" sz="1200" dirty="0"/>
          </a:p>
        </p:txBody>
      </p:sp>
      <p:sp>
        <p:nvSpPr>
          <p:cNvPr id="19" name="Text 17"/>
          <p:cNvSpPr/>
          <p:nvPr/>
        </p:nvSpPr>
        <p:spPr>
          <a:xfrm>
            <a:off x="8915400" y="2293615"/>
            <a:ext cx="23545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8FB"/>
                </a:solidFill>
                <a:latin typeface="Inter" pitchFamily="34" charset="0"/>
                <a:ea typeface="Inter" pitchFamily="34" charset="-122"/>
                <a:cs typeface="Inter" pitchFamily="34" charset="-120"/>
              </a:rPr>
              <a:t>I logon consumano CPU: il database rallenta ancora</a:t>
            </a:r>
            <a:endParaRPr lang="en-US" sz="1200" dirty="0"/>
          </a:p>
        </p:txBody>
      </p:sp>
      <p:sp>
        <p:nvSpPr>
          <p:cNvPr id="20" name="Shape 18"/>
          <p:cNvSpPr/>
          <p:nvPr/>
        </p:nvSpPr>
        <p:spPr>
          <a:xfrm>
            <a:off x="812800" y="3152155"/>
            <a:ext cx="5207000" cy="1084580"/>
          </a:xfrm>
          <a:prstGeom prst="rect">
            <a:avLst/>
          </a:prstGeom>
          <a:solidFill>
            <a:srgbClr val="FFFFFF"/>
          </a:solidFill>
          <a:ln/>
        </p:spPr>
        <p:txBody>
          <a:bodyPr/>
          <a:lstStyle/>
          <a:p>
            <a:endParaRPr lang="it-IT"/>
          </a:p>
        </p:txBody>
      </p:sp>
      <p:sp>
        <p:nvSpPr>
          <p:cNvPr id="21" name="Shape 19"/>
          <p:cNvSpPr/>
          <p:nvPr/>
        </p:nvSpPr>
        <p:spPr>
          <a:xfrm>
            <a:off x="812800" y="3164855"/>
            <a:ext cx="5207000" cy="0"/>
          </a:xfrm>
          <a:prstGeom prst="line">
            <a:avLst/>
          </a:prstGeom>
          <a:noFill/>
          <a:ln w="25400">
            <a:solidFill>
              <a:srgbClr val="94A3B8"/>
            </a:solidFill>
            <a:prstDash val="solid"/>
          </a:ln>
        </p:spPr>
        <p:txBody>
          <a:bodyPr/>
          <a:lstStyle/>
          <a:p>
            <a:endParaRPr lang="it-IT"/>
          </a:p>
        </p:txBody>
      </p:sp>
      <p:sp>
        <p:nvSpPr>
          <p:cNvPr id="22" name="Text 20"/>
          <p:cNvSpPr/>
          <p:nvPr/>
        </p:nvSpPr>
        <p:spPr>
          <a:xfrm>
            <a:off x="990600" y="3355355"/>
            <a:ext cx="49969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Altre cause</a:t>
            </a:r>
            <a:endParaRPr lang="en-US" sz="1400" dirty="0"/>
          </a:p>
        </p:txBody>
      </p:sp>
      <p:sp>
        <p:nvSpPr>
          <p:cNvPr id="23" name="Text 21"/>
          <p:cNvSpPr/>
          <p:nvPr/>
        </p:nvSpPr>
        <p:spPr>
          <a:xfrm>
            <a:off x="990600" y="3632200"/>
            <a:ext cx="49969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Riavvio di tutti i nodi applicativi insieme, retry aggressivi, nessun pool.</a:t>
            </a:r>
            <a:endParaRPr lang="en-US" sz="1200" dirty="0"/>
          </a:p>
        </p:txBody>
      </p:sp>
      <p:sp>
        <p:nvSpPr>
          <p:cNvPr id="24" name="Shape 22"/>
          <p:cNvSpPr/>
          <p:nvPr/>
        </p:nvSpPr>
        <p:spPr>
          <a:xfrm>
            <a:off x="6172200" y="3152155"/>
            <a:ext cx="5207000" cy="1084580"/>
          </a:xfrm>
          <a:prstGeom prst="rect">
            <a:avLst/>
          </a:prstGeom>
          <a:solidFill>
            <a:srgbClr val="FFFFFF"/>
          </a:solidFill>
          <a:ln/>
        </p:spPr>
        <p:txBody>
          <a:bodyPr/>
          <a:lstStyle/>
          <a:p>
            <a:endParaRPr lang="it-IT"/>
          </a:p>
        </p:txBody>
      </p:sp>
      <p:sp>
        <p:nvSpPr>
          <p:cNvPr id="25" name="Shape 23"/>
          <p:cNvSpPr/>
          <p:nvPr/>
        </p:nvSpPr>
        <p:spPr>
          <a:xfrm>
            <a:off x="6172200" y="3164855"/>
            <a:ext cx="5207000" cy="0"/>
          </a:xfrm>
          <a:prstGeom prst="line">
            <a:avLst/>
          </a:prstGeom>
          <a:noFill/>
          <a:ln w="25400">
            <a:solidFill>
              <a:srgbClr val="2E6BD1"/>
            </a:solidFill>
            <a:prstDash val="solid"/>
          </a:ln>
        </p:spPr>
        <p:txBody>
          <a:bodyPr/>
          <a:lstStyle/>
          <a:p>
            <a:endParaRPr lang="it-IT"/>
          </a:p>
        </p:txBody>
      </p:sp>
      <p:sp>
        <p:nvSpPr>
          <p:cNvPr id="26" name="Text 24"/>
          <p:cNvSpPr/>
          <p:nvPr/>
        </p:nvSpPr>
        <p:spPr>
          <a:xfrm>
            <a:off x="6350000" y="3355355"/>
            <a:ext cx="49969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Difese</a:t>
            </a:r>
            <a:endParaRPr lang="en-US" sz="1400" dirty="0"/>
          </a:p>
        </p:txBody>
      </p:sp>
      <p:sp>
        <p:nvSpPr>
          <p:cNvPr id="27" name="Text 25"/>
          <p:cNvSpPr/>
          <p:nvPr/>
        </p:nvSpPr>
        <p:spPr>
          <a:xfrm>
            <a:off x="6350000" y="3632200"/>
            <a:ext cx="49969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Pool fisso (min = max), avvii scaglionati, rate limit sul listener, DRCP.</a:t>
            </a:r>
            <a:endParaRPr lang="en-US" sz="1200" dirty="0"/>
          </a:p>
        </p:txBody>
      </p:sp>
      <p:sp>
        <p:nvSpPr>
          <p:cNvPr id="28" name="Text 26"/>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050827"/>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9BFF"/>
                </a:solidFill>
                <a:latin typeface="Inter" pitchFamily="34" charset="0"/>
                <a:ea typeface="Inter" pitchFamily="34" charset="-122"/>
                <a:cs typeface="Inter" pitchFamily="34" charset="-120"/>
              </a:rPr>
              <a:t>05</a:t>
            </a:r>
            <a:endParaRPr lang="en-US" sz="1400" dirty="0"/>
          </a:p>
        </p:txBody>
      </p:sp>
      <p:sp>
        <p:nvSpPr>
          <p:cNvPr id="3" name="Text 1"/>
          <p:cNvSpPr/>
          <p:nvPr/>
        </p:nvSpPr>
        <p:spPr>
          <a:xfrm>
            <a:off x="812800" y="25029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94A3B8"/>
                </a:solidFill>
                <a:latin typeface="Inter" pitchFamily="34" charset="0"/>
                <a:ea typeface="Inter" pitchFamily="34" charset="-122"/>
                <a:cs typeface="Inter" pitchFamily="34" charset="-120"/>
              </a:rPr>
              <a:t>POMERIGGIO · TEORIA</a:t>
            </a:r>
            <a:endParaRPr lang="en-US" sz="1200" dirty="0"/>
          </a:p>
        </p:txBody>
      </p:sp>
      <p:sp>
        <p:nvSpPr>
          <p:cNvPr id="4" name="Text 2"/>
          <p:cNvSpPr>
            <a:spLocks noGrp="1"/>
          </p:cNvSpPr>
          <p:nvPr>
            <p:ph type="title"/>
          </p:nvPr>
        </p:nvSpPr>
        <p:spPr>
          <a:xfrm>
            <a:off x="812800" y="2919487"/>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5B9BFF"/>
                </a:solidFill>
                <a:latin typeface="Inter" pitchFamily="34" charset="0"/>
                <a:ea typeface="Inter" pitchFamily="34" charset="-122"/>
                <a:cs typeface="Inter" pitchFamily="34" charset="-120"/>
              </a:rPr>
              <a:t>Introduzione</a:t>
            </a:r>
            <a:endParaRPr lang="en-US" sz="5200" dirty="0"/>
          </a:p>
          <a:p>
            <a:pPr marL="0" indent="0" algn="l">
              <a:lnSpc>
                <a:spcPts val="5512"/>
              </a:lnSpc>
              <a:buNone/>
            </a:pPr>
            <a:r>
              <a:rPr lang="en-US" sz="5200" b="1" i="0" kern="0" spc="-105" dirty="0">
                <a:solidFill>
                  <a:srgbClr val="F6F8FB"/>
                </a:solidFill>
                <a:latin typeface="Inter" pitchFamily="34" charset="0"/>
                <a:ea typeface="Inter" pitchFamily="34" charset="-122"/>
                <a:cs typeface="Inter" pitchFamily="34" charset="-120"/>
              </a:rPr>
              <a:t>a JDBC</a:t>
            </a:r>
            <a:endParaRPr lang="en-US" sz="5200" dirty="0"/>
          </a:p>
        </p:txBody>
      </p:sp>
      <p:sp>
        <p:nvSpPr>
          <p:cNvPr id="5" name="Text 3"/>
          <p:cNvSpPr/>
          <p:nvPr/>
        </p:nvSpPr>
        <p:spPr>
          <a:xfrm>
            <a:off x="812800" y="4522713"/>
            <a:ext cx="78486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6E8"/>
                </a:solidFill>
                <a:latin typeface="Inter" pitchFamily="34" charset="0"/>
                <a:ea typeface="Inter" pitchFamily="34" charset="-122"/>
                <a:cs typeface="Inter" pitchFamily="34" charset="-120"/>
              </a:rPr>
              <a:t>Gli oggetti di base, le bind variable e lo statement caching</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05 · JDBC</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Gli oggetti </a:t>
            </a:r>
            <a:r>
              <a:rPr lang="en-US" sz="3000" b="1" i="0" kern="0" spc="-60" dirty="0">
                <a:solidFill>
                  <a:srgbClr val="2E6BD1"/>
                </a:solidFill>
                <a:latin typeface="Inter" pitchFamily="34" charset="0"/>
                <a:ea typeface="Inter" pitchFamily="34" charset="-122"/>
                <a:cs typeface="Inter" pitchFamily="34" charset="-120"/>
              </a:rPr>
              <a:t>di base</a:t>
            </a:r>
            <a:endParaRPr lang="en-US" sz="3000" dirty="0"/>
          </a:p>
        </p:txBody>
      </p:sp>
      <p:sp>
        <p:nvSpPr>
          <p:cNvPr id="4" name="Shape 2"/>
          <p:cNvSpPr/>
          <p:nvPr/>
        </p:nvSpPr>
        <p:spPr>
          <a:xfrm>
            <a:off x="812800" y="1800870"/>
            <a:ext cx="3982720" cy="703580"/>
          </a:xfrm>
          <a:prstGeom prst="rect">
            <a:avLst/>
          </a:prstGeom>
          <a:solidFill>
            <a:srgbClr val="FFFFFF"/>
          </a:solidFill>
          <a:ln/>
        </p:spPr>
        <p:txBody>
          <a:bodyPr/>
          <a:lstStyle/>
          <a:p>
            <a:endParaRPr lang="it-IT"/>
          </a:p>
        </p:txBody>
      </p:sp>
      <p:sp>
        <p:nvSpPr>
          <p:cNvPr id="5" name="Shape 3"/>
          <p:cNvSpPr/>
          <p:nvPr/>
        </p:nvSpPr>
        <p:spPr>
          <a:xfrm>
            <a:off x="825500" y="1800870"/>
            <a:ext cx="0" cy="703580"/>
          </a:xfrm>
          <a:prstGeom prst="line">
            <a:avLst/>
          </a:prstGeom>
          <a:noFill/>
          <a:ln w="25400">
            <a:solidFill>
              <a:srgbClr val="2E6BD1"/>
            </a:solidFill>
            <a:prstDash val="solid"/>
          </a:ln>
        </p:spPr>
        <p:txBody>
          <a:bodyPr/>
          <a:lstStyle/>
          <a:p>
            <a:endParaRPr lang="it-IT"/>
          </a:p>
        </p:txBody>
      </p:sp>
      <p:sp>
        <p:nvSpPr>
          <p:cNvPr id="6" name="Text 4"/>
          <p:cNvSpPr/>
          <p:nvPr/>
        </p:nvSpPr>
        <p:spPr>
          <a:xfrm>
            <a:off x="990600" y="1927870"/>
            <a:ext cx="3762096"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1B2D"/>
                </a:solidFill>
                <a:latin typeface="Inter" pitchFamily="34" charset="0"/>
                <a:ea typeface="Inter" pitchFamily="34" charset="-122"/>
                <a:cs typeface="Inter" pitchFamily="34" charset="-120"/>
              </a:rPr>
              <a:t>DataSource</a:t>
            </a:r>
            <a:endParaRPr lang="en-US" sz="1300" dirty="0"/>
          </a:p>
        </p:txBody>
      </p:sp>
      <p:sp>
        <p:nvSpPr>
          <p:cNvPr id="7" name="Text 5"/>
          <p:cNvSpPr/>
          <p:nvPr/>
        </p:nvSpPr>
        <p:spPr>
          <a:xfrm>
            <a:off x="990600" y="2164085"/>
            <a:ext cx="37620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Fornisce le connessioni (spesso è il pool)</a:t>
            </a:r>
            <a:endParaRPr lang="en-US" sz="1200" dirty="0"/>
          </a:p>
        </p:txBody>
      </p:sp>
      <p:sp>
        <p:nvSpPr>
          <p:cNvPr id="8" name="Shape 6"/>
          <p:cNvSpPr/>
          <p:nvPr/>
        </p:nvSpPr>
        <p:spPr>
          <a:xfrm>
            <a:off x="812800" y="2580655"/>
            <a:ext cx="3982720" cy="703580"/>
          </a:xfrm>
          <a:prstGeom prst="rect">
            <a:avLst/>
          </a:prstGeom>
          <a:solidFill>
            <a:srgbClr val="FFFFFF"/>
          </a:solidFill>
          <a:ln/>
        </p:spPr>
        <p:txBody>
          <a:bodyPr/>
          <a:lstStyle/>
          <a:p>
            <a:endParaRPr lang="it-IT"/>
          </a:p>
        </p:txBody>
      </p:sp>
      <p:sp>
        <p:nvSpPr>
          <p:cNvPr id="9" name="Shape 7"/>
          <p:cNvSpPr/>
          <p:nvPr/>
        </p:nvSpPr>
        <p:spPr>
          <a:xfrm>
            <a:off x="825500" y="2580655"/>
            <a:ext cx="0" cy="703580"/>
          </a:xfrm>
          <a:prstGeom prst="line">
            <a:avLst/>
          </a:prstGeom>
          <a:noFill/>
          <a:ln w="25400">
            <a:solidFill>
              <a:srgbClr val="2E6BD1"/>
            </a:solidFill>
            <a:prstDash val="solid"/>
          </a:ln>
        </p:spPr>
        <p:txBody>
          <a:bodyPr/>
          <a:lstStyle/>
          <a:p>
            <a:endParaRPr lang="it-IT"/>
          </a:p>
        </p:txBody>
      </p:sp>
      <p:sp>
        <p:nvSpPr>
          <p:cNvPr id="10" name="Text 8"/>
          <p:cNvSpPr/>
          <p:nvPr/>
        </p:nvSpPr>
        <p:spPr>
          <a:xfrm>
            <a:off x="990600" y="2707655"/>
            <a:ext cx="3762096"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1B2D"/>
                </a:solidFill>
                <a:latin typeface="Inter" pitchFamily="34" charset="0"/>
                <a:ea typeface="Inter" pitchFamily="34" charset="-122"/>
                <a:cs typeface="Inter" pitchFamily="34" charset="-120"/>
              </a:rPr>
              <a:t>Connection</a:t>
            </a:r>
            <a:endParaRPr lang="en-US" sz="1300" dirty="0"/>
          </a:p>
        </p:txBody>
      </p:sp>
      <p:sp>
        <p:nvSpPr>
          <p:cNvPr id="11" name="Text 9"/>
          <p:cNvSpPr/>
          <p:nvPr/>
        </p:nvSpPr>
        <p:spPr>
          <a:xfrm>
            <a:off x="990600" y="2943870"/>
            <a:ext cx="37620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Una sessione sul database</a:t>
            </a:r>
            <a:endParaRPr lang="en-US" sz="1200" dirty="0"/>
          </a:p>
        </p:txBody>
      </p:sp>
      <p:sp>
        <p:nvSpPr>
          <p:cNvPr id="12" name="Shape 10"/>
          <p:cNvSpPr/>
          <p:nvPr/>
        </p:nvSpPr>
        <p:spPr>
          <a:xfrm>
            <a:off x="812800" y="3360415"/>
            <a:ext cx="3982720" cy="703580"/>
          </a:xfrm>
          <a:prstGeom prst="rect">
            <a:avLst/>
          </a:prstGeom>
          <a:solidFill>
            <a:srgbClr val="FFFFFF"/>
          </a:solidFill>
          <a:ln/>
        </p:spPr>
        <p:txBody>
          <a:bodyPr/>
          <a:lstStyle/>
          <a:p>
            <a:endParaRPr lang="it-IT"/>
          </a:p>
        </p:txBody>
      </p:sp>
      <p:sp>
        <p:nvSpPr>
          <p:cNvPr id="13" name="Shape 11"/>
          <p:cNvSpPr/>
          <p:nvPr/>
        </p:nvSpPr>
        <p:spPr>
          <a:xfrm>
            <a:off x="825500" y="3360415"/>
            <a:ext cx="0" cy="703580"/>
          </a:xfrm>
          <a:prstGeom prst="line">
            <a:avLst/>
          </a:prstGeom>
          <a:noFill/>
          <a:ln w="25400">
            <a:solidFill>
              <a:srgbClr val="2E6BD1"/>
            </a:solidFill>
            <a:prstDash val="solid"/>
          </a:ln>
        </p:spPr>
        <p:txBody>
          <a:bodyPr/>
          <a:lstStyle/>
          <a:p>
            <a:endParaRPr lang="it-IT"/>
          </a:p>
        </p:txBody>
      </p:sp>
      <p:sp>
        <p:nvSpPr>
          <p:cNvPr id="14" name="Text 12"/>
          <p:cNvSpPr/>
          <p:nvPr/>
        </p:nvSpPr>
        <p:spPr>
          <a:xfrm>
            <a:off x="990600" y="3487415"/>
            <a:ext cx="3762096"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1B2D"/>
                </a:solidFill>
                <a:latin typeface="Inter" pitchFamily="34" charset="0"/>
                <a:ea typeface="Inter" pitchFamily="34" charset="-122"/>
                <a:cs typeface="Inter" pitchFamily="34" charset="-120"/>
              </a:rPr>
              <a:t>PreparedStatement</a:t>
            </a:r>
            <a:endParaRPr lang="en-US" sz="1300" dirty="0"/>
          </a:p>
        </p:txBody>
      </p:sp>
      <p:sp>
        <p:nvSpPr>
          <p:cNvPr id="15" name="Text 13"/>
          <p:cNvSpPr/>
          <p:nvPr/>
        </p:nvSpPr>
        <p:spPr>
          <a:xfrm>
            <a:off x="990600" y="3723655"/>
            <a:ext cx="37620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Un cursore con bind variable</a:t>
            </a:r>
            <a:endParaRPr lang="en-US" sz="1200" dirty="0"/>
          </a:p>
        </p:txBody>
      </p:sp>
      <p:sp>
        <p:nvSpPr>
          <p:cNvPr id="16" name="Shape 14"/>
          <p:cNvSpPr/>
          <p:nvPr/>
        </p:nvSpPr>
        <p:spPr>
          <a:xfrm>
            <a:off x="812800" y="4140200"/>
            <a:ext cx="3982720" cy="703580"/>
          </a:xfrm>
          <a:prstGeom prst="rect">
            <a:avLst/>
          </a:prstGeom>
          <a:solidFill>
            <a:srgbClr val="FFFFFF"/>
          </a:solidFill>
          <a:ln/>
        </p:spPr>
        <p:txBody>
          <a:bodyPr/>
          <a:lstStyle/>
          <a:p>
            <a:endParaRPr lang="it-IT"/>
          </a:p>
        </p:txBody>
      </p:sp>
      <p:sp>
        <p:nvSpPr>
          <p:cNvPr id="17" name="Shape 15"/>
          <p:cNvSpPr/>
          <p:nvPr/>
        </p:nvSpPr>
        <p:spPr>
          <a:xfrm>
            <a:off x="825500" y="4140200"/>
            <a:ext cx="0" cy="703580"/>
          </a:xfrm>
          <a:prstGeom prst="line">
            <a:avLst/>
          </a:prstGeom>
          <a:noFill/>
          <a:ln w="25400">
            <a:solidFill>
              <a:srgbClr val="2E6BD1"/>
            </a:solidFill>
            <a:prstDash val="solid"/>
          </a:ln>
        </p:spPr>
        <p:txBody>
          <a:bodyPr/>
          <a:lstStyle/>
          <a:p>
            <a:endParaRPr lang="it-IT"/>
          </a:p>
        </p:txBody>
      </p:sp>
      <p:sp>
        <p:nvSpPr>
          <p:cNvPr id="18" name="Text 16"/>
          <p:cNvSpPr/>
          <p:nvPr/>
        </p:nvSpPr>
        <p:spPr>
          <a:xfrm>
            <a:off x="990600" y="4267200"/>
            <a:ext cx="3762096"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1B2D"/>
                </a:solidFill>
                <a:latin typeface="Inter" pitchFamily="34" charset="0"/>
                <a:ea typeface="Inter" pitchFamily="34" charset="-122"/>
                <a:cs typeface="Inter" pitchFamily="34" charset="-120"/>
              </a:rPr>
              <a:t>ResultSet</a:t>
            </a:r>
            <a:endParaRPr lang="en-US" sz="1300" dirty="0"/>
          </a:p>
        </p:txBody>
      </p:sp>
      <p:sp>
        <p:nvSpPr>
          <p:cNvPr id="19" name="Text 17"/>
          <p:cNvSpPr/>
          <p:nvPr/>
        </p:nvSpPr>
        <p:spPr>
          <a:xfrm>
            <a:off x="990600" y="4503415"/>
            <a:ext cx="37620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Le righe, lette a blocchi (fetch size)</a:t>
            </a:r>
            <a:endParaRPr lang="en-US" sz="1200" dirty="0"/>
          </a:p>
        </p:txBody>
      </p:sp>
      <p:sp>
        <p:nvSpPr>
          <p:cNvPr id="20" name="Text 18"/>
          <p:cNvSpPr/>
          <p:nvPr/>
        </p:nvSpPr>
        <p:spPr>
          <a:xfrm>
            <a:off x="4998720" y="1800870"/>
            <a:ext cx="6380480" cy="3228340"/>
          </a:xfrm>
          <a:prstGeom prst="rect">
            <a:avLst/>
          </a:prstGeom>
          <a:solidFill>
            <a:srgbClr val="0F1B2D"/>
          </a:solidFill>
          <a:ln/>
        </p:spPr>
        <p:txBody>
          <a:bodyPr wrap="square" lIns="203200" tIns="177800" rIns="23978"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String url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"jdbc:oracle:thin:@//localhost:1521/XEPDB1";</a:t>
            </a:r>
            <a:endParaRPr lang="en-US" sz="1200" dirty="0"/>
          </a:p>
          <a:p>
            <a:pPr marL="0" indent="0" algn="l">
              <a:lnSpc>
                <a:spcPts val="1740"/>
              </a:lnSpc>
              <a:buNone/>
            </a:pP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try (Connection c = DriverManager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.getConnection(url, user, pwd);</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PreparedStatement ps = c.prepareStatement(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"SELECT nome FROM clienti"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 " WHERE cliente_id = ?"))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ps.setLong(1, 450);</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try (ResultSet rs = ps.executeQuery())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while (rs.next()) { ...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t>
            </a:r>
            <a:endParaRPr lang="en-US" sz="1200" dirty="0"/>
          </a:p>
        </p:txBody>
      </p:sp>
      <p:sp>
        <p:nvSpPr>
          <p:cNvPr id="21" name="Text 19"/>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05 · JDBC</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Concatenare </a:t>
            </a:r>
            <a:r>
              <a:rPr lang="en-US" sz="3000" b="1" i="0" kern="0" spc="-60" dirty="0">
                <a:solidFill>
                  <a:srgbClr val="2E6BD1"/>
                </a:solidFill>
                <a:latin typeface="Inter" pitchFamily="34" charset="0"/>
                <a:ea typeface="Inter" pitchFamily="34" charset="-122"/>
                <a:cs typeface="Inter" pitchFamily="34" charset="-120"/>
              </a:rPr>
              <a:t>o usare i bind?</a:t>
            </a:r>
            <a:endParaRPr lang="en-US" sz="3000" dirty="0"/>
          </a:p>
        </p:txBody>
      </p:sp>
      <p:sp>
        <p:nvSpPr>
          <p:cNvPr id="4" name="Text 2"/>
          <p:cNvSpPr/>
          <p:nvPr/>
        </p:nvSpPr>
        <p:spPr>
          <a:xfrm>
            <a:off x="812800" y="180087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6B80"/>
                </a:solidFill>
                <a:latin typeface="Inter" pitchFamily="34" charset="0"/>
                <a:ea typeface="Inter" pitchFamily="34" charset="-122"/>
                <a:cs typeface="Inter" pitchFamily="34" charset="-120"/>
              </a:rPr>
              <a:t>STATEMENT + CONCATENAZIONE</a:t>
            </a:r>
            <a:endParaRPr lang="en-US" sz="1200" dirty="0"/>
          </a:p>
        </p:txBody>
      </p:sp>
      <p:sp>
        <p:nvSpPr>
          <p:cNvPr id="5" name="Text 3"/>
          <p:cNvSpPr/>
          <p:nvPr/>
        </p:nvSpPr>
        <p:spPr>
          <a:xfrm>
            <a:off x="812800" y="2115815"/>
            <a:ext cx="5181600" cy="96774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st.executeQuery(</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"SELECT nome FROM clienti"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 " WHERE cliente_id = " + id);</a:t>
            </a:r>
            <a:endParaRPr lang="en-US" sz="1200" dirty="0"/>
          </a:p>
        </p:txBody>
      </p:sp>
      <p:sp>
        <p:nvSpPr>
          <p:cNvPr id="6" name="Text 4"/>
          <p:cNvSpPr/>
          <p:nvPr/>
        </p:nvSpPr>
        <p:spPr>
          <a:xfrm>
            <a:off x="917956" y="3185170"/>
            <a:ext cx="5224272" cy="711200"/>
          </a:xfrm>
          <a:prstGeom prst="rect">
            <a:avLst/>
          </a:prstGeom>
          <a:noFill/>
          <a:ln/>
        </p:spPr>
        <p:txBody>
          <a:bodyPr wrap="square" lIns="0" tIns="0" rIns="0" bIns="0" rtlCol="0" anchor="t">
            <a:normAutofit/>
          </a:bodyPr>
          <a:lstStyle/>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Un testo SQL diverso per ogni valore</a:t>
            </a:r>
            <a:endParaRPr lang="en-US" sz="1200" dirty="0"/>
          </a:p>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Un hard parse a ogni esecuzione</a:t>
            </a:r>
            <a:endParaRPr lang="en-US" sz="1200" dirty="0"/>
          </a:p>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Esposto a SQL injection(</a:t>
            </a:r>
            <a:r>
              <a:rPr lang="en-US" sz="1200" dirty="0" err="1">
                <a:solidFill>
                  <a:srgbClr val="3D4B5E"/>
                </a:solidFill>
                <a:latin typeface="Inter" pitchFamily="34" charset="0"/>
                <a:ea typeface="Inter" pitchFamily="34" charset="-122"/>
                <a:cs typeface="Inter" pitchFamily="34" charset="-120"/>
              </a:rPr>
              <a:t>attacchi</a:t>
            </a:r>
            <a:r>
              <a:rPr lang="en-US" sz="1200" dirty="0">
                <a:solidFill>
                  <a:srgbClr val="3D4B5E"/>
                </a:solidFill>
                <a:latin typeface="Inter" pitchFamily="34" charset="0"/>
                <a:ea typeface="Inter" pitchFamily="34" charset="-122"/>
                <a:cs typeface="Inter" pitchFamily="34" charset="-120"/>
              </a:rPr>
              <a:t> </a:t>
            </a:r>
            <a:r>
              <a:rPr lang="en-US" sz="1200" dirty="0" err="1">
                <a:solidFill>
                  <a:srgbClr val="3D4B5E"/>
                </a:solidFill>
                <a:latin typeface="Inter" pitchFamily="34" charset="0"/>
                <a:ea typeface="Inter" pitchFamily="34" charset="-122"/>
                <a:cs typeface="Inter" pitchFamily="34" charset="-120"/>
              </a:rPr>
              <a:t>informatici</a:t>
            </a:r>
            <a:r>
              <a:rPr lang="en-US" sz="1200" dirty="0">
                <a:solidFill>
                  <a:srgbClr val="3D4B5E"/>
                </a:solidFill>
                <a:latin typeface="Inter" pitchFamily="34" charset="0"/>
                <a:ea typeface="Inter" pitchFamily="34" charset="-122"/>
                <a:cs typeface="Inter" pitchFamily="34" charset="-120"/>
              </a:rPr>
              <a:t>)</a:t>
            </a:r>
            <a:endParaRPr lang="en-US" sz="1200" dirty="0"/>
          </a:p>
        </p:txBody>
      </p:sp>
      <p:sp>
        <p:nvSpPr>
          <p:cNvPr id="7" name="Text 5"/>
          <p:cNvSpPr/>
          <p:nvPr/>
        </p:nvSpPr>
        <p:spPr>
          <a:xfrm>
            <a:off x="6197600" y="180087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PREPAREDSTATEMENT + BIND</a:t>
            </a:r>
            <a:endParaRPr lang="en-US" sz="1200" dirty="0"/>
          </a:p>
        </p:txBody>
      </p:sp>
      <p:sp>
        <p:nvSpPr>
          <p:cNvPr id="8" name="Text 6"/>
          <p:cNvSpPr/>
          <p:nvPr/>
        </p:nvSpPr>
        <p:spPr>
          <a:xfrm>
            <a:off x="6197600" y="2115815"/>
            <a:ext cx="5181600" cy="96774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c.prepareStatement(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"SELECT nome FROM clienti"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 " WHERE cliente_id = ?");</a:t>
            </a:r>
            <a:endParaRPr lang="en-US" sz="1200" dirty="0"/>
          </a:p>
        </p:txBody>
      </p:sp>
      <p:sp>
        <p:nvSpPr>
          <p:cNvPr id="9" name="Text 7"/>
          <p:cNvSpPr/>
          <p:nvPr/>
        </p:nvSpPr>
        <p:spPr>
          <a:xfrm>
            <a:off x="6302756" y="3185170"/>
            <a:ext cx="5224272" cy="711200"/>
          </a:xfrm>
          <a:prstGeom prst="rect">
            <a:avLst/>
          </a:prstGeom>
          <a:noFill/>
          <a:ln/>
        </p:spPr>
        <p:txBody>
          <a:bodyPr wrap="square" lIns="0" tIns="0" rIns="0" bIns="0" rtlCol="0" anchor="t">
            <a:normAutofit/>
          </a:bodyPr>
          <a:lstStyle/>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Un solo testo SQL in Shared Pool</a:t>
            </a:r>
            <a:endParaRPr lang="en-US" sz="1200" dirty="0"/>
          </a:p>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Il piano viene riusato</a:t>
            </a:r>
            <a:endParaRPr lang="en-US" sz="1200" dirty="0"/>
          </a:p>
          <a:p>
            <a:pPr marL="148844" indent="-148844" algn="l">
              <a:lnSpc>
                <a:spcPts val="1800"/>
              </a:lnSpc>
              <a:buSzPct val="100000"/>
              <a:buChar char="•"/>
            </a:pPr>
            <a:r>
              <a:rPr lang="en-US" sz="1200" dirty="0">
                <a:solidFill>
                  <a:srgbClr val="3D4B5E"/>
                </a:solidFill>
                <a:latin typeface="Inter" pitchFamily="34" charset="0"/>
                <a:ea typeface="Inter" pitchFamily="34" charset="-122"/>
                <a:cs typeface="Inter" pitchFamily="34" charset="-120"/>
              </a:rPr>
              <a:t>Il valore non entra mai nel codice SQL</a:t>
            </a:r>
            <a:endParaRPr lang="en-US" sz="1200" dirty="0"/>
          </a:p>
        </p:txBody>
      </p:sp>
      <p:sp>
        <p:nvSpPr>
          <p:cNvPr id="10" name="Text 8"/>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05 · STATEMENT CACHING</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Quattro livelli </a:t>
            </a:r>
            <a:r>
              <a:rPr lang="en-US" sz="3000" b="1" i="0" kern="0" spc="-60" dirty="0">
                <a:solidFill>
                  <a:srgbClr val="2E6BD1"/>
                </a:solidFill>
                <a:latin typeface="Inter" pitchFamily="34" charset="0"/>
                <a:ea typeface="Inter" pitchFamily="34" charset="-122"/>
                <a:cs typeface="Inter" pitchFamily="34" charset="-120"/>
              </a:rPr>
              <a:t>di parse</a:t>
            </a:r>
            <a:endParaRPr lang="en-US" sz="3000" dirty="0"/>
          </a:p>
        </p:txBody>
      </p:sp>
      <p:sp>
        <p:nvSpPr>
          <p:cNvPr id="4" name="Shape 2"/>
          <p:cNvSpPr/>
          <p:nvPr/>
        </p:nvSpPr>
        <p:spPr>
          <a:xfrm>
            <a:off x="812800" y="1800870"/>
            <a:ext cx="2641600" cy="1386840"/>
          </a:xfrm>
          <a:prstGeom prst="rect">
            <a:avLst/>
          </a:prstGeom>
          <a:solidFill>
            <a:srgbClr val="FFFFFF"/>
          </a:solidFill>
          <a:ln/>
        </p:spPr>
        <p:txBody>
          <a:bodyPr/>
          <a:lstStyle/>
          <a:p>
            <a:endParaRPr lang="it-IT"/>
          </a:p>
        </p:txBody>
      </p:sp>
      <p:sp>
        <p:nvSpPr>
          <p:cNvPr id="5" name="Shape 3"/>
          <p:cNvSpPr/>
          <p:nvPr/>
        </p:nvSpPr>
        <p:spPr>
          <a:xfrm>
            <a:off x="812800" y="1813570"/>
            <a:ext cx="2641600" cy="0"/>
          </a:xfrm>
          <a:prstGeom prst="line">
            <a:avLst/>
          </a:prstGeom>
          <a:noFill/>
          <a:ln w="25400">
            <a:solidFill>
              <a:srgbClr val="94A3B8"/>
            </a:solidFill>
            <a:prstDash val="solid"/>
          </a:ln>
        </p:spPr>
        <p:txBody>
          <a:bodyPr/>
          <a:lstStyle/>
          <a:p>
            <a:endParaRPr lang="it-IT"/>
          </a:p>
        </p:txBody>
      </p:sp>
      <p:sp>
        <p:nvSpPr>
          <p:cNvPr id="6" name="Text 4"/>
          <p:cNvSpPr/>
          <p:nvPr/>
        </p:nvSpPr>
        <p:spPr>
          <a:xfrm>
            <a:off x="990600" y="2004070"/>
            <a:ext cx="23545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Hard parse</a:t>
            </a:r>
            <a:endParaRPr lang="en-US" sz="1400" dirty="0"/>
          </a:p>
        </p:txBody>
      </p:sp>
      <p:sp>
        <p:nvSpPr>
          <p:cNvPr id="7" name="Text 5"/>
          <p:cNvSpPr/>
          <p:nvPr/>
        </p:nvSpPr>
        <p:spPr>
          <a:xfrm>
            <a:off x="990600" y="2293615"/>
            <a:ext cx="23545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SQL nuovo: ottimizzazione completa</a:t>
            </a:r>
            <a:endParaRPr lang="en-US" sz="1200" dirty="0"/>
          </a:p>
        </p:txBody>
      </p:sp>
      <p:sp>
        <p:nvSpPr>
          <p:cNvPr id="8" name="Text 6"/>
          <p:cNvSpPr/>
          <p:nvPr/>
        </p:nvSpPr>
        <p:spPr>
          <a:xfrm>
            <a:off x="990600" y="2796555"/>
            <a:ext cx="23545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B80"/>
                </a:solidFill>
                <a:latin typeface="Inter" pitchFamily="34" charset="0"/>
                <a:ea typeface="Inter" pitchFamily="34" charset="-122"/>
                <a:cs typeface="Inter" pitchFamily="34" charset="-120"/>
              </a:rPr>
              <a:t>Il più costoso</a:t>
            </a:r>
            <a:endParaRPr lang="en-US" sz="1200" dirty="0"/>
          </a:p>
        </p:txBody>
      </p:sp>
      <p:sp>
        <p:nvSpPr>
          <p:cNvPr id="9" name="Shape 7"/>
          <p:cNvSpPr/>
          <p:nvPr/>
        </p:nvSpPr>
        <p:spPr>
          <a:xfrm>
            <a:off x="3454400" y="1800870"/>
            <a:ext cx="2641600" cy="1386840"/>
          </a:xfrm>
          <a:prstGeom prst="rect">
            <a:avLst/>
          </a:prstGeom>
          <a:solidFill>
            <a:srgbClr val="FFFFFF"/>
          </a:solidFill>
          <a:ln/>
        </p:spPr>
        <p:txBody>
          <a:bodyPr/>
          <a:lstStyle/>
          <a:p>
            <a:endParaRPr lang="it-IT"/>
          </a:p>
        </p:txBody>
      </p:sp>
      <p:sp>
        <p:nvSpPr>
          <p:cNvPr id="10" name="Shape 8"/>
          <p:cNvSpPr/>
          <p:nvPr/>
        </p:nvSpPr>
        <p:spPr>
          <a:xfrm>
            <a:off x="3454400" y="1813570"/>
            <a:ext cx="2641600" cy="0"/>
          </a:xfrm>
          <a:prstGeom prst="line">
            <a:avLst/>
          </a:prstGeom>
          <a:noFill/>
          <a:ln w="25400">
            <a:solidFill>
              <a:srgbClr val="2E6BD1"/>
            </a:solidFill>
            <a:prstDash val="solid"/>
          </a:ln>
        </p:spPr>
        <p:txBody>
          <a:bodyPr/>
          <a:lstStyle/>
          <a:p>
            <a:endParaRPr lang="it-IT"/>
          </a:p>
        </p:txBody>
      </p:sp>
      <p:sp>
        <p:nvSpPr>
          <p:cNvPr id="11" name="Text 9"/>
          <p:cNvSpPr/>
          <p:nvPr/>
        </p:nvSpPr>
        <p:spPr>
          <a:xfrm>
            <a:off x="3632200" y="2004070"/>
            <a:ext cx="23545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Soft parse</a:t>
            </a:r>
            <a:endParaRPr lang="en-US" sz="1400" dirty="0"/>
          </a:p>
        </p:txBody>
      </p:sp>
      <p:sp>
        <p:nvSpPr>
          <p:cNvPr id="12" name="Text 10"/>
          <p:cNvSpPr/>
          <p:nvPr/>
        </p:nvSpPr>
        <p:spPr>
          <a:xfrm>
            <a:off x="3632200" y="2293615"/>
            <a:ext cx="23545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Cursore trovato in Shared Pool</a:t>
            </a:r>
            <a:endParaRPr lang="en-US" sz="1200" dirty="0"/>
          </a:p>
        </p:txBody>
      </p:sp>
      <p:sp>
        <p:nvSpPr>
          <p:cNvPr id="13" name="Shape 11"/>
          <p:cNvSpPr/>
          <p:nvPr/>
        </p:nvSpPr>
        <p:spPr>
          <a:xfrm>
            <a:off x="6096000" y="1800870"/>
            <a:ext cx="2641600" cy="1386840"/>
          </a:xfrm>
          <a:prstGeom prst="rect">
            <a:avLst/>
          </a:prstGeom>
          <a:solidFill>
            <a:srgbClr val="FFFFFF"/>
          </a:solidFill>
          <a:ln/>
        </p:spPr>
        <p:txBody>
          <a:bodyPr/>
          <a:lstStyle/>
          <a:p>
            <a:endParaRPr lang="it-IT"/>
          </a:p>
        </p:txBody>
      </p:sp>
      <p:sp>
        <p:nvSpPr>
          <p:cNvPr id="14" name="Shape 12"/>
          <p:cNvSpPr/>
          <p:nvPr/>
        </p:nvSpPr>
        <p:spPr>
          <a:xfrm>
            <a:off x="6096000" y="1813570"/>
            <a:ext cx="2641600" cy="0"/>
          </a:xfrm>
          <a:prstGeom prst="line">
            <a:avLst/>
          </a:prstGeom>
          <a:noFill/>
          <a:ln w="25400">
            <a:solidFill>
              <a:srgbClr val="2E6BD1"/>
            </a:solidFill>
            <a:prstDash val="solid"/>
          </a:ln>
        </p:spPr>
        <p:txBody>
          <a:bodyPr/>
          <a:lstStyle/>
          <a:p>
            <a:endParaRPr lang="it-IT"/>
          </a:p>
        </p:txBody>
      </p:sp>
      <p:sp>
        <p:nvSpPr>
          <p:cNvPr id="15" name="Text 13"/>
          <p:cNvSpPr/>
          <p:nvPr/>
        </p:nvSpPr>
        <p:spPr>
          <a:xfrm>
            <a:off x="6273800" y="2004070"/>
            <a:ext cx="23545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Session cursor cache</a:t>
            </a:r>
            <a:endParaRPr lang="en-US" sz="1400" dirty="0"/>
          </a:p>
        </p:txBody>
      </p:sp>
      <p:sp>
        <p:nvSpPr>
          <p:cNvPr id="16" name="Text 14"/>
          <p:cNvSpPr/>
          <p:nvPr/>
        </p:nvSpPr>
        <p:spPr>
          <a:xfrm>
            <a:off x="6273800" y="2293615"/>
            <a:ext cx="23545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Il server ricorda i cursori della sessione</a:t>
            </a:r>
            <a:endParaRPr lang="en-US" sz="1200" dirty="0"/>
          </a:p>
        </p:txBody>
      </p:sp>
      <p:sp>
        <p:nvSpPr>
          <p:cNvPr id="17" name="Shape 15"/>
          <p:cNvSpPr/>
          <p:nvPr/>
        </p:nvSpPr>
        <p:spPr>
          <a:xfrm>
            <a:off x="8737600" y="1800870"/>
            <a:ext cx="2641600" cy="1386840"/>
          </a:xfrm>
          <a:prstGeom prst="rect">
            <a:avLst/>
          </a:prstGeom>
          <a:solidFill>
            <a:srgbClr val="0F1B2D"/>
          </a:solidFill>
          <a:ln/>
        </p:spPr>
        <p:txBody>
          <a:bodyPr/>
          <a:lstStyle/>
          <a:p>
            <a:endParaRPr lang="it-IT"/>
          </a:p>
        </p:txBody>
      </p:sp>
      <p:sp>
        <p:nvSpPr>
          <p:cNvPr id="18" name="Shape 16"/>
          <p:cNvSpPr/>
          <p:nvPr/>
        </p:nvSpPr>
        <p:spPr>
          <a:xfrm>
            <a:off x="8737600" y="1813570"/>
            <a:ext cx="2641600" cy="0"/>
          </a:xfrm>
          <a:prstGeom prst="line">
            <a:avLst/>
          </a:prstGeom>
          <a:noFill/>
          <a:ln w="25400">
            <a:solidFill>
              <a:srgbClr val="2E6BD1"/>
            </a:solidFill>
            <a:prstDash val="solid"/>
          </a:ln>
        </p:spPr>
        <p:txBody>
          <a:bodyPr/>
          <a:lstStyle/>
          <a:p>
            <a:endParaRPr lang="it-IT"/>
          </a:p>
        </p:txBody>
      </p:sp>
      <p:sp>
        <p:nvSpPr>
          <p:cNvPr id="19" name="Text 17"/>
          <p:cNvSpPr/>
          <p:nvPr/>
        </p:nvSpPr>
        <p:spPr>
          <a:xfrm>
            <a:off x="8915400" y="2004070"/>
            <a:ext cx="23545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6F8FB"/>
                </a:solidFill>
                <a:latin typeface="Inter" pitchFamily="34" charset="0"/>
                <a:ea typeface="Inter" pitchFamily="34" charset="-122"/>
                <a:cs typeface="Inter" pitchFamily="34" charset="-120"/>
              </a:rPr>
              <a:t>Statement cache</a:t>
            </a:r>
            <a:endParaRPr lang="en-US" sz="1400" dirty="0"/>
          </a:p>
        </p:txBody>
      </p:sp>
      <p:sp>
        <p:nvSpPr>
          <p:cNvPr id="20" name="Text 18"/>
          <p:cNvSpPr/>
          <p:nvPr/>
        </p:nvSpPr>
        <p:spPr>
          <a:xfrm>
            <a:off x="8915400" y="2293615"/>
            <a:ext cx="23545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E8"/>
                </a:solidFill>
                <a:latin typeface="Inter" pitchFamily="34" charset="0"/>
                <a:ea typeface="Inter" pitchFamily="34" charset="-122"/>
                <a:cs typeface="Inter" pitchFamily="34" charset="-120"/>
              </a:rPr>
              <a:t>Il driver tiene aperto il cursore: nessun parse</a:t>
            </a:r>
            <a:endParaRPr lang="en-US" sz="1200" dirty="0"/>
          </a:p>
        </p:txBody>
      </p:sp>
      <p:sp>
        <p:nvSpPr>
          <p:cNvPr id="21" name="Text 19"/>
          <p:cNvSpPr/>
          <p:nvPr/>
        </p:nvSpPr>
        <p:spPr>
          <a:xfrm>
            <a:off x="8915400" y="2796555"/>
            <a:ext cx="23545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Il più economico</a:t>
            </a:r>
            <a:endParaRPr lang="en-US" sz="1200" dirty="0"/>
          </a:p>
        </p:txBody>
      </p:sp>
      <p:sp>
        <p:nvSpPr>
          <p:cNvPr id="22" name="Text 20"/>
          <p:cNvSpPr/>
          <p:nvPr/>
        </p:nvSpPr>
        <p:spPr>
          <a:xfrm>
            <a:off x="812800" y="3441700"/>
            <a:ext cx="10566400" cy="967740"/>
          </a:xfrm>
          <a:prstGeom prst="rect">
            <a:avLst/>
          </a:prstGeom>
          <a:solidFill>
            <a:srgbClr val="0F1B2D"/>
          </a:solidFill>
          <a:ln/>
        </p:spPr>
        <p:txBody>
          <a:bodyPr wrap="square" lIns="203200" tIns="152400" rIns="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Oracle JDBC: cache implicita sulla connessione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((OracleConnection) c).setImplicitCachingEnabled(true);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((OracleConnection) c).setStatementCacheSize(50);</a:t>
            </a:r>
            <a:endParaRPr lang="en-US" sz="1200" dirty="0"/>
          </a:p>
        </p:txBody>
      </p:sp>
      <p:sp>
        <p:nvSpPr>
          <p:cNvPr id="23" name="Text 21"/>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05 · MONITORAGGIO</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L’applicazione vista </a:t>
            </a:r>
            <a:r>
              <a:rPr lang="en-US" sz="3000" b="1" i="0" kern="0" spc="-60" dirty="0">
                <a:solidFill>
                  <a:srgbClr val="2E6BD1"/>
                </a:solidFill>
                <a:latin typeface="Inter" pitchFamily="34" charset="0"/>
                <a:ea typeface="Inter" pitchFamily="34" charset="-122"/>
                <a:cs typeface="Inter" pitchFamily="34" charset="-120"/>
              </a:rPr>
              <a:t>dal database</a:t>
            </a:r>
            <a:endParaRPr lang="en-US" sz="3000" dirty="0"/>
          </a:p>
        </p:txBody>
      </p:sp>
      <p:sp>
        <p:nvSpPr>
          <p:cNvPr id="4" name="Text 2"/>
          <p:cNvSpPr/>
          <p:nvPr/>
        </p:nvSpPr>
        <p:spPr>
          <a:xfrm>
            <a:off x="812800" y="180087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QUANTI LOGON?</a:t>
            </a:r>
            <a:endParaRPr lang="en-US" sz="1200" dirty="0"/>
          </a:p>
        </p:txBody>
      </p:sp>
      <p:sp>
        <p:nvSpPr>
          <p:cNvPr id="5" name="Text 3"/>
          <p:cNvSpPr/>
          <p:nvPr/>
        </p:nvSpPr>
        <p:spPr>
          <a:xfrm>
            <a:off x="812800" y="2115815"/>
            <a:ext cx="5181600" cy="140970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name, value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v$sysstat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name IN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'logons cumulative',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'logons current');</a:t>
            </a:r>
            <a:endParaRPr lang="en-US" sz="1200" dirty="0"/>
          </a:p>
        </p:txBody>
      </p:sp>
      <p:sp>
        <p:nvSpPr>
          <p:cNvPr id="6" name="Text 4"/>
          <p:cNvSpPr/>
          <p:nvPr/>
        </p:nvSpPr>
        <p:spPr>
          <a:xfrm>
            <a:off x="6197600" y="180087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CHI È CONNESSO?</a:t>
            </a:r>
            <a:endParaRPr lang="en-US" sz="1200" dirty="0"/>
          </a:p>
        </p:txBody>
      </p:sp>
      <p:sp>
        <p:nvSpPr>
          <p:cNvPr id="7" name="Text 5"/>
          <p:cNvSpPr/>
          <p:nvPr/>
        </p:nvSpPr>
        <p:spPr>
          <a:xfrm>
            <a:off x="6197600" y="2115815"/>
            <a:ext cx="5181600" cy="140970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SELECT machine, program,</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status, COUNT(*)</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FROM   v$session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WHERE  type = 'USER'</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GROUP BY machine, program, status;</a:t>
            </a:r>
            <a:endParaRPr lang="en-US" sz="1200" dirty="0"/>
          </a:p>
        </p:txBody>
      </p:sp>
      <p:sp>
        <p:nvSpPr>
          <p:cNvPr id="8" name="Text 6"/>
          <p:cNvSpPr/>
          <p:nvPr/>
        </p:nvSpPr>
        <p:spPr>
          <a:xfrm>
            <a:off x="812800" y="3779515"/>
            <a:ext cx="10566400" cy="552450"/>
          </a:xfrm>
          <a:prstGeom prst="rect">
            <a:avLst/>
          </a:prstGeom>
          <a:solidFill>
            <a:srgbClr val="DCE5F2"/>
          </a:solidFill>
          <a:ln/>
        </p:spPr>
        <p:txBody>
          <a:bodyPr wrap="square" lIns="203200" tIns="152400" rIns="0" bIns="127000" rtlCol="0" anchor="t">
            <a:normAutofit/>
          </a:bodyPr>
          <a:lstStyle/>
          <a:p>
            <a:pPr marL="0" indent="0" algn="l">
              <a:lnSpc>
                <a:spcPts val="1950"/>
              </a:lnSpc>
              <a:buNone/>
            </a:pPr>
            <a:r>
              <a:rPr lang="en-US" sz="1300" dirty="0">
                <a:solidFill>
                  <a:srgbClr val="0F1B2D"/>
                </a:solidFill>
                <a:latin typeface="Inter" pitchFamily="34" charset="0"/>
                <a:ea typeface="Inter" pitchFamily="34" charset="-122"/>
                <a:cs typeface="Inter" pitchFamily="34" charset="-120"/>
              </a:rPr>
              <a:t>Logon che crescono di continuo = l’applicazione non usa un pool. Sessioni INACTIVE che crescono = leak.</a:t>
            </a:r>
            <a:endParaRPr lang="en-US" sz="1300" dirty="0"/>
          </a:p>
        </p:txBody>
      </p:sp>
      <p:sp>
        <p:nvSpPr>
          <p:cNvPr id="9" name="Text 7"/>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DCE5F2"/>
        </a:solidFill>
        <a:effectLst/>
      </p:bgPr>
    </p:bg>
    <p:spTree>
      <p:nvGrpSpPr>
        <p:cNvPr id="1" name=""/>
        <p:cNvGrpSpPr/>
        <p:nvPr/>
      </p:nvGrpSpPr>
      <p:grpSpPr>
        <a:xfrm>
          <a:off x="0" y="0"/>
          <a:ext cx="0" cy="0"/>
          <a:chOff x="0" y="0"/>
          <a:chExt cx="0" cy="0"/>
        </a:xfrm>
      </p:grpSpPr>
      <p:sp>
        <p:nvSpPr>
          <p:cNvPr id="2" name="Text 0"/>
          <p:cNvSpPr/>
          <p:nvPr/>
        </p:nvSpPr>
        <p:spPr>
          <a:xfrm>
            <a:off x="812800" y="190857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4C9C"/>
                </a:solidFill>
                <a:latin typeface="Inter" pitchFamily="34" charset="0"/>
                <a:ea typeface="Inter" pitchFamily="34" charset="-122"/>
                <a:cs typeface="Inter" pitchFamily="34" charset="-120"/>
              </a:rPr>
              <a:t>LAB</a:t>
            </a:r>
            <a:endParaRPr lang="en-US" sz="1400" dirty="0"/>
          </a:p>
        </p:txBody>
      </p:sp>
      <p:sp>
        <p:nvSpPr>
          <p:cNvPr id="3" name="Text 1"/>
          <p:cNvSpPr/>
          <p:nvPr/>
        </p:nvSpPr>
        <p:spPr>
          <a:xfrm>
            <a:off x="812800" y="2360687"/>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4B5A6E"/>
                </a:solidFill>
                <a:latin typeface="Inter" pitchFamily="34" charset="0"/>
                <a:ea typeface="Inter" pitchFamily="34" charset="-122"/>
                <a:cs typeface="Inter" pitchFamily="34" charset="-120"/>
              </a:rPr>
              <a:t>POMERIGGIO · HANDS-ON · 1–2 H · PROPOSTA</a:t>
            </a:r>
            <a:endParaRPr lang="en-US" sz="1200" dirty="0"/>
          </a:p>
        </p:txBody>
      </p:sp>
      <p:sp>
        <p:nvSpPr>
          <p:cNvPr id="4" name="Text 2"/>
          <p:cNvSpPr>
            <a:spLocks noGrp="1"/>
          </p:cNvSpPr>
          <p:nvPr>
            <p:ph type="title"/>
          </p:nvPr>
        </p:nvSpPr>
        <p:spPr>
          <a:xfrm>
            <a:off x="812800" y="2777257"/>
            <a:ext cx="9810750" cy="1425416"/>
          </a:xfrm>
          <a:prstGeom prst="rect">
            <a:avLst/>
          </a:prstGeom>
          <a:noFill/>
          <a:ln/>
        </p:spPr>
        <p:txBody>
          <a:bodyPr wrap="square" lIns="0" tIns="0" rIns="0" bIns="0" rtlCol="0" anchor="t">
            <a:normAutofit/>
          </a:bodyPr>
          <a:lstStyle/>
          <a:p>
            <a:pPr marL="0" indent="0" algn="l">
              <a:lnSpc>
                <a:spcPts val="5512"/>
              </a:lnSpc>
              <a:buNone/>
            </a:pPr>
            <a:r>
              <a:rPr lang="en-US" sz="5200" b="1" i="0" kern="0" spc="-105" dirty="0">
                <a:solidFill>
                  <a:srgbClr val="1B4C9C"/>
                </a:solidFill>
                <a:latin typeface="Inter" pitchFamily="34" charset="0"/>
                <a:ea typeface="Inter" pitchFamily="34" charset="-122"/>
                <a:cs typeface="Inter" pitchFamily="34" charset="-120"/>
              </a:rPr>
              <a:t>Connessioni</a:t>
            </a:r>
            <a:endParaRPr lang="en-US" sz="5200" dirty="0"/>
          </a:p>
          <a:p>
            <a:pPr marL="0" indent="0" algn="l">
              <a:lnSpc>
                <a:spcPts val="5512"/>
              </a:lnSpc>
              <a:buNone/>
            </a:pPr>
            <a:r>
              <a:rPr lang="en-US" sz="5200" b="1" i="0" kern="0" spc="-105" dirty="0">
                <a:solidFill>
                  <a:srgbClr val="0F1B2D"/>
                </a:solidFill>
                <a:latin typeface="Inter" pitchFamily="34" charset="0"/>
                <a:ea typeface="Inter" pitchFamily="34" charset="-122"/>
                <a:cs typeface="Inter" pitchFamily="34" charset="-120"/>
              </a:rPr>
              <a:t>viste dal database</a:t>
            </a:r>
            <a:endParaRPr lang="en-US" sz="5200" dirty="0"/>
          </a:p>
        </p:txBody>
      </p:sp>
      <p:sp>
        <p:nvSpPr>
          <p:cNvPr id="5" name="Text 3"/>
          <p:cNvSpPr/>
          <p:nvPr/>
        </p:nvSpPr>
        <p:spPr>
          <a:xfrm>
            <a:off x="812800" y="4380483"/>
            <a:ext cx="85026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B5E"/>
                </a:solidFill>
                <a:latin typeface="Inter" pitchFamily="34" charset="0"/>
                <a:ea typeface="Inter" pitchFamily="34" charset="-122"/>
                <a:cs typeface="Inter" pitchFamily="34" charset="-120"/>
              </a:rPr>
              <a:t>Misurare il costo del logon, provocare un leak, contare i parse con e senza statement cache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POMERIGGIO · SETUP</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Tre programmi Java, </a:t>
            </a:r>
            <a:r>
              <a:rPr lang="en-US" sz="3000" b="1" i="0" kern="0" spc="-60" dirty="0">
                <a:solidFill>
                  <a:srgbClr val="2E6BD1"/>
                </a:solidFill>
                <a:latin typeface="Inter" pitchFamily="34" charset="0"/>
                <a:ea typeface="Inter" pitchFamily="34" charset="-122"/>
                <a:cs typeface="Inter" pitchFamily="34" charset="-120"/>
              </a:rPr>
              <a:t>un terminale SQL</a:t>
            </a:r>
            <a:endParaRPr lang="en-US" sz="3000" dirty="0"/>
          </a:p>
        </p:txBody>
      </p:sp>
      <p:sp>
        <p:nvSpPr>
          <p:cNvPr id="4" name="Text 2"/>
          <p:cNvSpPr/>
          <p:nvPr/>
        </p:nvSpPr>
        <p:spPr>
          <a:xfrm>
            <a:off x="812800" y="180087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PREREQUISITI</a:t>
            </a:r>
            <a:endParaRPr lang="en-US" sz="1200" dirty="0"/>
          </a:p>
        </p:txBody>
      </p:sp>
      <p:sp>
        <p:nvSpPr>
          <p:cNvPr id="5" name="Text 3"/>
          <p:cNvSpPr/>
          <p:nvPr/>
        </p:nvSpPr>
        <p:spPr>
          <a:xfrm>
            <a:off x="910844" y="2115815"/>
            <a:ext cx="5231384" cy="768350"/>
          </a:xfrm>
          <a:prstGeom prst="rect">
            <a:avLst/>
          </a:prstGeom>
          <a:noFill/>
          <a:ln/>
        </p:spPr>
        <p:txBody>
          <a:bodyPr wrap="square" lIns="0" tIns="0" rIns="0" bIns="0" rtlCol="0" anchor="t">
            <a:normAutofit/>
          </a:bodyPr>
          <a:lstStyle/>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JDK 17 o successivo</a:t>
            </a:r>
            <a:endParaRPr lang="en-US" sz="1300" dirty="0"/>
          </a:p>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Driver ojdbc11.jar nella cartella</a:t>
            </a:r>
            <a:endParaRPr lang="en-US" sz="1300" dirty="0"/>
          </a:p>
          <a:p>
            <a:pPr marL="155956" indent="-155956" algn="l">
              <a:lnSpc>
                <a:spcPts val="1950"/>
              </a:lnSpc>
              <a:buSzPct val="100000"/>
              <a:buChar char="•"/>
            </a:pPr>
            <a:r>
              <a:rPr lang="en-US" sz="1300" dirty="0">
                <a:solidFill>
                  <a:srgbClr val="3D4B5E"/>
                </a:solidFill>
                <a:latin typeface="Inter" pitchFamily="34" charset="0"/>
                <a:ea typeface="Inter" pitchFamily="34" charset="-122"/>
                <a:cs typeface="Inter" pitchFamily="34" charset="-120"/>
              </a:rPr>
              <a:t>Database XE del Giorno 1 attivo</a:t>
            </a:r>
            <a:endParaRPr lang="en-US" sz="1300" dirty="0"/>
          </a:p>
        </p:txBody>
      </p:sp>
      <p:sp>
        <p:nvSpPr>
          <p:cNvPr id="6" name="Text 4"/>
          <p:cNvSpPr/>
          <p:nvPr/>
        </p:nvSpPr>
        <p:spPr>
          <a:xfrm>
            <a:off x="812800" y="2960365"/>
            <a:ext cx="5181600" cy="746760"/>
          </a:xfrm>
          <a:prstGeom prst="rect">
            <a:avLst/>
          </a:prstGeom>
          <a:solidFill>
            <a:srgbClr val="0F1B2D"/>
          </a:solidFill>
          <a:ln/>
        </p:spPr>
        <p:txBody>
          <a:bodyPr wrap="square" lIns="177800" tIns="152400" rIns="33020" bIns="127000" rtlCol="0" anchor="t">
            <a:normAutofit/>
          </a:bodyPr>
          <a:lstStyle/>
          <a:p>
            <a:pPr marL="0" indent="0" algn="l">
              <a:lnSpc>
                <a:spcPts val="1740"/>
              </a:lnSpc>
              <a:buNone/>
            </a:pPr>
            <a:r>
              <a:rPr lang="en-US" sz="1200" dirty="0">
                <a:solidFill>
                  <a:srgbClr val="8DB8FF"/>
                </a:solidFill>
                <a:latin typeface="JetBrains Mono" pitchFamily="49" charset="0"/>
                <a:ea typeface="JetBrains Mono" pitchFamily="49" charset="-122"/>
                <a:cs typeface="JetBrains Mono" pitchFamily="49" charset="-120"/>
              </a:rPr>
              <a:t># nessuna compilazione separata</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java -cp ojdbc11.jar Logon.java</a:t>
            </a:r>
            <a:endParaRPr lang="en-US" sz="1200" dirty="0"/>
          </a:p>
        </p:txBody>
      </p:sp>
      <p:sp>
        <p:nvSpPr>
          <p:cNvPr id="7" name="Shape 5"/>
          <p:cNvSpPr/>
          <p:nvPr/>
        </p:nvSpPr>
        <p:spPr>
          <a:xfrm>
            <a:off x="6197600" y="1800870"/>
            <a:ext cx="5181600" cy="782320"/>
          </a:xfrm>
          <a:prstGeom prst="rect">
            <a:avLst/>
          </a:prstGeom>
          <a:solidFill>
            <a:srgbClr val="FFFFFF"/>
          </a:solidFill>
          <a:ln/>
        </p:spPr>
        <p:txBody>
          <a:bodyPr/>
          <a:lstStyle/>
          <a:p>
            <a:endParaRPr lang="it-IT"/>
          </a:p>
        </p:txBody>
      </p:sp>
      <p:sp>
        <p:nvSpPr>
          <p:cNvPr id="8" name="Shape 6"/>
          <p:cNvSpPr/>
          <p:nvPr/>
        </p:nvSpPr>
        <p:spPr>
          <a:xfrm>
            <a:off x="6210300" y="1800870"/>
            <a:ext cx="0" cy="782320"/>
          </a:xfrm>
          <a:prstGeom prst="line">
            <a:avLst/>
          </a:prstGeom>
          <a:noFill/>
          <a:ln w="25400">
            <a:solidFill>
              <a:srgbClr val="2E6BD1"/>
            </a:solidFill>
            <a:prstDash val="solid"/>
          </a:ln>
        </p:spPr>
        <p:txBody>
          <a:bodyPr/>
          <a:lstStyle/>
          <a:p>
            <a:endParaRPr lang="it-IT"/>
          </a:p>
        </p:txBody>
      </p:sp>
      <p:sp>
        <p:nvSpPr>
          <p:cNvPr id="9" name="Text 7"/>
          <p:cNvSpPr/>
          <p:nvPr/>
        </p:nvSpPr>
        <p:spPr>
          <a:xfrm>
            <a:off x="6400800" y="1953270"/>
            <a:ext cx="494461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Esercizio 1 · Logon.java</a:t>
            </a:r>
            <a:endParaRPr lang="en-US" sz="1400" dirty="0"/>
          </a:p>
        </p:txBody>
      </p:sp>
      <p:sp>
        <p:nvSpPr>
          <p:cNvPr id="10" name="Text 8"/>
          <p:cNvSpPr/>
          <p:nvPr/>
        </p:nvSpPr>
        <p:spPr>
          <a:xfrm>
            <a:off x="6400800" y="2217415"/>
            <a:ext cx="49446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100 connessioni contro 1 connessione riusata</a:t>
            </a:r>
            <a:endParaRPr lang="en-US" sz="1200" dirty="0"/>
          </a:p>
        </p:txBody>
      </p:sp>
      <p:sp>
        <p:nvSpPr>
          <p:cNvPr id="11" name="Shape 9"/>
          <p:cNvSpPr/>
          <p:nvPr/>
        </p:nvSpPr>
        <p:spPr>
          <a:xfrm>
            <a:off x="6197600" y="2684785"/>
            <a:ext cx="5181600" cy="782320"/>
          </a:xfrm>
          <a:prstGeom prst="rect">
            <a:avLst/>
          </a:prstGeom>
          <a:solidFill>
            <a:srgbClr val="FFFFFF"/>
          </a:solidFill>
          <a:ln/>
        </p:spPr>
        <p:txBody>
          <a:bodyPr/>
          <a:lstStyle/>
          <a:p>
            <a:endParaRPr lang="it-IT"/>
          </a:p>
        </p:txBody>
      </p:sp>
      <p:sp>
        <p:nvSpPr>
          <p:cNvPr id="12" name="Shape 10"/>
          <p:cNvSpPr/>
          <p:nvPr/>
        </p:nvSpPr>
        <p:spPr>
          <a:xfrm>
            <a:off x="6210300" y="2684785"/>
            <a:ext cx="0" cy="782320"/>
          </a:xfrm>
          <a:prstGeom prst="line">
            <a:avLst/>
          </a:prstGeom>
          <a:noFill/>
          <a:ln w="25400">
            <a:solidFill>
              <a:srgbClr val="2E6BD1"/>
            </a:solidFill>
            <a:prstDash val="solid"/>
          </a:ln>
        </p:spPr>
        <p:txBody>
          <a:bodyPr/>
          <a:lstStyle/>
          <a:p>
            <a:endParaRPr lang="it-IT"/>
          </a:p>
        </p:txBody>
      </p:sp>
      <p:sp>
        <p:nvSpPr>
          <p:cNvPr id="13" name="Text 11"/>
          <p:cNvSpPr/>
          <p:nvPr/>
        </p:nvSpPr>
        <p:spPr>
          <a:xfrm>
            <a:off x="6400800" y="2837185"/>
            <a:ext cx="494461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Esercizio 2 · Leak.java</a:t>
            </a:r>
            <a:endParaRPr lang="en-US" sz="1400" dirty="0"/>
          </a:p>
        </p:txBody>
      </p:sp>
      <p:sp>
        <p:nvSpPr>
          <p:cNvPr id="14" name="Text 12"/>
          <p:cNvSpPr/>
          <p:nvPr/>
        </p:nvSpPr>
        <p:spPr>
          <a:xfrm>
            <a:off x="6400800" y="3101355"/>
            <a:ext cx="49446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Connessioni mai chiuse, osservate in V$SESSION</a:t>
            </a:r>
            <a:endParaRPr lang="en-US" sz="1200" dirty="0"/>
          </a:p>
        </p:txBody>
      </p:sp>
      <p:sp>
        <p:nvSpPr>
          <p:cNvPr id="15" name="Shape 13"/>
          <p:cNvSpPr/>
          <p:nvPr/>
        </p:nvSpPr>
        <p:spPr>
          <a:xfrm>
            <a:off x="6197600" y="3568700"/>
            <a:ext cx="5181600" cy="782320"/>
          </a:xfrm>
          <a:prstGeom prst="rect">
            <a:avLst/>
          </a:prstGeom>
          <a:solidFill>
            <a:srgbClr val="FFFFFF"/>
          </a:solidFill>
          <a:ln/>
        </p:spPr>
        <p:txBody>
          <a:bodyPr/>
          <a:lstStyle/>
          <a:p>
            <a:endParaRPr lang="it-IT"/>
          </a:p>
        </p:txBody>
      </p:sp>
      <p:sp>
        <p:nvSpPr>
          <p:cNvPr id="16" name="Shape 14"/>
          <p:cNvSpPr/>
          <p:nvPr/>
        </p:nvSpPr>
        <p:spPr>
          <a:xfrm>
            <a:off x="6210300" y="3568700"/>
            <a:ext cx="0" cy="782320"/>
          </a:xfrm>
          <a:prstGeom prst="line">
            <a:avLst/>
          </a:prstGeom>
          <a:noFill/>
          <a:ln w="25400">
            <a:solidFill>
              <a:srgbClr val="2E6BD1"/>
            </a:solidFill>
            <a:prstDash val="solid"/>
          </a:ln>
        </p:spPr>
        <p:txBody>
          <a:bodyPr/>
          <a:lstStyle/>
          <a:p>
            <a:endParaRPr lang="it-IT"/>
          </a:p>
        </p:txBody>
      </p:sp>
      <p:sp>
        <p:nvSpPr>
          <p:cNvPr id="17" name="Text 15"/>
          <p:cNvSpPr/>
          <p:nvPr/>
        </p:nvSpPr>
        <p:spPr>
          <a:xfrm>
            <a:off x="6400800" y="3721100"/>
            <a:ext cx="494461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Inter" pitchFamily="34" charset="0"/>
                <a:ea typeface="Inter" pitchFamily="34" charset="-122"/>
                <a:cs typeface="Inter" pitchFamily="34" charset="-120"/>
              </a:rPr>
              <a:t>Esercizio 3 · Cache.java</a:t>
            </a:r>
            <a:endParaRPr lang="en-US" sz="1400" dirty="0"/>
          </a:p>
        </p:txBody>
      </p:sp>
      <p:sp>
        <p:nvSpPr>
          <p:cNvPr id="18" name="Text 16"/>
          <p:cNvSpPr/>
          <p:nvPr/>
        </p:nvSpPr>
        <p:spPr>
          <a:xfrm>
            <a:off x="6400800" y="3985270"/>
            <a:ext cx="49446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B5E"/>
                </a:solidFill>
                <a:latin typeface="Inter" pitchFamily="34" charset="0"/>
                <a:ea typeface="Inter" pitchFamily="34" charset="-122"/>
                <a:cs typeface="Inter" pitchFamily="34" charset="-120"/>
              </a:rPr>
              <a:t>Parse count con e senza statement cache</a:t>
            </a:r>
            <a:endParaRPr lang="en-US" sz="1200" dirty="0"/>
          </a:p>
        </p:txBody>
      </p:sp>
      <p:sp>
        <p:nvSpPr>
          <p:cNvPr id="19" name="Text 17"/>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ESERCIZIO 1 · LOGON.JAVA</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Quanto costa </a:t>
            </a:r>
            <a:r>
              <a:rPr lang="en-US" sz="3000" b="1" i="0" kern="0" spc="-60" dirty="0">
                <a:solidFill>
                  <a:srgbClr val="2E6BD1"/>
                </a:solidFill>
                <a:latin typeface="Inter" pitchFamily="34" charset="0"/>
                <a:ea typeface="Inter" pitchFamily="34" charset="-122"/>
                <a:cs typeface="Inter" pitchFamily="34" charset="-120"/>
              </a:rPr>
              <a:t>un logon?</a:t>
            </a:r>
            <a:endParaRPr lang="en-US" sz="3000" dirty="0"/>
          </a:p>
        </p:txBody>
      </p:sp>
      <p:sp>
        <p:nvSpPr>
          <p:cNvPr id="4" name="Text 2"/>
          <p:cNvSpPr/>
          <p:nvPr/>
        </p:nvSpPr>
        <p:spPr>
          <a:xfrm>
            <a:off x="812800" y="1775470"/>
            <a:ext cx="10566400" cy="3670300"/>
          </a:xfrm>
          <a:prstGeom prst="rect">
            <a:avLst/>
          </a:prstGeom>
          <a:solidFill>
            <a:srgbClr val="0F1B2D"/>
          </a:solidFill>
          <a:ln/>
        </p:spPr>
        <p:txBody>
          <a:bodyPr wrap="square" lIns="203200" tIns="177800" rIns="0"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import java.sql.*;</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public class Logon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public static void main(String[] a) throws Exception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String url = "jdbc:oracle:thin:@//localhost:1521/XEPDB1";</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long t0 = System.nanoTime();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for (int i = 0; i &lt; 100; i++)  </a:t>
            </a:r>
            <a:r>
              <a:rPr lang="en-US" sz="1200" dirty="0">
                <a:solidFill>
                  <a:srgbClr val="8DB8FF"/>
                </a:solidFill>
                <a:latin typeface="JetBrains Mono" pitchFamily="49" charset="0"/>
                <a:ea typeface="JetBrains Mono" pitchFamily="49" charset="-122"/>
                <a:cs typeface="JetBrains Mono" pitchFamily="49" charset="-120"/>
              </a:rPr>
              <a:t>// 100 connessioni fisiche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try (Connection c = DriverManager.getConnection(url, "tuning_user", "tuning_pwd"))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c.createStatement().execute("SELECT 1 FROM dual");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long t1 = System.nanoTime();  </a:t>
            </a:r>
            <a:r>
              <a:rPr lang="en-US" sz="1200" dirty="0">
                <a:solidFill>
                  <a:srgbClr val="8DB8FF"/>
                </a:solidFill>
                <a:latin typeface="JetBrains Mono" pitchFamily="49" charset="0"/>
                <a:ea typeface="JetBrains Mono" pitchFamily="49" charset="-122"/>
                <a:cs typeface="JetBrains Mono" pitchFamily="49" charset="-120"/>
              </a:rPr>
              <a:t>// 1 connessione, 100 query</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try (Connection c = DriverManager.getConnection(url, "tuning_user", "tuning_pwd"))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for (int i = 0; i &lt; 100; i++) c.createStatement().execute("SELECT 1 FROM dual");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long t2 = System.nanoTime();</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System.out.println((t1 - t0) / 1_000_000 + " ms contro " + (t2 - t1) / 1_000_000 + " ms");</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
        <p:nvSpPr>
          <p:cNvPr id="7" name="Text 3">
            <a:extLst>
              <a:ext uri="{FF2B5EF4-FFF2-40B4-BE49-F238E27FC236}">
                <a16:creationId xmlns:a16="http://schemas.microsoft.com/office/drawing/2014/main" id="{BEFDCA68-5E31-5F1C-92AA-704C14C28F12}"/>
              </a:ext>
            </a:extLst>
          </p:cNvPr>
          <p:cNvSpPr/>
          <p:nvPr/>
        </p:nvSpPr>
        <p:spPr>
          <a:xfrm>
            <a:off x="812800" y="5606851"/>
            <a:ext cx="10566400" cy="470297"/>
          </a:xfrm>
          <a:prstGeom prst="rect">
            <a:avLst/>
          </a:prstGeom>
          <a:solidFill>
            <a:srgbClr val="DCE5F2"/>
          </a:solidFill>
          <a:ln/>
        </p:spPr>
        <p:txBody>
          <a:bodyPr wrap="square" lIns="203200" tIns="127000" rIns="0" bIns="101600" rtlCol="0" anchor="t">
            <a:normAutofit/>
          </a:bodyPr>
          <a:lstStyle/>
          <a:p>
            <a:pPr>
              <a:lnSpc>
                <a:spcPts val="1724"/>
              </a:lnSpc>
            </a:pPr>
            <a:r>
              <a:rPr lang="en-US" sz="1189" dirty="0"/>
              <a:t>SELECT value FROM </a:t>
            </a:r>
            <a:r>
              <a:rPr lang="en-US" sz="1189" dirty="0" err="1"/>
              <a:t>v$sysstat</a:t>
            </a:r>
            <a:r>
              <a:rPr lang="en-US" sz="1189" dirty="0"/>
              <a:t> WHERE name = 'logons cumulative’ – dopo </a:t>
            </a:r>
            <a:r>
              <a:rPr lang="en-US" sz="1189" dirty="0" err="1"/>
              <a:t>l’esecuzione</a:t>
            </a:r>
            <a:r>
              <a:rPr lang="en-US" sz="1189" dirty="0"/>
              <a:t> del </a:t>
            </a:r>
            <a:r>
              <a:rPr lang="en-US" sz="1189" dirty="0" err="1"/>
              <a:t>programma</a:t>
            </a:r>
            <a:r>
              <a:rPr lang="en-US" sz="1189" dirty="0"/>
              <a:t> </a:t>
            </a:r>
            <a:r>
              <a:rPr lang="en-US" sz="1189" dirty="0" err="1"/>
              <a:t>verifichiamo</a:t>
            </a:r>
            <a:r>
              <a:rPr lang="en-US" sz="1189" dirty="0"/>
              <a:t> </a:t>
            </a:r>
            <a:r>
              <a:rPr lang="en-US" sz="1189" dirty="0" err="1"/>
              <a:t>quante</a:t>
            </a:r>
            <a:r>
              <a:rPr lang="en-US" sz="1189" dirty="0"/>
              <a:t> </a:t>
            </a:r>
            <a:r>
              <a:rPr lang="en-US" sz="1189" dirty="0" err="1"/>
              <a:t>sessioni</a:t>
            </a:r>
            <a:r>
              <a:rPr lang="en-US" sz="1189" dirty="0"/>
              <a:t> </a:t>
            </a:r>
            <a:r>
              <a:rPr lang="en-US" sz="1189" dirty="0" err="1"/>
              <a:t>sono</a:t>
            </a:r>
            <a:r>
              <a:rPr lang="en-US" sz="1189" dirty="0"/>
              <a:t> state </a:t>
            </a:r>
            <a:r>
              <a:rPr lang="en-US" sz="1189" dirty="0" err="1"/>
              <a:t>aperte</a:t>
            </a:r>
            <a:endParaRPr lang="en-US" sz="1189"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3521"/>
          </a:xfrm>
          <a:prstGeom prst="rect">
            <a:avLst/>
          </a:prstGeom>
          <a:noFill/>
          <a:ln/>
        </p:spPr>
        <p:txBody>
          <a:bodyPr wrap="square" lIns="0" tIns="0" rIns="0" bIns="0" rtlCol="0" anchor="t">
            <a:normAutofit/>
          </a:bodyPr>
          <a:lstStyle/>
          <a:p>
            <a:pPr marL="0" indent="0" algn="l">
              <a:lnSpc>
                <a:spcPts val="1675"/>
              </a:lnSpc>
              <a:buNone/>
            </a:pPr>
            <a:r>
              <a:rPr lang="en-US" sz="1196" b="1" kern="0" spc="95" dirty="0">
                <a:solidFill>
                  <a:srgbClr val="2E6BD1"/>
                </a:solidFill>
                <a:latin typeface="Inter" pitchFamily="34" charset="0"/>
                <a:ea typeface="Inter" pitchFamily="34" charset="-122"/>
                <a:cs typeface="Inter" pitchFamily="34" charset="-120"/>
              </a:rPr>
              <a:t>LAB · ESERCIZIO 2 · LEAK.JAVA</a:t>
            </a:r>
            <a:endParaRPr lang="en-US" sz="1196" dirty="0"/>
          </a:p>
        </p:txBody>
      </p:sp>
      <p:sp>
        <p:nvSpPr>
          <p:cNvPr id="3" name="Text 1"/>
          <p:cNvSpPr>
            <a:spLocks noGrp="1"/>
          </p:cNvSpPr>
          <p:nvPr>
            <p:ph type="title"/>
          </p:nvPr>
        </p:nvSpPr>
        <p:spPr>
          <a:xfrm>
            <a:off x="812800" y="1122536"/>
            <a:ext cx="10883392" cy="434102"/>
          </a:xfrm>
          <a:prstGeom prst="rect">
            <a:avLst/>
          </a:prstGeom>
          <a:noFill/>
          <a:ln/>
        </p:spPr>
        <p:txBody>
          <a:bodyPr wrap="square" lIns="0" tIns="0" rIns="0" bIns="0" rtlCol="0" anchor="t">
            <a:normAutofit/>
          </a:bodyPr>
          <a:lstStyle/>
          <a:p>
            <a:pPr marL="0" indent="0" algn="l">
              <a:lnSpc>
                <a:spcPts val="3218"/>
              </a:lnSpc>
              <a:buNone/>
            </a:pPr>
            <a:r>
              <a:rPr lang="en-US" sz="2925" b="1" i="0" kern="0" spc="-60" dirty="0">
                <a:solidFill>
                  <a:srgbClr val="0F1B2D"/>
                </a:solidFill>
                <a:latin typeface="Inter" pitchFamily="34" charset="0"/>
                <a:ea typeface="Inter" pitchFamily="34" charset="-122"/>
                <a:cs typeface="Inter" pitchFamily="34" charset="-120"/>
              </a:rPr>
              <a:t>Provocare </a:t>
            </a:r>
            <a:r>
              <a:rPr lang="en-US" sz="2925" b="1" i="0" kern="0" spc="-60" dirty="0">
                <a:solidFill>
                  <a:srgbClr val="2E6BD1"/>
                </a:solidFill>
                <a:latin typeface="Inter" pitchFamily="34" charset="0"/>
                <a:ea typeface="Inter" pitchFamily="34" charset="-122"/>
                <a:cs typeface="Inter" pitchFamily="34" charset="-120"/>
              </a:rPr>
              <a:t>un connection leak</a:t>
            </a:r>
            <a:endParaRPr lang="en-US" sz="2925" dirty="0"/>
          </a:p>
        </p:txBody>
      </p:sp>
      <p:sp>
        <p:nvSpPr>
          <p:cNvPr id="4" name="Text 2"/>
          <p:cNvSpPr/>
          <p:nvPr/>
        </p:nvSpPr>
        <p:spPr>
          <a:xfrm>
            <a:off x="812800" y="1759818"/>
            <a:ext cx="10566400" cy="3383280"/>
          </a:xfrm>
          <a:prstGeom prst="rect">
            <a:avLst/>
          </a:prstGeom>
          <a:solidFill>
            <a:srgbClr val="0F1B2D"/>
          </a:solidFill>
          <a:ln/>
        </p:spPr>
        <p:txBody>
          <a:bodyPr wrap="square" lIns="203200" tIns="177800" rIns="0" bIns="152400" rtlCol="0" anchor="t">
            <a:normAutofit/>
          </a:bodyPr>
          <a:lstStyle/>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import java.sql.*; import java.util.*;</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public class Leak {</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public static void main(String[] a) throws Exception {</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String url = "jdbc:oracle:thin:@//localhost:1521/XEPDB1";</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List&lt;Connection&gt; perse = new ArrayList&lt;&gt;();</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for (int i = 1; i &lt;= 20; i++) {</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Connection c = DriverManager.getConnection(url, "tuning_user", "tuning_pwd");</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c.createStatement().executeQuery("SELECT 1 FROM dual");  </a:t>
            </a:r>
            <a:r>
              <a:rPr lang="en-US" sz="1174" dirty="0">
                <a:solidFill>
                  <a:srgbClr val="8DB8FF"/>
                </a:solidFill>
                <a:latin typeface="JetBrains Mono" pitchFamily="49" charset="0"/>
                <a:ea typeface="JetBrains Mono" pitchFamily="49" charset="-122"/>
                <a:cs typeface="JetBrains Mono" pitchFamily="49" charset="-120"/>
              </a:rPr>
              <a:t>// nessun close()</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perse.add(c);</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System.out.println("Connessioni aperte: " + i);</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Thread.sleep(600_000);  </a:t>
            </a:r>
            <a:r>
              <a:rPr lang="en-US" sz="1174" dirty="0">
                <a:solidFill>
                  <a:srgbClr val="8DB8FF"/>
                </a:solidFill>
                <a:latin typeface="JetBrains Mono" pitchFamily="49" charset="0"/>
                <a:ea typeface="JetBrains Mono" pitchFamily="49" charset="-122"/>
                <a:cs typeface="JetBrains Mono" pitchFamily="49" charset="-120"/>
              </a:rPr>
              <a:t>// 10 minuti: osservate dal database</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 }</a:t>
            </a:r>
            <a:endParaRPr lang="en-US" sz="1174" dirty="0"/>
          </a:p>
          <a:p>
            <a:pPr marL="0" indent="0" algn="l">
              <a:lnSpc>
                <a:spcPts val="1702"/>
              </a:lnSpc>
              <a:buNone/>
            </a:pPr>
            <a:r>
              <a:rPr lang="en-US" sz="1174" dirty="0">
                <a:solidFill>
                  <a:srgbClr val="F6F8FB"/>
                </a:solidFill>
                <a:latin typeface="JetBrains Mono" pitchFamily="49" charset="0"/>
                <a:ea typeface="JetBrains Mono" pitchFamily="49" charset="-122"/>
                <a:cs typeface="JetBrains Mono" pitchFamily="49" charset="-120"/>
              </a:rPr>
              <a:t>}</a:t>
            </a:r>
            <a:endParaRPr lang="en-US" sz="1174" dirty="0"/>
          </a:p>
        </p:txBody>
      </p:sp>
      <p:sp>
        <p:nvSpPr>
          <p:cNvPr id="5" name="Text 3"/>
          <p:cNvSpPr/>
          <p:nvPr/>
        </p:nvSpPr>
        <p:spPr>
          <a:xfrm>
            <a:off x="812800" y="5371703"/>
            <a:ext cx="10566400" cy="470297"/>
          </a:xfrm>
          <a:prstGeom prst="rect">
            <a:avLst/>
          </a:prstGeom>
          <a:solidFill>
            <a:srgbClr val="DCE5F2"/>
          </a:solidFill>
          <a:ln/>
        </p:spPr>
        <p:txBody>
          <a:bodyPr wrap="square" lIns="203200" tIns="127000" rIns="0" bIns="101600" rtlCol="0" anchor="t">
            <a:normAutofit/>
          </a:bodyPr>
          <a:lstStyle/>
          <a:p>
            <a:pPr marL="0" indent="0" algn="l">
              <a:lnSpc>
                <a:spcPts val="1724"/>
              </a:lnSpc>
              <a:buNone/>
            </a:pPr>
            <a:r>
              <a:rPr lang="en-US" sz="1189" dirty="0">
                <a:solidFill>
                  <a:srgbClr val="0F1B2D"/>
                </a:solidFill>
                <a:latin typeface="JetBrains Mono" pitchFamily="49" charset="0"/>
                <a:ea typeface="JetBrains Mono" pitchFamily="49" charset="-122"/>
                <a:cs typeface="JetBrains Mono" pitchFamily="49" charset="-120"/>
              </a:rPr>
              <a:t>SELECT status, COUNT(*) FROM v$session WHERE username = 'TUNING_USER' GROUP BY status;</a:t>
            </a:r>
            <a:endParaRPr lang="en-US" sz="1189" dirty="0"/>
          </a:p>
        </p:txBody>
      </p:sp>
      <p:sp>
        <p:nvSpPr>
          <p:cNvPr id="6" name="Text 4"/>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E6BD1"/>
                </a:solidFill>
                <a:latin typeface="Inter" pitchFamily="34" charset="0"/>
                <a:ea typeface="Inter" pitchFamily="34" charset="-122"/>
                <a:cs typeface="Inter" pitchFamily="34" charset="-120"/>
              </a:rPr>
              <a:t>LAB · ESERCIZIO 3 · CACHE.JAVA</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0F1B2D"/>
                </a:solidFill>
                <a:latin typeface="Inter" pitchFamily="34" charset="0"/>
                <a:ea typeface="Inter" pitchFamily="34" charset="-122"/>
                <a:cs typeface="Inter" pitchFamily="34" charset="-120"/>
              </a:rPr>
              <a:t>Contare i parse </a:t>
            </a:r>
            <a:r>
              <a:rPr lang="en-US" sz="3000" b="1" i="0" kern="0" spc="-60" dirty="0">
                <a:solidFill>
                  <a:srgbClr val="2E6BD1"/>
                </a:solidFill>
                <a:latin typeface="Inter" pitchFamily="34" charset="0"/>
                <a:ea typeface="Inter" pitchFamily="34" charset="-122"/>
                <a:cs typeface="Inter" pitchFamily="34" charset="-120"/>
              </a:rPr>
              <a:t>con e senza cache</a:t>
            </a:r>
            <a:endParaRPr lang="en-US" sz="3000" dirty="0"/>
          </a:p>
        </p:txBody>
      </p:sp>
      <p:sp>
        <p:nvSpPr>
          <p:cNvPr id="4" name="Text 2"/>
          <p:cNvSpPr/>
          <p:nvPr/>
        </p:nvSpPr>
        <p:spPr>
          <a:xfrm>
            <a:off x="812800" y="1775470"/>
            <a:ext cx="10566400" cy="3670300"/>
          </a:xfrm>
          <a:prstGeom prst="rect">
            <a:avLst/>
          </a:prstGeom>
          <a:solidFill>
            <a:srgbClr val="0F1B2D"/>
          </a:solidFill>
          <a:ln/>
        </p:spPr>
        <p:txBody>
          <a:bodyPr wrap="square" lIns="203200" tIns="177800" rIns="0" bIns="152400" rtlCol="0" anchor="t">
            <a:normAutofit/>
          </a:bodyPr>
          <a:lstStyle/>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import java.sql.*; import oracle.jdbc.OracleConnection;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public class Cache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public static void main(String[] a) throws Exception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boolean cache = a.length &gt; 0;  </a:t>
            </a:r>
            <a:r>
              <a:rPr lang="en-US" sz="1200" dirty="0">
                <a:solidFill>
                  <a:srgbClr val="8DB8FF"/>
                </a:solidFill>
                <a:latin typeface="JetBrains Mono" pitchFamily="49" charset="0"/>
                <a:ea typeface="JetBrains Mono" pitchFamily="49" charset="-122"/>
                <a:cs typeface="JetBrains Mono" pitchFamily="49" charset="-120"/>
              </a:rPr>
              <a:t>// java -cp ojdbc11.jar Cache.java on</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String url = "jdbc:oracle:thin:@//localhost:1521/XEPDB1";</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try (Connection c = DriverManager.getConnection(url, "tuning_user", "tuning_pwd"))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OracleConnection oc = c.unwrap(OracleConnection.class);</a:t>
            </a:r>
            <a:endParaRPr lang="en-US" sz="1200" dirty="0"/>
          </a:p>
          <a:p>
            <a:pPr>
              <a:lnSpc>
                <a:spcPts val="1740"/>
              </a:lnSpc>
            </a:pPr>
            <a:r>
              <a:rPr lang="en-US" sz="1200" dirty="0">
                <a:solidFill>
                  <a:srgbClr val="F6F8FB"/>
                </a:solidFill>
                <a:latin typeface="JetBrains Mono" pitchFamily="49" charset="0"/>
                <a:ea typeface="JetBrains Mono" pitchFamily="49" charset="-122"/>
                <a:cs typeface="JetBrains Mono" pitchFamily="49" charset="-120"/>
              </a:rPr>
              <a:t>   </a:t>
            </a:r>
            <a:r>
              <a:rPr lang="en-US" sz="1200" dirty="0" err="1">
                <a:solidFill>
                  <a:srgbClr val="F6F8FB"/>
                </a:solidFill>
                <a:latin typeface="JetBrains Mono" pitchFamily="49" charset="0"/>
                <a:ea typeface="JetBrains Mono" pitchFamily="49" charset="-122"/>
                <a:cs typeface="JetBrains Mono" pitchFamily="49" charset="-120"/>
              </a:rPr>
              <a:t>oc.setImplicitCachingEnabled</a:t>
            </a:r>
            <a:r>
              <a:rPr lang="en-US" sz="1200" dirty="0">
                <a:solidFill>
                  <a:srgbClr val="F6F8FB"/>
                </a:solidFill>
                <a:latin typeface="JetBrains Mono" pitchFamily="49" charset="0"/>
                <a:ea typeface="JetBrains Mono" pitchFamily="49" charset="-122"/>
                <a:cs typeface="JetBrains Mono" pitchFamily="49" charset="-120"/>
              </a:rPr>
              <a:t>(cache); </a:t>
            </a:r>
            <a:r>
              <a:rPr lang="en-US" sz="1200" dirty="0" err="1">
                <a:solidFill>
                  <a:srgbClr val="F6F8FB"/>
                </a:solidFill>
                <a:latin typeface="JetBrains Mono" pitchFamily="49" charset="0"/>
                <a:ea typeface="JetBrains Mono" pitchFamily="49" charset="-122"/>
                <a:cs typeface="JetBrains Mono" pitchFamily="49" charset="-120"/>
              </a:rPr>
              <a:t>oc.setStatementCacheSize</a:t>
            </a:r>
            <a:r>
              <a:rPr lang="en-US" sz="1200" dirty="0">
                <a:solidFill>
                  <a:srgbClr val="F6F8FB"/>
                </a:solidFill>
                <a:latin typeface="JetBrains Mono" pitchFamily="49" charset="0"/>
                <a:ea typeface="JetBrains Mono" pitchFamily="49" charset="-122"/>
                <a:cs typeface="JetBrains Mono" pitchFamily="49" charset="-120"/>
              </a:rPr>
              <a:t>(20</a:t>
            </a:r>
            <a:r>
              <a:rPr lang="en-US" sz="1200">
                <a:solidFill>
                  <a:srgbClr val="F6F8FB"/>
                </a:solidFill>
                <a:latin typeface="JetBrains Mono" pitchFamily="49" charset="0"/>
                <a:ea typeface="JetBrains Mono" pitchFamily="49" charset="-122"/>
                <a:cs typeface="JetBrains Mono" pitchFamily="49" charset="-120"/>
              </a:rPr>
              <a:t>); </a:t>
            </a:r>
            <a:r>
              <a:rPr lang="en-US" sz="1200">
                <a:solidFill>
                  <a:srgbClr val="8DB8FF"/>
                </a:solidFill>
                <a:latin typeface="JetBrains Mono" pitchFamily="49" charset="0"/>
                <a:ea typeface="JetBrains Mono" pitchFamily="49" charset="-122"/>
              </a:rPr>
              <a:t>//righe che attivano</a:t>
            </a:r>
            <a:r>
              <a:rPr lang="en-US" sz="1200" dirty="0">
                <a:solidFill>
                  <a:srgbClr val="8DB8FF"/>
                </a:solidFill>
                <a:latin typeface="JetBrains Mono" pitchFamily="49" charset="0"/>
                <a:ea typeface="JetBrains Mono" pitchFamily="49" charset="-122"/>
              </a:rPr>
              <a:t> </a:t>
            </a:r>
            <a:r>
              <a:rPr lang="en-US" sz="1200">
                <a:solidFill>
                  <a:srgbClr val="8DB8FF"/>
                </a:solidFill>
                <a:latin typeface="JetBrains Mono" pitchFamily="49" charset="0"/>
                <a:ea typeface="JetBrains Mono" pitchFamily="49" charset="-122"/>
              </a:rPr>
              <a:t>la cache</a:t>
            </a:r>
            <a:endParaRPr lang="en-US" sz="1200" dirty="0">
              <a:solidFill>
                <a:srgbClr val="8DB8FF"/>
              </a:solidFill>
              <a:latin typeface="JetBrains Mono" pitchFamily="49" charset="0"/>
              <a:ea typeface="JetBrains Mono" pitchFamily="49" charset="-122"/>
            </a:endParaRPr>
          </a:p>
          <a:p>
            <a:pPr marL="0" indent="0" algn="l">
              <a:lnSpc>
                <a:spcPts val="1740"/>
              </a:lnSpc>
              <a:buNone/>
            </a:pPr>
            <a:r>
              <a:rPr lang="en-US" sz="1200">
                <a:solidFill>
                  <a:srgbClr val="F6F8FB"/>
                </a:solidFill>
                <a:latin typeface="JetBrains Mono" pitchFamily="49" charset="0"/>
                <a:ea typeface="JetBrains Mono" pitchFamily="49" charset="-122"/>
                <a:cs typeface="JetBrains Mono" pitchFamily="49" charset="-120"/>
              </a:rPr>
              <a:t>   </a:t>
            </a:r>
            <a:r>
              <a:rPr lang="en-US" sz="1200" dirty="0">
                <a:solidFill>
                  <a:srgbClr val="F6F8FB"/>
                </a:solidFill>
                <a:latin typeface="JetBrains Mono" pitchFamily="49" charset="0"/>
                <a:ea typeface="JetBrains Mono" pitchFamily="49" charset="-122"/>
                <a:cs typeface="JetBrains Mono" pitchFamily="49" charset="-120"/>
              </a:rPr>
              <a:t>for (int i = 1; i &lt;= 5000; i++)</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try (PreparedStatement ps = c.prepareStatement("SELECT nome FROM clienti WHERE cliente_id = ?"))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ps.setInt(1, i); ps.executeQuery().close();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try (ResultSet rs = c.createStatement().executeQuery("SELECT n.name, m.value FROM v$mystat m"</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 " JOIN v$statname n ON m.statistic# = n.statistic# WHERE n.name LIKE 'parse count%'"))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while (rs.next()) System.out.println(rs.getString(1) + " = " + rs.getLong(2)); }</a:t>
            </a:r>
            <a:endParaRPr lang="en-US" sz="1200" dirty="0"/>
          </a:p>
          <a:p>
            <a:pPr marL="0" indent="0" algn="l">
              <a:lnSpc>
                <a:spcPts val="1740"/>
              </a:lnSpc>
              <a:buNone/>
            </a:pPr>
            <a:r>
              <a:rPr lang="en-US" sz="1200" dirty="0">
                <a:solidFill>
                  <a:srgbClr val="F6F8FB"/>
                </a:solidFill>
                <a:latin typeface="JetBrains Mono" pitchFamily="49" charset="0"/>
                <a:ea typeface="JetBrains Mono" pitchFamily="49" charset="-122"/>
                <a:cs typeface="JetBrains Mono" pitchFamily="49" charset="-120"/>
              </a:rPr>
              <a:t>  }}}</a:t>
            </a:r>
            <a:endParaRPr lang="en-US" sz="1200" dirty="0"/>
          </a:p>
        </p:txBody>
      </p:sp>
      <p:sp>
        <p:nvSpPr>
          <p:cNvPr id="5" name="Text 3"/>
          <p:cNvSpPr/>
          <p:nvPr/>
        </p:nvSpPr>
        <p:spPr>
          <a:xfrm>
            <a:off x="812800" y="6238255"/>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Inter" pitchFamily="34" charset="0"/>
                <a:ea typeface="Inter" pitchFamily="34" charset="-122"/>
                <a:cs typeface="Inter" pitchFamily="34" charset="-120"/>
              </a:rPr>
              <a:t>Oracle Performance Monitoring &amp; Tuning · Giorno 2</a:t>
            </a:r>
            <a:endParaRPr lang="en-US" sz="1200" dirty="0"/>
          </a:p>
        </p:txBody>
      </p:sp>
      <p:sp>
        <p:nvSpPr>
          <p:cNvPr id="7" name="Text 3">
            <a:extLst>
              <a:ext uri="{FF2B5EF4-FFF2-40B4-BE49-F238E27FC236}">
                <a16:creationId xmlns:a16="http://schemas.microsoft.com/office/drawing/2014/main" id="{FB0A5E15-DE03-153C-3EB3-557EDB2A868F}"/>
              </a:ext>
            </a:extLst>
          </p:cNvPr>
          <p:cNvSpPr/>
          <p:nvPr/>
        </p:nvSpPr>
        <p:spPr>
          <a:xfrm>
            <a:off x="812800" y="5572173"/>
            <a:ext cx="10566400" cy="470297"/>
          </a:xfrm>
          <a:prstGeom prst="rect">
            <a:avLst/>
          </a:prstGeom>
          <a:solidFill>
            <a:srgbClr val="DCE5F2"/>
          </a:solidFill>
          <a:ln/>
        </p:spPr>
        <p:txBody>
          <a:bodyPr wrap="square" lIns="203200" tIns="127000" rIns="0" bIns="101600" rtlCol="0" anchor="t">
            <a:normAutofit fontScale="77500" lnSpcReduction="20000"/>
          </a:bodyPr>
          <a:lstStyle/>
          <a:p>
            <a:r>
              <a:rPr lang="it-IT" sz="1200" dirty="0"/>
              <a:t>Viene attivata la </a:t>
            </a:r>
            <a:r>
              <a:rPr lang="it-IT" sz="1200" b="1" dirty="0" err="1"/>
              <a:t>statement</a:t>
            </a:r>
            <a:r>
              <a:rPr lang="it-IT" sz="1200" b="1" dirty="0"/>
              <a:t> cache implicita del driver JDBC Oracle</a:t>
            </a:r>
            <a:r>
              <a:rPr lang="it-IT" sz="1200" dirty="0"/>
              <a:t>. È una cache </a:t>
            </a:r>
            <a:r>
              <a:rPr lang="it-IT" sz="1200" b="1" dirty="0"/>
              <a:t>lato client</a:t>
            </a:r>
            <a:r>
              <a:rPr lang="it-IT" sz="1200" dirty="0"/>
              <a:t>: sta dentro l’applicazione Java, non nel database.</a:t>
            </a:r>
          </a:p>
          <a:p>
            <a:r>
              <a:rPr lang="it-IT" sz="1200" dirty="0"/>
              <a:t>Alla </a:t>
            </a:r>
            <a:r>
              <a:rPr lang="it-IT" sz="1200" dirty="0" err="1"/>
              <a:t>prepareStatement</a:t>
            </a:r>
            <a:r>
              <a:rPr lang="it-IT" sz="1200" dirty="0"/>
              <a:t> successiva con lo stesso testo SQL il driver la riprende dalla cache, quindi nessuna chiamata di parse arriva al database.</a:t>
            </a:r>
            <a:endParaRPr lang="en-US" sz="1189"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5B9BFF"/>
                </a:solidFill>
                <a:latin typeface="Inter" pitchFamily="34" charset="0"/>
                <a:ea typeface="Inter" pitchFamily="34" charset="-122"/>
                <a:cs typeface="Inter" pitchFamily="34" charset="-120"/>
              </a:rPr>
              <a:t>RIEPILOGO</a:t>
            </a:r>
            <a:endParaRPr lang="en-US" sz="1200" dirty="0"/>
          </a:p>
        </p:txBody>
      </p:sp>
      <p:sp>
        <p:nvSpPr>
          <p:cNvPr id="3" name="Text 1"/>
          <p:cNvSpPr>
            <a:spLocks noGrp="1"/>
          </p:cNvSpPr>
          <p:nvPr>
            <p:ph type="title"/>
          </p:nvPr>
        </p:nvSpPr>
        <p:spPr>
          <a:xfrm>
            <a:off x="812800" y="112777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60" dirty="0">
                <a:solidFill>
                  <a:srgbClr val="F6F8FB"/>
                </a:solidFill>
                <a:latin typeface="Inter" pitchFamily="34" charset="0"/>
                <a:ea typeface="Inter" pitchFamily="34" charset="-122"/>
                <a:cs typeface="Inter" pitchFamily="34" charset="-120"/>
              </a:rPr>
              <a:t>Cosa portiamo </a:t>
            </a:r>
            <a:r>
              <a:rPr lang="en-US" sz="3000" b="1" i="0" kern="0" spc="-60" dirty="0">
                <a:solidFill>
                  <a:srgbClr val="5B9BFF"/>
                </a:solidFill>
                <a:latin typeface="Inter" pitchFamily="34" charset="0"/>
                <a:ea typeface="Inter" pitchFamily="34" charset="-122"/>
                <a:cs typeface="Inter" pitchFamily="34" charset="-120"/>
              </a:rPr>
              <a:t>al Giorno 3</a:t>
            </a:r>
            <a:endParaRPr lang="en-US" sz="3000" dirty="0"/>
          </a:p>
        </p:txBody>
      </p:sp>
      <p:sp>
        <p:nvSpPr>
          <p:cNvPr id="4" name="Shape 2"/>
          <p:cNvSpPr/>
          <p:nvPr/>
        </p:nvSpPr>
        <p:spPr>
          <a:xfrm>
            <a:off x="812800" y="1858020"/>
            <a:ext cx="3420507" cy="0"/>
          </a:xfrm>
          <a:prstGeom prst="line">
            <a:avLst/>
          </a:prstGeom>
          <a:noFill/>
          <a:ln w="12700">
            <a:solidFill>
              <a:srgbClr val="5B9BFF"/>
            </a:solidFill>
            <a:prstDash val="solid"/>
          </a:ln>
        </p:spPr>
        <p:txBody>
          <a:bodyPr/>
          <a:lstStyle/>
          <a:p>
            <a:endParaRPr lang="it-IT"/>
          </a:p>
        </p:txBody>
      </p:sp>
      <p:sp>
        <p:nvSpPr>
          <p:cNvPr id="5" name="Text 3"/>
          <p:cNvSpPr/>
          <p:nvPr/>
        </p:nvSpPr>
        <p:spPr>
          <a:xfrm>
            <a:off x="1016000" y="2065015"/>
            <a:ext cx="310453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1016000" y="2354585"/>
            <a:ext cx="31045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8FB"/>
                </a:solidFill>
                <a:latin typeface="Inter" pitchFamily="34" charset="0"/>
                <a:ea typeface="Inter" pitchFamily="34" charset="-122"/>
                <a:cs typeface="Inter" pitchFamily="34" charset="-120"/>
              </a:rPr>
              <a:t>L’indice giusto</a:t>
            </a:r>
            <a:endParaRPr lang="en-US" sz="1500" dirty="0"/>
          </a:p>
        </p:txBody>
      </p:sp>
      <p:sp>
        <p:nvSpPr>
          <p:cNvPr id="7" name="Text 5"/>
          <p:cNvSpPr/>
          <p:nvPr/>
        </p:nvSpPr>
        <p:spPr>
          <a:xfrm>
            <a:off x="1016000" y="2659385"/>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Foreign key indicizzate, niente funzioni o conversioni sulle colonne.</a:t>
            </a:r>
            <a:endParaRPr lang="en-US" sz="1200" dirty="0"/>
          </a:p>
        </p:txBody>
      </p:sp>
      <p:sp>
        <p:nvSpPr>
          <p:cNvPr id="8" name="Shape 6"/>
          <p:cNvSpPr/>
          <p:nvPr/>
        </p:nvSpPr>
        <p:spPr>
          <a:xfrm>
            <a:off x="4385707" y="1858020"/>
            <a:ext cx="3420586" cy="0"/>
          </a:xfrm>
          <a:prstGeom prst="line">
            <a:avLst/>
          </a:prstGeom>
          <a:noFill/>
          <a:ln w="12700">
            <a:solidFill>
              <a:srgbClr val="5B9BFF"/>
            </a:solidFill>
            <a:prstDash val="solid"/>
          </a:ln>
        </p:spPr>
        <p:txBody>
          <a:bodyPr/>
          <a:lstStyle/>
          <a:p>
            <a:endParaRPr lang="it-IT"/>
          </a:p>
        </p:txBody>
      </p:sp>
      <p:sp>
        <p:nvSpPr>
          <p:cNvPr id="9" name="Text 7"/>
          <p:cNvSpPr/>
          <p:nvPr/>
        </p:nvSpPr>
        <p:spPr>
          <a:xfrm>
            <a:off x="4588907" y="2065015"/>
            <a:ext cx="310461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02</a:t>
            </a:r>
            <a:endParaRPr lang="en-US" sz="1200" dirty="0"/>
          </a:p>
        </p:txBody>
      </p:sp>
      <p:sp>
        <p:nvSpPr>
          <p:cNvPr id="10" name="Text 8"/>
          <p:cNvSpPr/>
          <p:nvPr/>
        </p:nvSpPr>
        <p:spPr>
          <a:xfrm>
            <a:off x="4588907" y="2354585"/>
            <a:ext cx="310461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8FB"/>
                </a:solidFill>
                <a:latin typeface="Inter" pitchFamily="34" charset="0"/>
                <a:ea typeface="Inter" pitchFamily="34" charset="-122"/>
                <a:cs typeface="Inter" pitchFamily="34" charset="-120"/>
              </a:rPr>
              <a:t>Fidarsi del CBO</a:t>
            </a:r>
            <a:endParaRPr lang="en-US" sz="1500" dirty="0"/>
          </a:p>
        </p:txBody>
      </p:sp>
      <p:sp>
        <p:nvSpPr>
          <p:cNvPr id="11" name="Text 9"/>
          <p:cNvSpPr/>
          <p:nvPr/>
        </p:nvSpPr>
        <p:spPr>
          <a:xfrm>
            <a:off x="4588907" y="2659385"/>
            <a:ext cx="310461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Con statistiche aggiornate sceglie meglio di un hint forzato.</a:t>
            </a:r>
            <a:endParaRPr lang="en-US" sz="1200" dirty="0"/>
          </a:p>
        </p:txBody>
      </p:sp>
      <p:sp>
        <p:nvSpPr>
          <p:cNvPr id="12" name="Shape 10"/>
          <p:cNvSpPr/>
          <p:nvPr/>
        </p:nvSpPr>
        <p:spPr>
          <a:xfrm>
            <a:off x="7958693" y="1858020"/>
            <a:ext cx="3420507" cy="0"/>
          </a:xfrm>
          <a:prstGeom prst="line">
            <a:avLst/>
          </a:prstGeom>
          <a:noFill/>
          <a:ln w="12700">
            <a:solidFill>
              <a:srgbClr val="5B9BFF"/>
            </a:solidFill>
            <a:prstDash val="solid"/>
          </a:ln>
        </p:spPr>
        <p:txBody>
          <a:bodyPr/>
          <a:lstStyle/>
          <a:p>
            <a:endParaRPr lang="it-IT"/>
          </a:p>
        </p:txBody>
      </p:sp>
      <p:sp>
        <p:nvSpPr>
          <p:cNvPr id="13" name="Text 11"/>
          <p:cNvSpPr/>
          <p:nvPr/>
        </p:nvSpPr>
        <p:spPr>
          <a:xfrm>
            <a:off x="8161893" y="2065015"/>
            <a:ext cx="310453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9BFF"/>
                </a:solidFill>
                <a:latin typeface="Inter" pitchFamily="34" charset="0"/>
                <a:ea typeface="Inter" pitchFamily="34" charset="-122"/>
                <a:cs typeface="Inter" pitchFamily="34" charset="-120"/>
              </a:rPr>
              <a:t>03</a:t>
            </a:r>
            <a:endParaRPr lang="en-US" sz="1200" dirty="0"/>
          </a:p>
        </p:txBody>
      </p:sp>
      <p:sp>
        <p:nvSpPr>
          <p:cNvPr id="14" name="Text 12"/>
          <p:cNvSpPr/>
          <p:nvPr/>
        </p:nvSpPr>
        <p:spPr>
          <a:xfrm>
            <a:off x="8161893" y="2354585"/>
            <a:ext cx="31045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8FB"/>
                </a:solidFill>
                <a:latin typeface="Inter" pitchFamily="34" charset="0"/>
                <a:ea typeface="Inter" pitchFamily="34" charset="-122"/>
                <a:cs typeface="Inter" pitchFamily="34" charset="-120"/>
              </a:rPr>
              <a:t>Connessioni e cursori</a:t>
            </a:r>
            <a:endParaRPr lang="en-US" sz="1500" dirty="0"/>
          </a:p>
        </p:txBody>
      </p:sp>
      <p:sp>
        <p:nvSpPr>
          <p:cNvPr id="15" name="Text 13"/>
          <p:cNvSpPr/>
          <p:nvPr/>
        </p:nvSpPr>
        <p:spPr>
          <a:xfrm>
            <a:off x="8161893" y="2659385"/>
            <a:ext cx="310453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E8"/>
                </a:solidFill>
                <a:latin typeface="Inter" pitchFamily="34" charset="0"/>
                <a:ea typeface="Inter" pitchFamily="34" charset="-122"/>
                <a:cs typeface="Inter" pitchFamily="34" charset="-120"/>
              </a:rPr>
              <a:t>Pool fisso, try-with-resources, bind variable e statement cache.</a:t>
            </a:r>
            <a:endParaRPr lang="en-US" sz="1200" dirty="0"/>
          </a:p>
        </p:txBody>
      </p:sp>
      <p:sp>
        <p:nvSpPr>
          <p:cNvPr id="16" name="Text 14"/>
          <p:cNvSpPr/>
          <p:nvPr/>
        </p:nvSpPr>
        <p:spPr>
          <a:xfrm>
            <a:off x="812800" y="3609355"/>
            <a:ext cx="10566400" cy="613410"/>
          </a:xfrm>
          <a:prstGeom prst="rect">
            <a:avLst/>
          </a:prstGeom>
          <a:solidFill>
            <a:srgbClr val="DCE5F2"/>
          </a:solidFill>
          <a:ln/>
        </p:spPr>
        <p:txBody>
          <a:bodyPr wrap="square" lIns="228600" tIns="177800" rIns="0" bIns="152400" rtlCol="0" anchor="t">
            <a:normAutofit/>
          </a:bodyPr>
          <a:lstStyle/>
          <a:p>
            <a:pPr>
              <a:lnSpc>
                <a:spcPts val="2030"/>
              </a:lnSpc>
            </a:pPr>
            <a:r>
              <a:rPr lang="en-US" sz="1400" b="1" dirty="0">
                <a:solidFill>
                  <a:srgbClr val="0F1B2D"/>
                </a:solidFill>
                <a:latin typeface="Inter" pitchFamily="34" charset="0"/>
                <a:ea typeface="Inter" pitchFamily="34" charset="-122"/>
                <a:cs typeface="Inter" pitchFamily="34" charset="-120"/>
              </a:rPr>
              <a:t>Giorno 3:</a:t>
            </a:r>
            <a:r>
              <a:rPr lang="en-US" sz="1400" dirty="0">
                <a:solidFill>
                  <a:srgbClr val="0F1B2D"/>
                </a:solidFill>
                <a:latin typeface="Inter" pitchFamily="34" charset="0"/>
                <a:ea typeface="Inter" pitchFamily="34" charset="-122"/>
                <a:cs typeface="Inter" pitchFamily="34" charset="-120"/>
              </a:rPr>
              <a:t> Tuning </a:t>
            </a:r>
            <a:r>
              <a:rPr lang="en-US" sz="1400" dirty="0" err="1">
                <a:solidFill>
                  <a:srgbClr val="0F1B2D"/>
                </a:solidFill>
                <a:latin typeface="Inter" pitchFamily="34" charset="0"/>
                <a:ea typeface="Inter" pitchFamily="34" charset="-122"/>
                <a:cs typeface="Inter" pitchFamily="34" charset="-120"/>
              </a:rPr>
              <a:t>dei</a:t>
            </a:r>
            <a:r>
              <a:rPr lang="en-US" sz="1400" dirty="0">
                <a:solidFill>
                  <a:srgbClr val="0F1B2D"/>
                </a:solidFill>
                <a:latin typeface="Inter" pitchFamily="34" charset="0"/>
                <a:ea typeface="Inter" pitchFamily="34" charset="-122"/>
                <a:cs typeface="Inter" pitchFamily="34" charset="-120"/>
              </a:rPr>
              <a:t> </a:t>
            </a:r>
            <a:r>
              <a:rPr lang="en-US" sz="1400" dirty="0" err="1">
                <a:solidFill>
                  <a:srgbClr val="0F1B2D"/>
                </a:solidFill>
                <a:latin typeface="Inter" pitchFamily="34" charset="0"/>
                <a:ea typeface="Inter" pitchFamily="34" charset="-122"/>
                <a:cs typeface="Inter" pitchFamily="34" charset="-120"/>
              </a:rPr>
              <a:t>parametri</a:t>
            </a:r>
            <a:r>
              <a:rPr lang="en-US" sz="1400" dirty="0">
                <a:solidFill>
                  <a:srgbClr val="0F1B2D"/>
                </a:solidFill>
                <a:latin typeface="Inter" pitchFamily="34" charset="0"/>
                <a:ea typeface="Inter" pitchFamily="34" charset="-122"/>
                <a:cs typeface="Inter" pitchFamily="34" charset="-120"/>
              </a:rPr>
              <a:t> JDBC e </a:t>
            </a:r>
            <a:r>
              <a:rPr lang="en-US" sz="1400" dirty="0" err="1">
                <a:solidFill>
                  <a:srgbClr val="0F1B2D"/>
                </a:solidFill>
                <a:latin typeface="Inter" pitchFamily="34" charset="0"/>
                <a:ea typeface="Inter" pitchFamily="34" charset="-122"/>
                <a:cs typeface="Inter" pitchFamily="34" charset="-120"/>
              </a:rPr>
              <a:t>Scalabilità</a:t>
            </a:r>
            <a:r>
              <a:rPr lang="en-US" sz="1400" dirty="0">
                <a:solidFill>
                  <a:srgbClr val="0F1B2D"/>
                </a:solidFill>
                <a:latin typeface="Inter" pitchFamily="34" charset="0"/>
                <a:ea typeface="Inter" pitchFamily="34" charset="-122"/>
                <a:cs typeface="Inter" pitchFamily="34" charset="-120"/>
              </a:rPr>
              <a:t> enterprise</a:t>
            </a:r>
            <a:r>
              <a:rPr lang="en-US" sz="1400" b="1" dirty="0">
                <a:solidFill>
                  <a:srgbClr val="0F1B2D"/>
                </a:solidFill>
                <a:latin typeface="Inter" pitchFamily="34" charset="0"/>
                <a:ea typeface="Inter" pitchFamily="34" charset="-122"/>
                <a:cs typeface="Inter" pitchFamily="34" charset="-120"/>
              </a:rPr>
              <a:t> </a:t>
            </a:r>
            <a:endParaRPr lang="en-US" sz="1400" dirty="0"/>
          </a:p>
          <a:p>
            <a:pPr marL="0" indent="0" algn="l">
              <a:lnSpc>
                <a:spcPts val="2030"/>
              </a:lnSpc>
              <a:buNone/>
            </a:pPr>
            <a:endParaRPr lang="en-US" sz="1400" dirty="0"/>
          </a:p>
        </p:txBody>
      </p:sp>
    </p:spTree>
  </p:cSld>
  <p:clrMapOvr>
    <a:masterClrMapping/>
  </p:clrMapOvr>
</p:sld>
</file>

<file path=ppt/theme/theme1.xml><?xml version="1.0" encoding="utf-8"?>
<a:theme xmlns:a="http://schemas.openxmlformats.org/drawingml/2006/main" name="Oracle Performance Monitoring &amp; Tuning – Giorno 2">
  <a:themeElements>
    <a:clrScheme name="Oracle Performance Monitoring &amp; Tuning – Giorno 2">
      <a:dk1>
        <a:srgbClr val="0F1B2D"/>
      </a:dk1>
      <a:lt1>
        <a:srgbClr val="F6F8FB"/>
      </a:lt1>
      <a:dk2>
        <a:srgbClr val="495261"/>
      </a:dk2>
      <a:lt2>
        <a:srgbClr val="DFE2E6"/>
      </a:lt2>
      <a:accent1>
        <a:srgbClr val="2E6BD1"/>
      </a:accent1>
      <a:accent2>
        <a:srgbClr val="5B9BFF"/>
      </a:accent2>
      <a:accent3>
        <a:srgbClr val="1B4C9C"/>
      </a:accent3>
      <a:accent4>
        <a:srgbClr val="8DB8FF"/>
      </a:accent4>
      <a:accent5>
        <a:srgbClr val="3D4B5E"/>
      </a:accent5>
      <a:accent6>
        <a:srgbClr val="5B6B80"/>
      </a:accent6>
      <a:hlink>
        <a:srgbClr val="0563C1"/>
      </a:hlink>
      <a:folHlink>
        <a:srgbClr val="954F72"/>
      </a:folHlink>
    </a:clrScheme>
    <a:fontScheme name="Oracle Performance Monitoring &amp; Tuning – Giorno 2">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526</TotalTime>
  <Words>8285</Words>
  <Application>Microsoft Office PowerPoint</Application>
  <PresentationFormat>Widescreen</PresentationFormat>
  <Paragraphs>805</Paragraphs>
  <Slides>47</Slides>
  <Notes>47</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47</vt:i4>
      </vt:variant>
    </vt:vector>
  </HeadingPairs>
  <TitlesOfParts>
    <vt:vector size="51" baseType="lpstr">
      <vt:lpstr>Arial</vt:lpstr>
      <vt:lpstr>Inter</vt:lpstr>
      <vt:lpstr>JetBrains Mono</vt:lpstr>
      <vt:lpstr>Oracle Performance Monitoring &amp; Tuning – Giorno 2</vt:lpstr>
      <vt:lpstr>Ottimizzazione del codice e frontiera applicativa</vt:lpstr>
      <vt:lpstr>Dal database all’applicazione</vt:lpstr>
      <vt:lpstr>Tipologie di indici</vt:lpstr>
      <vt:lpstr>L’indice B-Tree</vt:lpstr>
      <vt:lpstr>L’indice Bitmap</vt:lpstr>
      <vt:lpstr>B-Tree o Bitmap?</vt:lpstr>
      <vt:lpstr>Le varianti del B-Tree</vt:lpstr>
      <vt:lpstr>Quando il CBO sceglie l’indice</vt:lpstr>
      <vt:lpstr>Metodi di join e indici</vt:lpstr>
      <vt:lpstr>Nested Loops guidato dall’indice</vt:lpstr>
      <vt:lpstr>Nested Loops o Hash Join?</vt:lpstr>
      <vt:lpstr>Trappole comuni</vt:lpstr>
      <vt:lpstr>Funzioni sulle colonne</vt:lpstr>
      <vt:lpstr>Conversioni implicite</vt:lpstr>
      <vt:lpstr>Statistiche non aggiornate</vt:lpstr>
      <vt:lpstr>Indicizzare le foreign key</vt:lpstr>
      <vt:lpstr>Risolviamo la challenge del Giorno 1</vt:lpstr>
      <vt:lpstr>Cinque fasi, un piano che cambia</vt:lpstr>
      <vt:lpstr>Prima di iniziare</vt:lpstr>
      <vt:lpstr>Il problema di partenza</vt:lpstr>
      <vt:lpstr>Una riga di codice</vt:lpstr>
      <vt:lpstr>Ci aspettiamo un Nested Loops, e invece…</vt:lpstr>
      <vt:lpstr>La chiusura transitiva</vt:lpstr>
      <vt:lpstr>2.500 clienti: torna l’Hash Join</vt:lpstr>
      <vt:lpstr>La via naturale: più selettività</vt:lpstr>
      <vt:lpstr>La via di forza: l’hint</vt:lpstr>
      <vt:lpstr>L’indice ignorato</vt:lpstr>
      <vt:lpstr>Function-based index</vt:lpstr>
      <vt:lpstr>I vostri numeri, passo per passo</vt:lpstr>
      <vt:lpstr>Le connessioni e il connection pool</vt:lpstr>
      <vt:lpstr>Cosa succede ad ogni logon</vt:lpstr>
      <vt:lpstr>Tre modelli lato server</vt:lpstr>
      <vt:lpstr>Aprire una volta, riusare sempre</vt:lpstr>
      <vt:lpstr>I parametri che contano</vt:lpstr>
      <vt:lpstr>Connection leak</vt:lpstr>
      <vt:lpstr>Logon storm</vt:lpstr>
      <vt:lpstr>Introduzione a JDBC</vt:lpstr>
      <vt:lpstr>Gli oggetti di base</vt:lpstr>
      <vt:lpstr>Concatenare o usare i bind?</vt:lpstr>
      <vt:lpstr>Quattro livelli di parse</vt:lpstr>
      <vt:lpstr>L’applicazione vista dal database</vt:lpstr>
      <vt:lpstr>Connessioni viste dal database</vt:lpstr>
      <vt:lpstr>Tre programmi Java, un terminale SQL</vt:lpstr>
      <vt:lpstr>Quanto costa un logon?</vt:lpstr>
      <vt:lpstr>Provocare un connection leak</vt:lpstr>
      <vt:lpstr>Contare i parse con e senza cache</vt:lpstr>
      <vt:lpstr>Cosa portiamo al Giorno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 Performance Monitoring &amp; Tuning – Giorno 2</dc:title>
  <dc:subject/>
  <dc:creator/>
  <cp:lastModifiedBy>Tommaso Maione</cp:lastModifiedBy>
  <cp:revision>18</cp:revision>
  <dcterms:created xsi:type="dcterms:W3CDTF">2026-10-15T09:19:22Z</dcterms:created>
  <dcterms:modified xsi:type="dcterms:W3CDTF">2026-10-22T15:28:46Z</dcterms:modified>
</cp:coreProperties>
</file>